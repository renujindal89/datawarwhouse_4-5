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60" r:id="rId2"/>
    <p:sldId id="261" r:id="rId3"/>
    <p:sldId id="259" r:id="rId4"/>
    <p:sldId id="262" r:id="rId5"/>
    <p:sldId id="258" r:id="rId6"/>
    <p:sldId id="257"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19ACC5-003D-4389-85BE-DB4FC40B4809}" type="datetimeFigureOut">
              <a:rPr lang="en-IN" smtClean="0"/>
              <a:t>29-12-2025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04675-76D3-44AE-AC95-2E2A99564D9F}" type="slidenum">
              <a:rPr lang="en-IN" smtClean="0"/>
              <a:t>‹#›</a:t>
            </a:fld>
            <a:endParaRPr lang="en-IN"/>
          </a:p>
        </p:txBody>
      </p:sp>
    </p:spTree>
    <p:extLst>
      <p:ext uri="{BB962C8B-B14F-4D97-AF65-F5344CB8AC3E}">
        <p14:creationId xmlns:p14="http://schemas.microsoft.com/office/powerpoint/2010/main" val="1287793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A001-19D2-AB32-1CD6-3577F2FC5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40224-6139-9C21-BF46-04D55F546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ADA60-BB40-3EA3-94A8-E4F40E18D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EF2C0-B2B6-000B-34A3-E85D80105756}"/>
              </a:ext>
            </a:extLst>
          </p:cNvPr>
          <p:cNvSpPr>
            <a:spLocks noGrp="1"/>
          </p:cNvSpPr>
          <p:nvPr>
            <p:ph type="sldNum" sz="quarter" idx="5"/>
          </p:nvPr>
        </p:nvSpPr>
        <p:spPr/>
        <p:txBody>
          <a:bodyPr/>
          <a:lstStyle/>
          <a:p>
            <a:fld id="{4169D07A-98AC-4408-9A87-677237176D46}" type="slidenum">
              <a:rPr lang="en-GB" smtClean="0"/>
              <a:t>24</a:t>
            </a:fld>
            <a:endParaRPr lang="en-GB" dirty="0"/>
          </a:p>
        </p:txBody>
      </p:sp>
    </p:spTree>
    <p:extLst>
      <p:ext uri="{BB962C8B-B14F-4D97-AF65-F5344CB8AC3E}">
        <p14:creationId xmlns:p14="http://schemas.microsoft.com/office/powerpoint/2010/main" val="2410507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A001-19D2-AB32-1CD6-3577F2FC5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40224-6139-9C21-BF46-04D55F546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ADA60-BB40-3EA3-94A8-E4F40E18D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EF2C0-B2B6-000B-34A3-E85D80105756}"/>
              </a:ext>
            </a:extLst>
          </p:cNvPr>
          <p:cNvSpPr>
            <a:spLocks noGrp="1"/>
          </p:cNvSpPr>
          <p:nvPr>
            <p:ph type="sldNum" sz="quarter" idx="5"/>
          </p:nvPr>
        </p:nvSpPr>
        <p:spPr/>
        <p:txBody>
          <a:bodyPr/>
          <a:lstStyle/>
          <a:p>
            <a:fld id="{4169D07A-98AC-4408-9A87-677237176D46}" type="slidenum">
              <a:rPr lang="en-GB" smtClean="0"/>
              <a:t>29</a:t>
            </a:fld>
            <a:endParaRPr lang="en-GB" dirty="0"/>
          </a:p>
        </p:txBody>
      </p:sp>
    </p:spTree>
    <p:extLst>
      <p:ext uri="{BB962C8B-B14F-4D97-AF65-F5344CB8AC3E}">
        <p14:creationId xmlns:p14="http://schemas.microsoft.com/office/powerpoint/2010/main" val="2410507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A001-19D2-AB32-1CD6-3577F2FC5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40224-6139-9C21-BF46-04D55F546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ADA60-BB40-3EA3-94A8-E4F40E18D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EF2C0-B2B6-000B-34A3-E85D80105756}"/>
              </a:ext>
            </a:extLst>
          </p:cNvPr>
          <p:cNvSpPr>
            <a:spLocks noGrp="1"/>
          </p:cNvSpPr>
          <p:nvPr>
            <p:ph type="sldNum" sz="quarter" idx="5"/>
          </p:nvPr>
        </p:nvSpPr>
        <p:spPr/>
        <p:txBody>
          <a:bodyPr/>
          <a:lstStyle/>
          <a:p>
            <a:fld id="{4169D07A-98AC-4408-9A87-677237176D46}" type="slidenum">
              <a:rPr lang="en-GB" smtClean="0"/>
              <a:t>35</a:t>
            </a:fld>
            <a:endParaRPr lang="en-GB" dirty="0"/>
          </a:p>
        </p:txBody>
      </p:sp>
    </p:spTree>
    <p:extLst>
      <p:ext uri="{BB962C8B-B14F-4D97-AF65-F5344CB8AC3E}">
        <p14:creationId xmlns:p14="http://schemas.microsoft.com/office/powerpoint/2010/main" val="2410507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A001-19D2-AB32-1CD6-3577F2FC5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40224-6139-9C21-BF46-04D55F546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ADA60-BB40-3EA3-94A8-E4F40E18D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EF2C0-B2B6-000B-34A3-E85D80105756}"/>
              </a:ext>
            </a:extLst>
          </p:cNvPr>
          <p:cNvSpPr>
            <a:spLocks noGrp="1"/>
          </p:cNvSpPr>
          <p:nvPr>
            <p:ph type="sldNum" sz="quarter" idx="5"/>
          </p:nvPr>
        </p:nvSpPr>
        <p:spPr/>
        <p:txBody>
          <a:bodyPr/>
          <a:lstStyle/>
          <a:p>
            <a:fld id="{4169D07A-98AC-4408-9A87-677237176D46}" type="slidenum">
              <a:rPr lang="en-GB" smtClean="0"/>
              <a:t>40</a:t>
            </a:fld>
            <a:endParaRPr lang="en-GB" dirty="0"/>
          </a:p>
        </p:txBody>
      </p:sp>
    </p:spTree>
    <p:extLst>
      <p:ext uri="{BB962C8B-B14F-4D97-AF65-F5344CB8AC3E}">
        <p14:creationId xmlns:p14="http://schemas.microsoft.com/office/powerpoint/2010/main" val="2410507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56C2B-BA53-E2C8-1577-F6C4221532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C1AFF94-EF1B-6DA8-8413-B0C6F57139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DA2B8C6-AFBA-BB32-1AA5-437E90C53855}"/>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5" name="Footer Placeholder 4">
            <a:extLst>
              <a:ext uri="{FF2B5EF4-FFF2-40B4-BE49-F238E27FC236}">
                <a16:creationId xmlns:a16="http://schemas.microsoft.com/office/drawing/2014/main" id="{248C54E3-D07A-0ECD-127C-81323198AE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8DEEBF-50BD-2EFD-B6FD-9BFC1FE312C5}"/>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2077061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9EA73-4DAB-9CDC-6AC7-F7AE6300C2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1F43DB-4365-BA8F-7D6A-4E3CA89449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5255F2-9161-45A5-E15C-98580EFD8A65}"/>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5" name="Footer Placeholder 4">
            <a:extLst>
              <a:ext uri="{FF2B5EF4-FFF2-40B4-BE49-F238E27FC236}">
                <a16:creationId xmlns:a16="http://schemas.microsoft.com/office/drawing/2014/main" id="{9B308378-8276-1CCB-15A8-4FF1BFDCD9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51AD67-4AF2-5577-0471-9166AC767EF1}"/>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3812287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FED2-C648-574D-22F9-244C6C5D82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C91C07-574B-E134-AE47-001AE28DE4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41E35B-DC73-372F-9EEA-8A60BEFDA9F2}"/>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5" name="Footer Placeholder 4">
            <a:extLst>
              <a:ext uri="{FF2B5EF4-FFF2-40B4-BE49-F238E27FC236}">
                <a16:creationId xmlns:a16="http://schemas.microsoft.com/office/drawing/2014/main" id="{44A1CAD1-EFBA-887F-A083-BF9258F18F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DAF8E9-B057-CA57-511A-3300B639ACED}"/>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256411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8D843-05E3-B6EE-CAF0-8236C7E42D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361CBF-E062-3451-14AD-2E98051710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C12407D-4CDC-7119-C2F8-AA1136A5D7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0A6BA6-5DEF-C876-038D-A12ED098E3CB}"/>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6" name="Footer Placeholder 5">
            <a:extLst>
              <a:ext uri="{FF2B5EF4-FFF2-40B4-BE49-F238E27FC236}">
                <a16:creationId xmlns:a16="http://schemas.microsoft.com/office/drawing/2014/main" id="{F94D01E0-22A5-2D76-2D92-398365B18B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109EBA-6673-B04A-FBC9-5418EB29A91A}"/>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791807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8A072-E091-741C-C153-19CC04D8C6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53784E7-8761-5097-30D8-E79B29B8B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CFA737-8D5F-9A7C-BACE-7762B199C5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07AF8D-6EB0-843E-FC17-256AACEA8C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80D904-1AC5-4725-4507-1E1B0AF71C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8152DE-1650-55FD-2524-9EBD8EBB7E63}"/>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8" name="Footer Placeholder 7">
            <a:extLst>
              <a:ext uri="{FF2B5EF4-FFF2-40B4-BE49-F238E27FC236}">
                <a16:creationId xmlns:a16="http://schemas.microsoft.com/office/drawing/2014/main" id="{376C4285-BBB9-D6C8-20E5-71363D9C0A5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53E341-ACF2-0D9E-E6B6-4F1E39060C1E}"/>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2569243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F3152-FA88-7A5B-B66C-E0763291E1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3A3EDE6-1AF0-1BB8-DE2D-80466B4DE202}"/>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4" name="Footer Placeholder 3">
            <a:extLst>
              <a:ext uri="{FF2B5EF4-FFF2-40B4-BE49-F238E27FC236}">
                <a16:creationId xmlns:a16="http://schemas.microsoft.com/office/drawing/2014/main" id="{FC97DF8D-ED6F-2812-98A7-3BA8EDDD81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A963F2-BAB6-E71E-B718-0D2519656C10}"/>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125140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9A6E95-4E7C-1030-2ADB-E5BD31323DEC}"/>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3" name="Footer Placeholder 2">
            <a:extLst>
              <a:ext uri="{FF2B5EF4-FFF2-40B4-BE49-F238E27FC236}">
                <a16:creationId xmlns:a16="http://schemas.microsoft.com/office/drawing/2014/main" id="{554765EA-C91F-5EEF-4873-88CD252EF6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D0A8648-3E81-ED2B-9F8D-65A474622145}"/>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3820261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73351-D097-78F4-A65B-0ACC26B0B3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DBBB2B-A29D-1BB2-D3DD-28D5C97A56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76B5DF-F851-2735-5215-E24227838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DE928-17DF-6279-C453-8D0EA1E6F8BE}"/>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6" name="Footer Placeholder 5">
            <a:extLst>
              <a:ext uri="{FF2B5EF4-FFF2-40B4-BE49-F238E27FC236}">
                <a16:creationId xmlns:a16="http://schemas.microsoft.com/office/drawing/2014/main" id="{88168F2E-2433-6CE6-C533-DE057FCC12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41626E-1FA0-50A0-0CFD-87EBB331AD7E}"/>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2363987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44337-1D13-3F71-E9A1-C114145944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E0E84D-3F47-5DC2-DB96-BDDDF20C2B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62954F-B723-42A7-90AF-3A9239D76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ECDC06-26D2-2653-35A8-5C56410A221C}"/>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6" name="Footer Placeholder 5">
            <a:extLst>
              <a:ext uri="{FF2B5EF4-FFF2-40B4-BE49-F238E27FC236}">
                <a16:creationId xmlns:a16="http://schemas.microsoft.com/office/drawing/2014/main" id="{F1ADD4F4-232B-BB26-7B70-9ED40A5DCE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D53898-5BE1-EB73-B55B-244B3F6C70A9}"/>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102700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21586-1A50-A77E-405F-6B55EAB464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4FF68D-B8CB-3673-4E3C-092D28779C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BD11F1-5D01-9431-3FB5-26D9CF84B3B6}"/>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5" name="Footer Placeholder 4">
            <a:extLst>
              <a:ext uri="{FF2B5EF4-FFF2-40B4-BE49-F238E27FC236}">
                <a16:creationId xmlns:a16="http://schemas.microsoft.com/office/drawing/2014/main" id="{40DCBED0-30CB-DD32-1ECB-392BC35291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12891A-A978-EE05-03BF-85A3D4CF7B65}"/>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2222356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466C0-3888-099C-0A6F-CF50ED2F7C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A45024-58C3-3B9D-04C1-2450B507DF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A4449C-E226-C97C-16D1-991DA6299555}"/>
              </a:ext>
            </a:extLst>
          </p:cNvPr>
          <p:cNvSpPr>
            <a:spLocks noGrp="1"/>
          </p:cNvSpPr>
          <p:nvPr>
            <p:ph type="dt" sz="half" idx="10"/>
          </p:nvPr>
        </p:nvSpPr>
        <p:spPr/>
        <p:txBody>
          <a:bodyPr/>
          <a:lstStyle/>
          <a:p>
            <a:fld id="{6503CF23-D439-4AA6-B73A-443D8D00C23D}" type="datetimeFigureOut">
              <a:rPr lang="en-IN" smtClean="0"/>
              <a:t>29-12-2025</a:t>
            </a:fld>
            <a:endParaRPr lang="en-IN"/>
          </a:p>
        </p:txBody>
      </p:sp>
      <p:sp>
        <p:nvSpPr>
          <p:cNvPr id="5" name="Footer Placeholder 4">
            <a:extLst>
              <a:ext uri="{FF2B5EF4-FFF2-40B4-BE49-F238E27FC236}">
                <a16:creationId xmlns:a16="http://schemas.microsoft.com/office/drawing/2014/main" id="{168C4C42-15F9-5844-87FA-3F6772BC12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099724-91F3-9653-9AB7-263F44331AD9}"/>
              </a:ext>
            </a:extLst>
          </p:cNvPr>
          <p:cNvSpPr>
            <a:spLocks noGrp="1"/>
          </p:cNvSpPr>
          <p:nvPr>
            <p:ph type="sldNum" sz="quarter" idx="12"/>
          </p:nvPr>
        </p:nvSpPr>
        <p:spPr/>
        <p:txBody>
          <a:bodyPr/>
          <a:lstStyle/>
          <a:p>
            <a:fld id="{B6E8DC33-FA46-4FE8-A960-CC6A67C7E41C}" type="slidenum">
              <a:rPr lang="en-IN" smtClean="0"/>
              <a:t>‹#›</a:t>
            </a:fld>
            <a:endParaRPr lang="en-IN"/>
          </a:p>
        </p:txBody>
      </p:sp>
    </p:spTree>
    <p:extLst>
      <p:ext uri="{BB962C8B-B14F-4D97-AF65-F5344CB8AC3E}">
        <p14:creationId xmlns:p14="http://schemas.microsoft.com/office/powerpoint/2010/main" val="2380429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age - Yellow - Client Logo">
    <p:bg>
      <p:bgPr>
        <a:solidFill>
          <a:schemeClr val="bg1"/>
        </a:solidFill>
        <a:effectLst/>
      </p:bgPr>
    </p:bg>
    <p:spTree>
      <p:nvGrpSpPr>
        <p:cNvPr id="1" name=""/>
        <p:cNvGrpSpPr/>
        <p:nvPr/>
      </p:nvGrpSpPr>
      <p:grpSpPr>
        <a:xfrm>
          <a:off x="0" y="0"/>
          <a:ext cx="0" cy="0"/>
          <a:chOff x="0" y="0"/>
          <a:chExt cx="0" cy="0"/>
        </a:xfrm>
      </p:grpSpPr>
      <p:pic>
        <p:nvPicPr>
          <p:cNvPr id="4" name="Picture 3" descr="A blue background with curved lines&#10;&#10;AI-generated content may be incorrect.">
            <a:extLst>
              <a:ext uri="{FF2B5EF4-FFF2-40B4-BE49-F238E27FC236}">
                <a16:creationId xmlns:a16="http://schemas.microsoft.com/office/drawing/2014/main" id="{B73DC436-C430-1491-E846-E1D25FC0680F}"/>
              </a:ext>
            </a:extLst>
          </p:cNvPr>
          <p:cNvPicPr>
            <a:picLocks noChangeAspect="1"/>
          </p:cNvPicPr>
          <p:nvPr userDrawn="1"/>
        </p:nvPicPr>
        <p:blipFill>
          <a:blip r:embed="rId2"/>
          <a:stretch>
            <a:fillRect/>
          </a:stretch>
        </p:blipFill>
        <p:spPr>
          <a:xfrm>
            <a:off x="1" y="0"/>
            <a:ext cx="12226183" cy="6858000"/>
          </a:xfrm>
          <a:prstGeom prst="rect">
            <a:avLst/>
          </a:prstGeom>
        </p:spPr>
      </p:pic>
      <p:sp>
        <p:nvSpPr>
          <p:cNvPr id="18" name="Text Placeholder 17"/>
          <p:cNvSpPr>
            <a:spLocks noGrp="1"/>
          </p:cNvSpPr>
          <p:nvPr>
            <p:ph type="body" sz="quarter" idx="11" hasCustomPrompt="1"/>
          </p:nvPr>
        </p:nvSpPr>
        <p:spPr>
          <a:xfrm>
            <a:off x="3630086" y="3705443"/>
            <a:ext cx="4931833" cy="270988"/>
          </a:xfrm>
          <a:prstGeom prst="rect">
            <a:avLst/>
          </a:prstGeom>
        </p:spPr>
        <p:txBody>
          <a:bodyPr lIns="0" tIns="0" rIns="0" bIns="0"/>
          <a:lstStyle>
            <a:lvl1pPr marL="0" indent="0" algn="ctr">
              <a:lnSpc>
                <a:spcPct val="100000"/>
              </a:lnSpc>
              <a:buNone/>
              <a:defRPr sz="1333" b="0" i="0" spc="267" baseline="0">
                <a:solidFill>
                  <a:schemeClr val="tx1"/>
                </a:solidFill>
                <a:latin typeface="Arial" charset="0"/>
                <a:ea typeface="Arial" charset="0"/>
                <a:cs typeface="Arial" charset="0"/>
              </a:defRPr>
            </a:lvl1pPr>
            <a:lvl2pPr marL="37251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2pPr>
            <a:lvl3pPr marL="755612"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3pPr>
            <a:lvl4pPr marL="1130244"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4pPr>
            <a:lvl5pPr marL="144349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5pPr>
          </a:lstStyle>
          <a:p>
            <a:pPr lvl="0"/>
            <a:r>
              <a:rPr lang="en-US"/>
              <a:t>PRESENTATION DATE</a:t>
            </a:r>
          </a:p>
        </p:txBody>
      </p:sp>
      <p:cxnSp>
        <p:nvCxnSpPr>
          <p:cNvPr id="10" name="Straight Connector 9"/>
          <p:cNvCxnSpPr/>
          <p:nvPr userDrawn="1"/>
        </p:nvCxnSpPr>
        <p:spPr>
          <a:xfrm>
            <a:off x="-34183" y="8110409"/>
            <a:ext cx="12260365" cy="0"/>
          </a:xfrm>
          <a:prstGeom prst="line">
            <a:avLst/>
          </a:prstGeom>
          <a:ln w="6350" cap="flat" cmpd="sng" algn="ctr">
            <a:solidFill>
              <a:schemeClr val="accent5">
                <a:alpha val="1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Title 2"/>
          <p:cNvSpPr>
            <a:spLocks noGrp="1"/>
          </p:cNvSpPr>
          <p:nvPr>
            <p:ph type="title" hasCustomPrompt="1"/>
          </p:nvPr>
        </p:nvSpPr>
        <p:spPr>
          <a:xfrm>
            <a:off x="765173" y="2215092"/>
            <a:ext cx="10611576" cy="732869"/>
          </a:xfrm>
          <a:prstGeom prst="rect">
            <a:avLst/>
          </a:prstGeom>
        </p:spPr>
        <p:txBody>
          <a:bodyPr lIns="0" tIns="0" rIns="0" bIns="0" anchor="ctr" anchorCtr="0"/>
          <a:lstStyle>
            <a:lvl1pPr algn="ctr">
              <a:defRPr sz="4800" b="1" i="0">
                <a:solidFill>
                  <a:schemeClr val="bg1"/>
                </a:solidFill>
                <a:latin typeface="Arial" charset="0"/>
                <a:ea typeface="Arial" charset="0"/>
                <a:cs typeface="Arial" charset="0"/>
              </a:defRPr>
            </a:lvl1pPr>
          </a:lstStyle>
          <a:p>
            <a:r>
              <a:rPr lang="en-US"/>
              <a:t>Presentation Title</a:t>
            </a:r>
            <a:endParaRPr lang="en-GB"/>
          </a:p>
        </p:txBody>
      </p:sp>
      <p:sp>
        <p:nvSpPr>
          <p:cNvPr id="6" name="Text Placeholder 5"/>
          <p:cNvSpPr>
            <a:spLocks noGrp="1"/>
          </p:cNvSpPr>
          <p:nvPr>
            <p:ph type="body" sz="quarter" idx="10" hasCustomPrompt="1"/>
          </p:nvPr>
        </p:nvSpPr>
        <p:spPr>
          <a:xfrm>
            <a:off x="765173" y="3093068"/>
            <a:ext cx="10611576" cy="467273"/>
          </a:xfrm>
          <a:prstGeom prst="rect">
            <a:avLst/>
          </a:prstGeom>
        </p:spPr>
        <p:txBody>
          <a:bodyPr lIns="0" tIns="0" rIns="0" bIns="0"/>
          <a:lstStyle>
            <a:lvl1pPr marL="0" indent="0" algn="ctr">
              <a:buNone/>
              <a:defRPr sz="2133" b="1" i="0">
                <a:solidFill>
                  <a:schemeClr val="bg1"/>
                </a:solidFill>
                <a:latin typeface="Arial" charset="0"/>
                <a:ea typeface="Arial" charset="0"/>
                <a:cs typeface="Arial" charset="0"/>
              </a:defRPr>
            </a:lvl1pPr>
            <a:lvl2pPr marL="37251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2pPr>
            <a:lvl3pPr marL="755612"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3pPr>
            <a:lvl4pPr marL="1130244"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4pPr>
            <a:lvl5pPr marL="144349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5pPr>
          </a:lstStyle>
          <a:p>
            <a:pPr lvl="0"/>
            <a:r>
              <a:rPr lang="en-US"/>
              <a:t>Presentation Subtitle</a:t>
            </a:r>
          </a:p>
        </p:txBody>
      </p:sp>
      <p:sp>
        <p:nvSpPr>
          <p:cNvPr id="7" name="Content Placeholder 6">
            <a:extLst>
              <a:ext uri="{FF2B5EF4-FFF2-40B4-BE49-F238E27FC236}">
                <a16:creationId xmlns:a16="http://schemas.microsoft.com/office/drawing/2014/main" id="{5C64F9DD-DE30-C34A-A485-A07A839C3CA1}"/>
              </a:ext>
            </a:extLst>
          </p:cNvPr>
          <p:cNvSpPr>
            <a:spLocks noGrp="1"/>
          </p:cNvSpPr>
          <p:nvPr>
            <p:ph sz="quarter" idx="13" hasCustomPrompt="1"/>
          </p:nvPr>
        </p:nvSpPr>
        <p:spPr>
          <a:xfrm>
            <a:off x="7063317" y="5454985"/>
            <a:ext cx="3510899" cy="683351"/>
          </a:xfrm>
          <a:prstGeom prst="rect">
            <a:avLst/>
          </a:prstGeom>
        </p:spPr>
        <p:txBody>
          <a:bodyPr anchor="ctr"/>
          <a:lstStyle>
            <a:lvl1pPr marL="0" indent="0" algn="ctr">
              <a:buNone/>
              <a:defRPr sz="1867">
                <a:solidFill>
                  <a:schemeClr val="bg1"/>
                </a:solidFill>
                <a:latin typeface="Arial" panose="020B0604020202020204" pitchFamily="34" charset="0"/>
                <a:cs typeface="Arial" panose="020B0604020202020204" pitchFamily="34" charset="0"/>
              </a:defRPr>
            </a:lvl1pPr>
          </a:lstStyle>
          <a:p>
            <a:pPr lvl="0"/>
            <a:r>
              <a:rPr lang="en-US"/>
              <a:t>Insert client logo</a:t>
            </a:r>
          </a:p>
        </p:txBody>
      </p:sp>
      <p:pic>
        <p:nvPicPr>
          <p:cNvPr id="5" name="Picture 4" descr="A black background with white text&#10;&#10;AI-generated content may be incorrect.">
            <a:extLst>
              <a:ext uri="{FF2B5EF4-FFF2-40B4-BE49-F238E27FC236}">
                <a16:creationId xmlns:a16="http://schemas.microsoft.com/office/drawing/2014/main" id="{932B273F-83BA-A2C5-1897-4D85557BA0D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82256" y="3560340"/>
            <a:ext cx="3759200" cy="3759200"/>
          </a:xfrm>
          <a:prstGeom prst="rect">
            <a:avLst/>
          </a:prstGeom>
        </p:spPr>
      </p:pic>
    </p:spTree>
    <p:extLst>
      <p:ext uri="{BB962C8B-B14F-4D97-AF65-F5344CB8AC3E}">
        <p14:creationId xmlns:p14="http://schemas.microsoft.com/office/powerpoint/2010/main" val="3277367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 White">
    <p:bg>
      <p:bgPr>
        <a:solidFill>
          <a:srgbClr val="FEFDFF"/>
        </a:solidFill>
        <a:effectLst/>
      </p:bgPr>
    </p:bg>
    <p:spTree>
      <p:nvGrpSpPr>
        <p:cNvPr id="1" name=""/>
        <p:cNvGrpSpPr/>
        <p:nvPr/>
      </p:nvGrpSpPr>
      <p:grpSpPr>
        <a:xfrm>
          <a:off x="0" y="0"/>
          <a:ext cx="0" cy="0"/>
          <a:chOff x="0" y="0"/>
          <a:chExt cx="0" cy="0"/>
        </a:xfrm>
      </p:grpSpPr>
      <p:sp>
        <p:nvSpPr>
          <p:cNvPr id="20" name="Title 1"/>
          <p:cNvSpPr>
            <a:spLocks noGrp="1"/>
          </p:cNvSpPr>
          <p:nvPr>
            <p:ph type="title" hasCustomPrompt="1"/>
          </p:nvPr>
        </p:nvSpPr>
        <p:spPr>
          <a:xfrm>
            <a:off x="685950" y="571697"/>
            <a:ext cx="10807652" cy="440488"/>
          </a:xfrm>
          <a:prstGeom prst="rect">
            <a:avLst/>
          </a:prstGeom>
        </p:spPr>
        <p:txBody>
          <a:bodyPr lIns="0" tIns="0" rIns="0" bIns="0" anchor="ctr" anchorCtr="0"/>
          <a:lstStyle>
            <a:lvl1pPr algn="l">
              <a:lnSpc>
                <a:spcPts val="2667"/>
              </a:lnSpc>
              <a:defRPr sz="2933" b="1" i="0">
                <a:solidFill>
                  <a:schemeClr val="tx1"/>
                </a:solidFill>
                <a:latin typeface="Arial" charset="0"/>
                <a:ea typeface="Arial" charset="0"/>
                <a:cs typeface="Arial" charset="0"/>
              </a:defRPr>
            </a:lvl1pPr>
          </a:lstStyle>
          <a:p>
            <a:r>
              <a:rPr lang="en-US"/>
              <a:t>Slide title</a:t>
            </a:r>
            <a:endParaRPr lang="en-GB"/>
          </a:p>
        </p:txBody>
      </p:sp>
      <p:sp>
        <p:nvSpPr>
          <p:cNvPr id="3" name="Text Placeholder 2">
            <a:extLst>
              <a:ext uri="{FF2B5EF4-FFF2-40B4-BE49-F238E27FC236}">
                <a16:creationId xmlns:a16="http://schemas.microsoft.com/office/drawing/2014/main" id="{36200608-C600-554E-813F-6D4EC02AF493}"/>
              </a:ext>
            </a:extLst>
          </p:cNvPr>
          <p:cNvSpPr>
            <a:spLocks noGrp="1"/>
          </p:cNvSpPr>
          <p:nvPr>
            <p:ph type="body" sz="quarter" idx="10"/>
          </p:nvPr>
        </p:nvSpPr>
        <p:spPr>
          <a:xfrm>
            <a:off x="569070" y="1583269"/>
            <a:ext cx="10807700" cy="2800351"/>
          </a:xfrm>
          <a:prstGeom prst="rect">
            <a:avLst/>
          </a:prstGeom>
        </p:spPr>
        <p:txBody>
          <a:bodyPr/>
          <a:lstStyle>
            <a:lvl1pPr marL="380981" indent="-380981">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1pPr>
            <a:lvl2pPr marL="598988"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2pPr>
            <a:lvl3pPr marL="833926"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3pPr>
            <a:lvl4pPr marL="1077330"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4pPr>
            <a:lvl5pPr marL="1316502"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95C8156-3E9F-6D42-BC09-E86831EB4BD7}"/>
              </a:ext>
            </a:extLst>
          </p:cNvPr>
          <p:cNvSpPr txBox="1"/>
          <p:nvPr userDrawn="1"/>
        </p:nvSpPr>
        <p:spPr>
          <a:xfrm>
            <a:off x="11469217" y="6576097"/>
            <a:ext cx="666087" cy="194990"/>
          </a:xfrm>
          <a:prstGeom prst="rect">
            <a:avLst/>
          </a:prstGeom>
          <a:noFill/>
        </p:spPr>
        <p:txBody>
          <a:bodyPr wrap="square" rtlCol="0">
            <a:spAutoFit/>
          </a:bodyPr>
          <a:lstStyle/>
          <a:p>
            <a:pPr algn="r"/>
            <a:fld id="{A99FBE0F-E013-8744-85F1-2202A360EF8A}" type="slidenum">
              <a:rPr lang="en-US" sz="667" b="0" i="0" spc="0" baseline="0" smtClean="0">
                <a:solidFill>
                  <a:schemeClr val="bg1"/>
                </a:solidFill>
                <a:latin typeface="Arial" charset="0"/>
                <a:ea typeface="Arial" charset="0"/>
                <a:cs typeface="Arial" charset="0"/>
              </a:rPr>
              <a:pPr algn="r"/>
              <a:t>‹#›</a:t>
            </a:fld>
            <a:endParaRPr lang="en-US" sz="667" b="0" i="0" spc="0" baseline="0">
              <a:solidFill>
                <a:schemeClr val="bg1"/>
              </a:solidFill>
              <a:latin typeface="Arial" charset="0"/>
              <a:ea typeface="Arial" charset="0"/>
              <a:cs typeface="Arial" charset="0"/>
            </a:endParaRPr>
          </a:p>
        </p:txBody>
      </p:sp>
      <p:pic>
        <p:nvPicPr>
          <p:cNvPr id="6" name="Picture 5">
            <a:extLst>
              <a:ext uri="{FF2B5EF4-FFF2-40B4-BE49-F238E27FC236}">
                <a16:creationId xmlns:a16="http://schemas.microsoft.com/office/drawing/2014/main" id="{EA1BCDDE-4B2D-D9CB-1B80-F64BBF7AB9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58997"/>
            <a:ext cx="419279" cy="358907"/>
          </a:xfrm>
          <a:prstGeom prst="rect">
            <a:avLst/>
          </a:prstGeom>
        </p:spPr>
      </p:pic>
      <p:grpSp>
        <p:nvGrpSpPr>
          <p:cNvPr id="9" name="Group 8">
            <a:extLst>
              <a:ext uri="{FF2B5EF4-FFF2-40B4-BE49-F238E27FC236}">
                <a16:creationId xmlns:a16="http://schemas.microsoft.com/office/drawing/2014/main" id="{B80FCFB7-345B-5532-901F-FB3C2AA30452}"/>
              </a:ext>
            </a:extLst>
          </p:cNvPr>
          <p:cNvGrpSpPr/>
          <p:nvPr userDrawn="1"/>
        </p:nvGrpSpPr>
        <p:grpSpPr>
          <a:xfrm>
            <a:off x="-56699" y="6286303"/>
            <a:ext cx="12248699" cy="582884"/>
            <a:chOff x="-42524" y="4714727"/>
            <a:chExt cx="9186524" cy="437163"/>
          </a:xfrm>
        </p:grpSpPr>
        <p:pic>
          <p:nvPicPr>
            <p:cNvPr id="10" name="Picture 9">
              <a:extLst>
                <a:ext uri="{FF2B5EF4-FFF2-40B4-BE49-F238E27FC236}">
                  <a16:creationId xmlns:a16="http://schemas.microsoft.com/office/drawing/2014/main" id="{FAD3E70E-8207-1DD9-A0BA-C9B76DADC2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524" y="4714727"/>
              <a:ext cx="9186524" cy="437163"/>
            </a:xfrm>
            <a:prstGeom prst="rect">
              <a:avLst/>
            </a:prstGeom>
          </p:spPr>
        </p:pic>
        <p:grpSp>
          <p:nvGrpSpPr>
            <p:cNvPr id="11" name="Group 10">
              <a:extLst>
                <a:ext uri="{FF2B5EF4-FFF2-40B4-BE49-F238E27FC236}">
                  <a16:creationId xmlns:a16="http://schemas.microsoft.com/office/drawing/2014/main" id="{57882186-B640-AD70-6515-3EE323ECF299}"/>
                </a:ext>
              </a:extLst>
            </p:cNvPr>
            <p:cNvGrpSpPr/>
            <p:nvPr userDrawn="1"/>
          </p:nvGrpSpPr>
          <p:grpSpPr>
            <a:xfrm>
              <a:off x="157229" y="4832170"/>
              <a:ext cx="1798358" cy="269180"/>
              <a:chOff x="314460" y="4647384"/>
              <a:chExt cx="2355272" cy="359852"/>
            </a:xfrm>
          </p:grpSpPr>
          <p:pic>
            <p:nvPicPr>
              <p:cNvPr id="12" name="Picture 11" descr="A black background with white text&#10;&#10;AI-generated content may be incorrect.">
                <a:extLst>
                  <a:ext uri="{FF2B5EF4-FFF2-40B4-BE49-F238E27FC236}">
                    <a16:creationId xmlns:a16="http://schemas.microsoft.com/office/drawing/2014/main" id="{14B8BAAB-1A0E-E7F6-9140-98409B12FFEE}"/>
                  </a:ext>
                </a:extLst>
              </p:cNvPr>
              <p:cNvPicPr>
                <a:picLocks noChangeAspect="1"/>
              </p:cNvPicPr>
              <p:nvPr userDrawn="1"/>
            </p:nvPicPr>
            <p:blipFill>
              <a:blip r:embed="rId4">
                <a:extLst>
                  <a:ext uri="{28A0092B-C50C-407E-A947-70E740481C1C}">
                    <a14:useLocalDpi xmlns:a14="http://schemas.microsoft.com/office/drawing/2010/main" val="0"/>
                  </a:ext>
                </a:extLst>
              </a:blip>
              <a:srcRect l="22043" t="31741" r="22676" b="46337"/>
              <a:stretch/>
            </p:blipFill>
            <p:spPr>
              <a:xfrm>
                <a:off x="314460" y="4647384"/>
                <a:ext cx="907472" cy="359852"/>
              </a:xfrm>
              <a:prstGeom prst="rect">
                <a:avLst/>
              </a:prstGeom>
            </p:spPr>
          </p:pic>
          <p:pic>
            <p:nvPicPr>
              <p:cNvPr id="13" name="Picture 12" descr="A black background with white text&#10;&#10;AI-generated content may be incorrect.">
                <a:extLst>
                  <a:ext uri="{FF2B5EF4-FFF2-40B4-BE49-F238E27FC236}">
                    <a16:creationId xmlns:a16="http://schemas.microsoft.com/office/drawing/2014/main" id="{7C5C02F2-245D-A75B-547C-7883F417D6DC}"/>
                  </a:ext>
                </a:extLst>
              </p:cNvPr>
              <p:cNvPicPr>
                <a:picLocks noChangeAspect="1"/>
              </p:cNvPicPr>
              <p:nvPr userDrawn="1"/>
            </p:nvPicPr>
            <p:blipFill>
              <a:blip r:embed="rId5">
                <a:extLst>
                  <a:ext uri="{28A0092B-C50C-407E-A947-70E740481C1C}">
                    <a14:useLocalDpi xmlns:a14="http://schemas.microsoft.com/office/drawing/2010/main" val="0"/>
                  </a:ext>
                </a:extLst>
              </a:blip>
              <a:srcRect l="25307" t="53939" r="23341" b="35665"/>
              <a:stretch/>
            </p:blipFill>
            <p:spPr>
              <a:xfrm>
                <a:off x="1221932" y="4714151"/>
                <a:ext cx="1447800" cy="293085"/>
              </a:xfrm>
              <a:prstGeom prst="rect">
                <a:avLst/>
              </a:prstGeom>
            </p:spPr>
          </p:pic>
        </p:grpSp>
      </p:grpSp>
    </p:spTree>
    <p:extLst>
      <p:ext uri="{BB962C8B-B14F-4D97-AF65-F5344CB8AC3E}">
        <p14:creationId xmlns:p14="http://schemas.microsoft.com/office/powerpoint/2010/main" val="3168556155"/>
      </p:ext>
    </p:extLst>
  </p:cSld>
  <p:clrMapOvr>
    <a:masterClrMapping/>
  </p:clrMapOvr>
  <p:extLst>
    <p:ext uri="{DCECCB84-F9BA-43D5-87BE-67443E8EF086}">
      <p15:sldGuideLst xmlns:p15="http://schemas.microsoft.com/office/powerpoint/2012/main">
        <p15:guide id="1" pos="1474">
          <p15:clr>
            <a:srgbClr val="FBAE40"/>
          </p15:clr>
        </p15:guide>
        <p15:guide id="2" pos="31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39E1FB-7D74-FD2B-0FAA-F31B4B0CC7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00D00F-DABB-2032-A7DB-BFC30DE07A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686D88-5BF7-36BF-A184-0DC7FAF33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03CF23-D439-4AA6-B73A-443D8D00C23D}" type="datetimeFigureOut">
              <a:rPr lang="en-IN" smtClean="0"/>
              <a:t>29-12-2025</a:t>
            </a:fld>
            <a:endParaRPr lang="en-IN"/>
          </a:p>
        </p:txBody>
      </p:sp>
      <p:sp>
        <p:nvSpPr>
          <p:cNvPr id="5" name="Footer Placeholder 4">
            <a:extLst>
              <a:ext uri="{FF2B5EF4-FFF2-40B4-BE49-F238E27FC236}">
                <a16:creationId xmlns:a16="http://schemas.microsoft.com/office/drawing/2014/main" id="{8849C554-2910-604F-E4DB-6241614F1C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DA2AA3E-C7BE-5FEF-1556-F450AEE71C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E8DC33-FA46-4FE8-A960-CC6A67C7E41C}" type="slidenum">
              <a:rPr lang="en-IN" smtClean="0"/>
              <a:t>‹#›</a:t>
            </a:fld>
            <a:endParaRPr lang="en-IN"/>
          </a:p>
        </p:txBody>
      </p:sp>
    </p:spTree>
    <p:extLst>
      <p:ext uri="{BB962C8B-B14F-4D97-AF65-F5344CB8AC3E}">
        <p14:creationId xmlns:p14="http://schemas.microsoft.com/office/powerpoint/2010/main" val="1230215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5DBB10-2080-5746-8D95-B85AAFEC29E6}"/>
              </a:ext>
            </a:extLst>
          </p:cNvPr>
          <p:cNvSpPr>
            <a:spLocks noGrp="1"/>
          </p:cNvSpPr>
          <p:nvPr>
            <p:ph type="title"/>
          </p:nvPr>
        </p:nvSpPr>
        <p:spPr>
          <a:xfrm>
            <a:off x="2330245" y="2046206"/>
            <a:ext cx="7826458" cy="732869"/>
          </a:xfrm>
        </p:spPr>
        <p:txBody>
          <a:bodyPr>
            <a:normAutofit fontScale="90000"/>
          </a:bodyPr>
          <a:lstStyle/>
          <a:p>
            <a:r>
              <a:rPr lang="en-US" dirty="0">
                <a:latin typeface="Times New Roman" panose="02020603050405020304" pitchFamily="18" charset="0"/>
                <a:cs typeface="Times New Roman" panose="02020603050405020304" pitchFamily="18" charset="0"/>
              </a:rPr>
              <a:t>Concepts of Dimensional Modeling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(Hierarchy of the dimensions)</a:t>
            </a:r>
          </a:p>
        </p:txBody>
      </p:sp>
    </p:spTree>
    <p:extLst>
      <p:ext uri="{BB962C8B-B14F-4D97-AF65-F5344CB8AC3E}">
        <p14:creationId xmlns:p14="http://schemas.microsoft.com/office/powerpoint/2010/main" val="658091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2D333-BA9D-AF1A-8F24-6BED88CDC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7C795-5D86-6500-966C-3525518A06B7}"/>
              </a:ext>
            </a:extLst>
          </p:cNvPr>
          <p:cNvSpPr>
            <a:spLocks noGrp="1"/>
          </p:cNvSpPr>
          <p:nvPr>
            <p:ph type="title"/>
          </p:nvPr>
        </p:nvSpPr>
        <p:spPr>
          <a:xfrm>
            <a:off x="643570" y="569181"/>
            <a:ext cx="10904859" cy="440488"/>
          </a:xfrm>
        </p:spPr>
        <p:txBody>
          <a:bodyPr/>
          <a:lstStyle/>
          <a:p>
            <a:r>
              <a:rPr lang="en-US" sz="2800" dirty="0">
                <a:latin typeface="Times New Roman" panose="02020603050405020304" pitchFamily="18" charset="0"/>
                <a:cs typeface="Times New Roman" panose="02020603050405020304" pitchFamily="18" charset="0"/>
              </a:rPr>
              <a:t>What is Dimensional Modeling?</a:t>
            </a:r>
          </a:p>
        </p:txBody>
      </p:sp>
      <p:sp>
        <p:nvSpPr>
          <p:cNvPr id="4" name="TextBox 3">
            <a:extLst>
              <a:ext uri="{FF2B5EF4-FFF2-40B4-BE49-F238E27FC236}">
                <a16:creationId xmlns:a16="http://schemas.microsoft.com/office/drawing/2014/main" id="{9562BF20-141C-8BE5-C6C8-CC8808AFFE9D}"/>
              </a:ext>
            </a:extLst>
          </p:cNvPr>
          <p:cNvSpPr txBox="1"/>
          <p:nvPr/>
        </p:nvSpPr>
        <p:spPr>
          <a:xfrm>
            <a:off x="643570" y="1174217"/>
            <a:ext cx="11027320" cy="5078313"/>
          </a:xfrm>
          <a:prstGeom prst="rect">
            <a:avLst/>
          </a:prstGeom>
          <a:noFill/>
        </p:spPr>
        <p:txBody>
          <a:bodyPr wrap="square">
            <a:spAutoFit/>
          </a:bodyPr>
          <a:lstStyle/>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A dimension hierarchy is a logical structure that uses ordered levels of granularity to organize data. It allows users to navigate data from a summary level to a detailed level.</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Example (Time):</a:t>
            </a:r>
            <a:r>
              <a:rPr lang="en-US" altLang="en-US" dirty="0">
                <a:latin typeface="Times New Roman" panose="02020603050405020304" pitchFamily="18" charset="0"/>
                <a:cs typeface="Times New Roman" panose="02020603050405020304" pitchFamily="18" charset="0"/>
              </a:rPr>
              <a:t> </a:t>
            </a:r>
            <a: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Year → Quarter → Month → Day. This allows analysis by month, which can be rolled up to the quarter or year.</a:t>
            </a: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Example (Geography):</a:t>
            </a:r>
            <a:r>
              <a:rPr lang="en-US" altLang="en-US" dirty="0">
                <a:latin typeface="Times New Roman" panose="02020603050405020304" pitchFamily="18" charset="0"/>
                <a:cs typeface="Times New Roman" panose="02020603050405020304" pitchFamily="18" charset="0"/>
              </a:rPr>
              <a:t> </a:t>
            </a:r>
            <a: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Country → State → City → Store. This enables viewing sales by city, which can be aggregated up to the state or country level.</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organizes data into </a:t>
            </a:r>
            <a:r>
              <a:rPr lang="en-US" b="1" dirty="0">
                <a:latin typeface="Times New Roman" panose="02020603050405020304" pitchFamily="18" charset="0"/>
                <a:cs typeface="Times New Roman" panose="02020603050405020304" pitchFamily="18" charset="0"/>
              </a:rPr>
              <a:t>Facts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Dimensions</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Fact Table: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Contains measurable, numerical data about a business event (the "what").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Examples: Sales Amount, Units Sold, Profit Margin.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Keys in this table connect to the dimension tables.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Dimension Tables: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Contain the descriptive context for the facts (the "who, what, where, when").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They provide the context for analysis.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Examples: Customer details, Product information, Store locations, Dates.</a:t>
            </a:r>
          </a:p>
        </p:txBody>
      </p:sp>
    </p:spTree>
    <p:extLst>
      <p:ext uri="{BB962C8B-B14F-4D97-AF65-F5344CB8AC3E}">
        <p14:creationId xmlns:p14="http://schemas.microsoft.com/office/powerpoint/2010/main" val="2352634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26373-C1C0-3151-F1A9-19E200BD4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9E485-838F-FDA1-2CF5-AEDD28BC9BB2}"/>
              </a:ext>
            </a:extLst>
          </p:cNvPr>
          <p:cNvSpPr>
            <a:spLocks noGrp="1"/>
          </p:cNvSpPr>
          <p:nvPr>
            <p:ph type="title"/>
          </p:nvPr>
        </p:nvSpPr>
        <p:spPr>
          <a:xfrm>
            <a:off x="643570" y="569181"/>
            <a:ext cx="10904859" cy="440488"/>
          </a:xfrm>
        </p:spPr>
        <p:txBody>
          <a:bodyPr/>
          <a:lstStyle/>
          <a:p>
            <a:r>
              <a:rPr lang="en-US" sz="2800" dirty="0">
                <a:latin typeface="Times New Roman" panose="02020603050405020304" pitchFamily="18" charset="0"/>
                <a:cs typeface="Times New Roman" panose="02020603050405020304" pitchFamily="18" charset="0"/>
              </a:rPr>
              <a:t>Understanding Hierarchies in Dimensions</a:t>
            </a:r>
          </a:p>
        </p:txBody>
      </p:sp>
      <p:sp>
        <p:nvSpPr>
          <p:cNvPr id="5" name="TextBox 4">
            <a:extLst>
              <a:ext uri="{FF2B5EF4-FFF2-40B4-BE49-F238E27FC236}">
                <a16:creationId xmlns:a16="http://schemas.microsoft.com/office/drawing/2014/main" id="{39E93C7D-81E9-8244-A987-772341EE206A}"/>
              </a:ext>
            </a:extLst>
          </p:cNvPr>
          <p:cNvSpPr txBox="1"/>
          <p:nvPr/>
        </p:nvSpPr>
        <p:spPr>
          <a:xfrm>
            <a:off x="344129" y="1009669"/>
            <a:ext cx="11739715" cy="5028556"/>
          </a:xfrm>
          <a:prstGeom prst="rect">
            <a:avLst/>
          </a:prstGeom>
          <a:noFill/>
        </p:spPr>
        <p:txBody>
          <a:bodyPr wrap="square">
            <a:spAutoFit/>
          </a:bodyPr>
          <a:lstStyle/>
          <a:p>
            <a:pPr>
              <a:lnSpc>
                <a:spcPct val="150000"/>
              </a:lnSpc>
              <a:buNone/>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dimension hierarchy</a:t>
            </a:r>
            <a:r>
              <a:rPr lang="en-US" dirty="0">
                <a:latin typeface="Times New Roman" panose="02020603050405020304" pitchFamily="18" charset="0"/>
                <a:cs typeface="Times New Roman" panose="02020603050405020304" pitchFamily="18" charset="0"/>
              </a:rPr>
              <a:t> is a logical structure that uses ordered levels to organize data. It allows users to navigate data at different levels of granularity. </a:t>
            </a:r>
          </a:p>
          <a:p>
            <a:pPr>
              <a:lnSpc>
                <a:spcPct val="150000"/>
              </a:lnSpc>
              <a:buNone/>
            </a:pPr>
            <a:r>
              <a:rPr lang="en-US" dirty="0">
                <a:latin typeface="Times New Roman" panose="02020603050405020304" pitchFamily="18" charset="0"/>
                <a:cs typeface="Times New Roman" panose="02020603050405020304" pitchFamily="18" charset="0"/>
              </a:rPr>
              <a:t>This is the foundation for </a:t>
            </a:r>
            <a:r>
              <a:rPr lang="en-US" b="1" dirty="0">
                <a:latin typeface="Times New Roman" panose="02020603050405020304" pitchFamily="18" charset="0"/>
                <a:cs typeface="Times New Roman" panose="02020603050405020304" pitchFamily="18" charset="0"/>
              </a:rPr>
              <a:t>drill-down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roll-up</a:t>
            </a:r>
            <a:r>
              <a:rPr lang="en-US" dirty="0">
                <a:latin typeface="Times New Roman" panose="02020603050405020304" pitchFamily="18" charset="0"/>
                <a:cs typeface="Times New Roman" panose="02020603050405020304" pitchFamily="18" charset="0"/>
              </a:rPr>
              <a:t> analysis.</a:t>
            </a:r>
          </a:p>
          <a:p>
            <a:pPr>
              <a:lnSpc>
                <a:spcPct val="150000"/>
              </a:lnSpc>
            </a:pP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Drill-Down:</a:t>
            </a:r>
            <a:r>
              <a:rPr lang="en-US"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Drill-down means </a:t>
            </a:r>
            <a:r>
              <a:rPr lang="en-US" b="1" dirty="0">
                <a:latin typeface="Times New Roman" panose="02020603050405020304" pitchFamily="18" charset="0"/>
                <a:cs typeface="Times New Roman" panose="02020603050405020304" pitchFamily="18" charset="0"/>
              </a:rPr>
              <a:t>navigating from summarized data to more detailed data</a:t>
            </a:r>
            <a:r>
              <a:rPr lang="en-US"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helps analysts identify </a:t>
            </a:r>
            <a:r>
              <a:rPr lang="en-US" i="1" dirty="0">
                <a:latin typeface="Times New Roman" panose="02020603050405020304" pitchFamily="18" charset="0"/>
                <a:cs typeface="Times New Roman" panose="02020603050405020304" pitchFamily="18" charset="0"/>
              </a:rPr>
              <a:t>root causes or fine-grained insights. </a:t>
            </a:r>
          </a:p>
          <a:p>
            <a:pPr>
              <a:lnSpc>
                <a:spcPct val="150000"/>
              </a:lnSpc>
            </a:pPr>
            <a:endParaRPr lang="en-US" b="1" i="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Roll-Up:</a:t>
            </a:r>
            <a:r>
              <a:rPr lang="en-US"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Aggregating detailed data into a summary level.</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Roll-up is the </a:t>
            </a:r>
            <a:r>
              <a:rPr lang="en-US" b="1" dirty="0">
                <a:latin typeface="Times New Roman" panose="02020603050405020304" pitchFamily="18" charset="0"/>
                <a:cs typeface="Times New Roman" panose="02020603050405020304" pitchFamily="18" charset="0"/>
              </a:rPr>
              <a:t>reverse of drill-down</a:t>
            </a:r>
            <a:r>
              <a:rPr lang="en-US" dirty="0">
                <a:latin typeface="Times New Roman" panose="02020603050405020304" pitchFamily="18" charset="0"/>
                <a:cs typeface="Times New Roman" panose="02020603050405020304" pitchFamily="18" charset="0"/>
              </a:rPr>
              <a:t> — it means </a:t>
            </a:r>
            <a:r>
              <a:rPr lang="en-US" b="1" dirty="0">
                <a:latin typeface="Times New Roman" panose="02020603050405020304" pitchFamily="18" charset="0"/>
                <a:cs typeface="Times New Roman" panose="02020603050405020304" pitchFamily="18" charset="0"/>
              </a:rPr>
              <a:t>aggregating detailed data into higher-level summaries.</a:t>
            </a: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110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64A63-68CB-E8C3-8AFB-C8C9197B62E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Types of Dimension Hierarchies:</a:t>
            </a:r>
            <a:endParaRPr lang="en-US" dirty="0"/>
          </a:p>
        </p:txBody>
      </p:sp>
      <p:sp>
        <p:nvSpPr>
          <p:cNvPr id="5" name="TextBox 4">
            <a:extLst>
              <a:ext uri="{FF2B5EF4-FFF2-40B4-BE49-F238E27FC236}">
                <a16:creationId xmlns:a16="http://schemas.microsoft.com/office/drawing/2014/main" id="{F0B3FCD7-41C6-2C04-DDA4-6A074917740A}"/>
              </a:ext>
            </a:extLst>
          </p:cNvPr>
          <p:cNvSpPr txBox="1"/>
          <p:nvPr/>
        </p:nvSpPr>
        <p:spPr>
          <a:xfrm>
            <a:off x="685950" y="1012185"/>
            <a:ext cx="10562153" cy="544405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Hierarchies can be structured in several ways, depending on the nature of the data.</a:t>
            </a:r>
          </a:p>
          <a:p>
            <a:pPr>
              <a:lnSpc>
                <a:spcPct val="150000"/>
              </a:lnSpc>
            </a:pPr>
            <a:r>
              <a:rPr lang="en-US" b="1" dirty="0">
                <a:latin typeface="Times New Roman" panose="02020603050405020304" pitchFamily="18" charset="0"/>
                <a:cs typeface="Times New Roman" panose="02020603050405020304" pitchFamily="18" charset="0"/>
              </a:rPr>
              <a:t>Balanced Hierarchy:</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Every branch of the hierarchy descends to the same level, and each member's parent is at the level immediately above it.</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Time (Year → Quarter → Month → Day).</a:t>
            </a:r>
          </a:p>
          <a:p>
            <a:pPr>
              <a:lnSpc>
                <a:spcPct val="150000"/>
              </a:lnSpc>
            </a:pPr>
            <a:r>
              <a:rPr lang="en-US" b="1" dirty="0">
                <a:latin typeface="Times New Roman" panose="02020603050405020304" pitchFamily="18" charset="0"/>
                <a:cs typeface="Times New Roman" panose="02020603050405020304" pitchFamily="18" charset="0"/>
              </a:rPr>
              <a:t>Unbalanced Hierarchy:</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Branches of the hierarchy have different depths.</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An organizational chart where some managers have reports who are also managers, creating uneven levels.</a:t>
            </a:r>
          </a:p>
          <a:p>
            <a:pPr>
              <a:lnSpc>
                <a:spcPct val="150000"/>
              </a:lnSpc>
            </a:pPr>
            <a:r>
              <a:rPr lang="en-US" b="1" dirty="0">
                <a:latin typeface="Times New Roman" panose="02020603050405020304" pitchFamily="18" charset="0"/>
                <a:cs typeface="Times New Roman" panose="02020603050405020304" pitchFamily="18" charset="0"/>
              </a:rPr>
              <a:t>Ragged Hierarchy:</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hierarchy where some members skip at least one level in the logical path.</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 geography hierarchy where a city like Washington D.C. reports directly to the country (USA), skipping the state level.</a:t>
            </a:r>
          </a:p>
        </p:txBody>
      </p:sp>
    </p:spTree>
    <p:extLst>
      <p:ext uri="{BB962C8B-B14F-4D97-AF65-F5344CB8AC3E}">
        <p14:creationId xmlns:p14="http://schemas.microsoft.com/office/powerpoint/2010/main" val="1117323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5DBB10-2080-5746-8D95-B85AAFEC29E6}"/>
              </a:ext>
            </a:extLst>
          </p:cNvPr>
          <p:cNvSpPr>
            <a:spLocks noGrp="1"/>
          </p:cNvSpPr>
          <p:nvPr>
            <p:ph type="title"/>
          </p:nvPr>
        </p:nvSpPr>
        <p:spPr>
          <a:xfrm>
            <a:off x="2527397" y="2488657"/>
            <a:ext cx="5525223" cy="732869"/>
          </a:xfrm>
        </p:spPr>
        <p:txBody>
          <a:bodyPr>
            <a:normAutofit/>
          </a:bodyPr>
          <a:lstStyle/>
          <a:p>
            <a:pPr algn="l"/>
            <a:r>
              <a:rPr lang="en-US" dirty="0">
                <a:latin typeface="Poppins" panose="020B0502040204020203" pitchFamily="2" charset="0"/>
              </a:rPr>
              <a:t>Date Dimensions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809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26373-C1C0-3151-F1A9-19E200BD4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9E485-838F-FDA1-2CF5-AEDD28BC9BB2}"/>
              </a:ext>
            </a:extLst>
          </p:cNvPr>
          <p:cNvSpPr>
            <a:spLocks noGrp="1"/>
          </p:cNvSpPr>
          <p:nvPr>
            <p:ph type="title"/>
          </p:nvPr>
        </p:nvSpPr>
        <p:spPr>
          <a:xfrm>
            <a:off x="643570" y="569181"/>
            <a:ext cx="10904859" cy="440488"/>
          </a:xfrm>
        </p:spPr>
        <p:txBody>
          <a:bodyPr/>
          <a:lstStyle/>
          <a:p>
            <a:pPr>
              <a:spcAft>
                <a:spcPts val="3000"/>
              </a:spcAft>
            </a:pPr>
            <a:r>
              <a:rPr lang="en-US" sz="2800" dirty="0">
                <a:latin typeface="Times New Roman" panose="02020603050405020304" pitchFamily="18" charset="0"/>
                <a:cs typeface="Times New Roman" panose="02020603050405020304" pitchFamily="18" charset="0"/>
              </a:rPr>
              <a:t>What is a Date Dimension?</a:t>
            </a:r>
          </a:p>
        </p:txBody>
      </p:sp>
      <p:sp>
        <p:nvSpPr>
          <p:cNvPr id="5" name="TextBox 4">
            <a:extLst>
              <a:ext uri="{FF2B5EF4-FFF2-40B4-BE49-F238E27FC236}">
                <a16:creationId xmlns:a16="http://schemas.microsoft.com/office/drawing/2014/main" id="{9EF39919-B7E5-40CA-600F-51C9C062433E}"/>
              </a:ext>
            </a:extLst>
          </p:cNvPr>
          <p:cNvSpPr txBox="1"/>
          <p:nvPr/>
        </p:nvSpPr>
        <p:spPr>
          <a:xfrm>
            <a:off x="403121" y="1261862"/>
            <a:ext cx="11582401" cy="4952638"/>
          </a:xfrm>
          <a:prstGeom prst="rect">
            <a:avLst/>
          </a:prstGeom>
          <a:noFill/>
        </p:spPr>
        <p:txBody>
          <a:bodyPr wrap="square">
            <a:spAutoFit/>
          </a:bodyPr>
          <a:lstStyle/>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A </a:t>
            </a:r>
            <a:r>
              <a:rPr lang="en-US" altLang="en-US" b="1" dirty="0">
                <a:latin typeface="Times New Roman" panose="02020603050405020304" pitchFamily="18" charset="0"/>
                <a:cs typeface="Times New Roman" panose="02020603050405020304" pitchFamily="18" charset="0"/>
              </a:rPr>
              <a:t>Date Dimension (</a:t>
            </a:r>
            <a:r>
              <a:rPr lang="en-US" altLang="en-US" b="1" dirty="0" err="1">
                <a:latin typeface="Times New Roman" panose="02020603050405020304" pitchFamily="18" charset="0"/>
                <a:cs typeface="Times New Roman" panose="02020603050405020304" pitchFamily="18" charset="0"/>
              </a:rPr>
              <a:t>Dim_Date</a:t>
            </a:r>
            <a:r>
              <a:rPr lang="en-US" altLang="en-US" b="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is a specialized table in a data warehouse that stores one record per date along with descriptive attributes like day, week, month, quarter, and year.</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It helps in joining fact tables with time-based data efficiently.</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Acts as a </a:t>
            </a:r>
            <a:r>
              <a:rPr lang="en-US" altLang="en-US" b="1" dirty="0">
                <a:latin typeface="Times New Roman" panose="02020603050405020304" pitchFamily="18" charset="0"/>
                <a:cs typeface="Times New Roman" panose="02020603050405020304" pitchFamily="18" charset="0"/>
              </a:rPr>
              <a:t>conformed dimension</a:t>
            </a:r>
            <a:r>
              <a:rPr lang="en-US" altLang="en-US" dirty="0">
                <a:latin typeface="Times New Roman" panose="02020603050405020304" pitchFamily="18" charset="0"/>
                <a:cs typeface="Times New Roman" panose="02020603050405020304" pitchFamily="18" charset="0"/>
              </a:rPr>
              <a:t> used across multiple facts for consistency.</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algn="l">
              <a:spcAft>
                <a:spcPts val="1125"/>
              </a:spcAft>
              <a:buNone/>
            </a:pPr>
            <a:r>
              <a:rPr lang="en-US" b="1" i="0" dirty="0">
                <a:effectLst/>
                <a:latin typeface="Times New Roman" panose="02020603050405020304" pitchFamily="18" charset="0"/>
                <a:cs typeface="Times New Roman" panose="02020603050405020304" pitchFamily="18" charset="0"/>
              </a:rPr>
              <a:t>Key Characteristics</a:t>
            </a:r>
          </a:p>
          <a:p>
            <a:pPr marL="742950" lvl="1" indent="-285750">
              <a:spcAft>
                <a:spcPts val="1125"/>
              </a:spcAf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 standard, required component in almost every data warehouse.</a:t>
            </a:r>
          </a:p>
          <a:p>
            <a:pPr marL="742950" lvl="1" indent="-285750">
              <a:spcAft>
                <a:spcPts val="1125"/>
              </a:spcAf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Static and shared across different fact tables (a "conformed" dimension).</a:t>
            </a:r>
          </a:p>
          <a:p>
            <a:pPr marL="742950" lvl="1" indent="-285750">
              <a:spcAft>
                <a:spcPts val="1125"/>
              </a:spcAf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Uses a simple integer "Date Key" (e.g., 20251031) to link to fact tables.</a:t>
            </a:r>
          </a:p>
          <a:p>
            <a:pPr marL="285750" indent="-285750" algn="l">
              <a:spcAft>
                <a:spcPts val="1125"/>
              </a:spcAft>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Why It’s Important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Simplifies querying by avoiding repeated date calculations.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consistent date logic across reports (fiscal year, week numbering, holidays).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Enables time-intelligent analytics like roll-up (day → month → year), drill-down, and year-over-year comparisons.</a:t>
            </a:r>
          </a:p>
          <a:p>
            <a:pPr algn="l">
              <a:spcAft>
                <a:spcPts val="1125"/>
              </a:spcAft>
            </a:pP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5443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94C74-9D4C-0DBF-7E4B-5AE4570EC3F7}"/>
              </a:ext>
            </a:extLst>
          </p:cNvPr>
          <p:cNvSpPr>
            <a:spLocks noGrp="1"/>
          </p:cNvSpPr>
          <p:nvPr>
            <p:ph type="title"/>
          </p:nvPr>
        </p:nvSpPr>
        <p:spPr>
          <a:xfrm>
            <a:off x="685950" y="699517"/>
            <a:ext cx="10807652" cy="440488"/>
          </a:xfrm>
        </p:spPr>
        <p:txBody>
          <a:bodyPr>
            <a:normAutofit fontScale="90000"/>
          </a:bodyPr>
          <a:lstStyle/>
          <a:p>
            <a:r>
              <a:rPr lang="en-US" dirty="0">
                <a:latin typeface="Times New Roman" panose="02020603050405020304" pitchFamily="18" charset="0"/>
                <a:cs typeface="Times New Roman" panose="02020603050405020304" pitchFamily="18" charset="0"/>
              </a:rPr>
              <a:t>Common Attributes &amp; Hierarchy</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9758B4A-A655-E724-774E-DF63CB870E56}"/>
              </a:ext>
            </a:extLst>
          </p:cNvPr>
          <p:cNvSpPr txBox="1"/>
          <p:nvPr/>
        </p:nvSpPr>
        <p:spPr>
          <a:xfrm>
            <a:off x="598613" y="1140005"/>
            <a:ext cx="11159305" cy="4941353"/>
          </a:xfrm>
          <a:prstGeom prst="rect">
            <a:avLst/>
          </a:prstGeom>
          <a:noFill/>
        </p:spPr>
        <p:txBody>
          <a:bodyPr wrap="square">
            <a:spAutoFit/>
          </a:bodyPr>
          <a:lstStyle/>
          <a:p>
            <a:pPr algn="l">
              <a:lnSpc>
                <a:spcPct val="150000"/>
              </a:lnSpc>
              <a:buNone/>
            </a:pPr>
            <a:r>
              <a:rPr lang="en-US" i="0" dirty="0">
                <a:effectLst/>
                <a:latin typeface="Times New Roman" panose="02020603050405020304" pitchFamily="18" charset="0"/>
                <a:cs typeface="Times New Roman" panose="02020603050405020304" pitchFamily="18" charset="0"/>
              </a:rPr>
              <a:t>A Date Dimension is enriched with many attributes to support analysis:</a:t>
            </a:r>
          </a:p>
          <a:p>
            <a:pPr marL="742950" lvl="1" indent="-285750">
              <a:lnSpc>
                <a:spcPct val="150000"/>
              </a:lnSpc>
              <a:spcAft>
                <a:spcPts val="1125"/>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DateKey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FullDate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DayOfWeek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WeekNumber</a:t>
            </a:r>
            <a:r>
              <a:rPr lang="en-US" dirty="0">
                <a:latin typeface="Times New Roman" panose="02020603050405020304" pitchFamily="18" charset="0"/>
                <a:cs typeface="Times New Roman" panose="02020603050405020304" pitchFamily="18" charset="0"/>
              </a:rPr>
              <a:t>, Month, Quarter, Year</a:t>
            </a:r>
            <a:r>
              <a:rPr lang="en-US" i="0" dirty="0">
                <a:effectLst/>
                <a:latin typeface="Times New Roman" panose="02020603050405020304" pitchFamily="18" charset="0"/>
                <a:cs typeface="Times New Roman" panose="02020603050405020304" pitchFamily="18" charset="0"/>
              </a:rPr>
              <a:t>, Flags (</a:t>
            </a:r>
            <a:r>
              <a:rPr lang="en-US" i="0" dirty="0" err="1">
                <a:effectLst/>
                <a:latin typeface="Times New Roman" panose="02020603050405020304" pitchFamily="18" charset="0"/>
                <a:cs typeface="Times New Roman" panose="02020603050405020304" pitchFamily="18" charset="0"/>
              </a:rPr>
              <a:t>e.g</a:t>
            </a:r>
            <a:r>
              <a:rPr lang="en-US" i="0" dirty="0">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IsHoliday</a:t>
            </a:r>
            <a:r>
              <a:rPr lang="en-US" i="0" dirty="0">
                <a:effectLst/>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FiscalMonth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FiscalQuarter</a:t>
            </a:r>
            <a:r>
              <a:rPr lang="en-US" dirty="0">
                <a:latin typeface="Times New Roman" panose="02020603050405020304" pitchFamily="18" charset="0"/>
                <a:cs typeface="Times New Roman" panose="02020603050405020304" pitchFamily="18" charset="0"/>
              </a:rPr>
              <a:t>.</a:t>
            </a:r>
            <a:endParaRPr lang="en-US" i="0" dirty="0">
              <a:effectLst/>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Typical hierarchy:</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Year → Quarter → Month → Day</a:t>
            </a: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2024-03-15 → Year = 2024, Quarter = Q1, Month = March, Day = 15</a:t>
            </a:r>
          </a:p>
          <a:p>
            <a:pPr marL="742950" lvl="1" indent="-285750" eaLnBrk="0" fontAlgn="base" hangingPunct="0">
              <a:lnSpc>
                <a:spcPct val="150000"/>
              </a:lnSpc>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Use in Reporting &amp; Analysis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Joins with fact tables to enable slicing by week, month, quarter, or fiscal period.</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Can serve multiple roles like Order Date, Ship Date, or Invoice Date.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analytics such as “Sales by Quarter vs Last Year” or “Holiday vs Non-Holiday Sales.”</a:t>
            </a:r>
          </a:p>
          <a:p>
            <a:pPr marL="285750" indent="-285750" eaLnBrk="0" fontAlgn="base" hangingPunct="0">
              <a:lnSpc>
                <a:spcPct val="150000"/>
              </a:lnSpc>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8358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52593-F8A2-BB4D-7B8A-F50C1C639EF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Hierarchy Example:</a:t>
            </a:r>
          </a:p>
        </p:txBody>
      </p:sp>
      <p:graphicFrame>
        <p:nvGraphicFramePr>
          <p:cNvPr id="4" name="Table 3">
            <a:extLst>
              <a:ext uri="{FF2B5EF4-FFF2-40B4-BE49-F238E27FC236}">
                <a16:creationId xmlns:a16="http://schemas.microsoft.com/office/drawing/2014/main" id="{CA266D3E-DA2B-8D39-2CD3-3252FA674FF4}"/>
              </a:ext>
            </a:extLst>
          </p:cNvPr>
          <p:cNvGraphicFramePr>
            <a:graphicFrameLocks noGrp="1"/>
          </p:cNvGraphicFramePr>
          <p:nvPr/>
        </p:nvGraphicFramePr>
        <p:xfrm>
          <a:off x="685950" y="1107725"/>
          <a:ext cx="11319240" cy="3200400"/>
        </p:xfrm>
        <a:graphic>
          <a:graphicData uri="http://schemas.openxmlformats.org/drawingml/2006/table">
            <a:tbl>
              <a:tblPr>
                <a:tableStyleId>{3C2FFA5D-87B4-456A-9821-1D502468CF0F}</a:tableStyleId>
              </a:tblPr>
              <a:tblGrid>
                <a:gridCol w="1131924">
                  <a:extLst>
                    <a:ext uri="{9D8B030D-6E8A-4147-A177-3AD203B41FA5}">
                      <a16:colId xmlns:a16="http://schemas.microsoft.com/office/drawing/2014/main" val="3545875819"/>
                    </a:ext>
                  </a:extLst>
                </a:gridCol>
                <a:gridCol w="1131924">
                  <a:extLst>
                    <a:ext uri="{9D8B030D-6E8A-4147-A177-3AD203B41FA5}">
                      <a16:colId xmlns:a16="http://schemas.microsoft.com/office/drawing/2014/main" val="1925629470"/>
                    </a:ext>
                  </a:extLst>
                </a:gridCol>
                <a:gridCol w="1131924">
                  <a:extLst>
                    <a:ext uri="{9D8B030D-6E8A-4147-A177-3AD203B41FA5}">
                      <a16:colId xmlns:a16="http://schemas.microsoft.com/office/drawing/2014/main" val="537047064"/>
                    </a:ext>
                  </a:extLst>
                </a:gridCol>
                <a:gridCol w="1131924">
                  <a:extLst>
                    <a:ext uri="{9D8B030D-6E8A-4147-A177-3AD203B41FA5}">
                      <a16:colId xmlns:a16="http://schemas.microsoft.com/office/drawing/2014/main" val="17637949"/>
                    </a:ext>
                  </a:extLst>
                </a:gridCol>
                <a:gridCol w="1131924">
                  <a:extLst>
                    <a:ext uri="{9D8B030D-6E8A-4147-A177-3AD203B41FA5}">
                      <a16:colId xmlns:a16="http://schemas.microsoft.com/office/drawing/2014/main" val="4084194398"/>
                    </a:ext>
                  </a:extLst>
                </a:gridCol>
                <a:gridCol w="1131924">
                  <a:extLst>
                    <a:ext uri="{9D8B030D-6E8A-4147-A177-3AD203B41FA5}">
                      <a16:colId xmlns:a16="http://schemas.microsoft.com/office/drawing/2014/main" val="1244956462"/>
                    </a:ext>
                  </a:extLst>
                </a:gridCol>
                <a:gridCol w="1131924">
                  <a:extLst>
                    <a:ext uri="{9D8B030D-6E8A-4147-A177-3AD203B41FA5}">
                      <a16:colId xmlns:a16="http://schemas.microsoft.com/office/drawing/2014/main" val="3450546076"/>
                    </a:ext>
                  </a:extLst>
                </a:gridCol>
                <a:gridCol w="1193344">
                  <a:extLst>
                    <a:ext uri="{9D8B030D-6E8A-4147-A177-3AD203B41FA5}">
                      <a16:colId xmlns:a16="http://schemas.microsoft.com/office/drawing/2014/main" val="3246577501"/>
                    </a:ext>
                  </a:extLst>
                </a:gridCol>
                <a:gridCol w="1070504">
                  <a:extLst>
                    <a:ext uri="{9D8B030D-6E8A-4147-A177-3AD203B41FA5}">
                      <a16:colId xmlns:a16="http://schemas.microsoft.com/office/drawing/2014/main" val="1595886524"/>
                    </a:ext>
                  </a:extLst>
                </a:gridCol>
                <a:gridCol w="1131924">
                  <a:extLst>
                    <a:ext uri="{9D8B030D-6E8A-4147-A177-3AD203B41FA5}">
                      <a16:colId xmlns:a16="http://schemas.microsoft.com/office/drawing/2014/main" val="2376622841"/>
                    </a:ext>
                  </a:extLst>
                </a:gridCol>
              </a:tblGrid>
              <a:tr h="0">
                <a:tc>
                  <a:txBody>
                    <a:bodyPr/>
                    <a:lstStyle/>
                    <a:p>
                      <a:pPr>
                        <a:buNone/>
                      </a:pPr>
                      <a:r>
                        <a:rPr lang="en-US" b="1">
                          <a:latin typeface="Times New Roman" panose="02020603050405020304" pitchFamily="18" charset="0"/>
                          <a:cs typeface="Times New Roman" panose="02020603050405020304" pitchFamily="18" charset="0"/>
                        </a:rPr>
                        <a:t>DateKey</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b="1">
                          <a:latin typeface="Times New Roman" panose="02020603050405020304" pitchFamily="18" charset="0"/>
                          <a:cs typeface="Times New Roman" panose="02020603050405020304" pitchFamily="18" charset="0"/>
                        </a:rPr>
                        <a:t>FullDate</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b="1" dirty="0">
                          <a:latin typeface="Times New Roman" panose="02020603050405020304" pitchFamily="18" charset="0"/>
                          <a:cs typeface="Times New Roman" panose="02020603050405020304" pitchFamily="18" charset="0"/>
                        </a:rPr>
                        <a:t>Day Of</a:t>
                      </a:r>
                    </a:p>
                    <a:p>
                      <a:pPr>
                        <a:buNone/>
                      </a:pPr>
                      <a:r>
                        <a:rPr lang="en-US" b="1" dirty="0">
                          <a:latin typeface="Times New Roman" panose="02020603050405020304" pitchFamily="18" charset="0"/>
                          <a:cs typeface="Times New Roman" panose="02020603050405020304" pitchFamily="18" charset="0"/>
                        </a:rPr>
                        <a:t>Week</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b="1" dirty="0">
                          <a:latin typeface="Times New Roman" panose="02020603050405020304" pitchFamily="18" charset="0"/>
                          <a:cs typeface="Times New Roman" panose="02020603050405020304" pitchFamily="18" charset="0"/>
                        </a:rPr>
                        <a:t>Week</a:t>
                      </a:r>
                    </a:p>
                    <a:p>
                      <a:pPr>
                        <a:buNone/>
                      </a:pPr>
                      <a:r>
                        <a:rPr lang="en-US" b="1" dirty="0">
                          <a:latin typeface="Times New Roman" panose="02020603050405020304" pitchFamily="18" charset="0"/>
                          <a:cs typeface="Times New Roman" panose="02020603050405020304" pitchFamily="18" charset="0"/>
                        </a:rPr>
                        <a:t>Number</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b="1" dirty="0">
                          <a:latin typeface="Times New Roman" panose="02020603050405020304" pitchFamily="18" charset="0"/>
                          <a:cs typeface="Times New Roman" panose="02020603050405020304" pitchFamily="18" charset="0"/>
                        </a:rPr>
                        <a:t>Month</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b="1">
                          <a:latin typeface="Times New Roman" panose="02020603050405020304" pitchFamily="18" charset="0"/>
                          <a:cs typeface="Times New Roman" panose="02020603050405020304" pitchFamily="18" charset="0"/>
                        </a:rPr>
                        <a:t>Quarter</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b="1">
                          <a:latin typeface="Times New Roman" panose="02020603050405020304" pitchFamily="18" charset="0"/>
                          <a:cs typeface="Times New Roman" panose="02020603050405020304" pitchFamily="18" charset="0"/>
                        </a:rPr>
                        <a:t>Year</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b="1">
                          <a:latin typeface="Times New Roman" panose="02020603050405020304" pitchFamily="18" charset="0"/>
                          <a:cs typeface="Times New Roman" panose="02020603050405020304" pitchFamily="18" charset="0"/>
                        </a:rPr>
                        <a:t>IsHoliday</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b="1" dirty="0">
                          <a:latin typeface="Times New Roman" panose="02020603050405020304" pitchFamily="18" charset="0"/>
                          <a:cs typeface="Times New Roman" panose="02020603050405020304" pitchFamily="18" charset="0"/>
                        </a:rPr>
                        <a:t>Fiscal</a:t>
                      </a:r>
                    </a:p>
                    <a:p>
                      <a:pPr>
                        <a:buNone/>
                      </a:pPr>
                      <a:r>
                        <a:rPr lang="en-US" b="1" dirty="0">
                          <a:latin typeface="Times New Roman" panose="02020603050405020304" pitchFamily="18" charset="0"/>
                          <a:cs typeface="Times New Roman" panose="02020603050405020304" pitchFamily="18" charset="0"/>
                        </a:rPr>
                        <a:t>Month</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b="1" dirty="0">
                          <a:latin typeface="Times New Roman" panose="02020603050405020304" pitchFamily="18" charset="0"/>
                          <a:cs typeface="Times New Roman" panose="02020603050405020304" pitchFamily="18" charset="0"/>
                        </a:rPr>
                        <a:t>Fiscal</a:t>
                      </a:r>
                    </a:p>
                    <a:p>
                      <a:pPr>
                        <a:buNone/>
                      </a:pPr>
                      <a:r>
                        <a:rPr lang="en-US" b="1" dirty="0">
                          <a:latin typeface="Times New Roman" panose="02020603050405020304" pitchFamily="18" charset="0"/>
                          <a:cs typeface="Times New Roman" panose="02020603050405020304" pitchFamily="18" charset="0"/>
                        </a:rPr>
                        <a:t>Quarter</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70784792"/>
                  </a:ext>
                </a:extLst>
              </a:tr>
              <a:tr h="0">
                <a:tc>
                  <a:txBody>
                    <a:bodyPr/>
                    <a:lstStyle/>
                    <a:p>
                      <a:pPr>
                        <a:buNone/>
                      </a:pPr>
                      <a:r>
                        <a:rPr lang="en-US">
                          <a:latin typeface="Times New Roman" panose="02020603050405020304" pitchFamily="18" charset="0"/>
                          <a:cs typeface="Times New Roman" panose="02020603050405020304" pitchFamily="18" charset="0"/>
                        </a:rPr>
                        <a:t>20240315</a:t>
                      </a:r>
                    </a:p>
                  </a:txBody>
                  <a:tcPr anchor="ctr"/>
                </a:tc>
                <a:tc>
                  <a:txBody>
                    <a:bodyPr/>
                    <a:lstStyle/>
                    <a:p>
                      <a:pPr>
                        <a:buNone/>
                      </a:pPr>
                      <a:r>
                        <a:rPr lang="en-US">
                          <a:latin typeface="Times New Roman" panose="02020603050405020304" pitchFamily="18" charset="0"/>
                          <a:cs typeface="Times New Roman" panose="02020603050405020304" pitchFamily="18" charset="0"/>
                        </a:rPr>
                        <a:t>2024-03-15</a:t>
                      </a:r>
                    </a:p>
                  </a:txBody>
                  <a:tcPr anchor="ctr"/>
                </a:tc>
                <a:tc>
                  <a:txBody>
                    <a:bodyPr/>
                    <a:lstStyle/>
                    <a:p>
                      <a:pPr>
                        <a:buNone/>
                      </a:pPr>
                      <a:r>
                        <a:rPr lang="en-US">
                          <a:latin typeface="Times New Roman" panose="02020603050405020304" pitchFamily="18" charset="0"/>
                          <a:cs typeface="Times New Roman" panose="02020603050405020304" pitchFamily="18" charset="0"/>
                        </a:rPr>
                        <a:t>Friday</a:t>
                      </a:r>
                    </a:p>
                  </a:txBody>
                  <a:tcPr anchor="ctr"/>
                </a:tc>
                <a:tc>
                  <a:txBody>
                    <a:bodyPr/>
                    <a:lstStyle/>
                    <a:p>
                      <a:pPr>
                        <a:buNone/>
                      </a:pPr>
                      <a:r>
                        <a:rPr lang="en-US">
                          <a:latin typeface="Times New Roman" panose="02020603050405020304" pitchFamily="18" charset="0"/>
                          <a:cs typeface="Times New Roman" panose="02020603050405020304" pitchFamily="18" charset="0"/>
                        </a:rPr>
                        <a:t>11</a:t>
                      </a:r>
                    </a:p>
                  </a:txBody>
                  <a:tcPr anchor="ctr"/>
                </a:tc>
                <a:tc>
                  <a:txBody>
                    <a:bodyPr/>
                    <a:lstStyle/>
                    <a:p>
                      <a:pPr>
                        <a:buNone/>
                      </a:pPr>
                      <a:r>
                        <a:rPr lang="en-US" dirty="0">
                          <a:latin typeface="Times New Roman" panose="02020603050405020304" pitchFamily="18" charset="0"/>
                          <a:cs typeface="Times New Roman" panose="02020603050405020304" pitchFamily="18" charset="0"/>
                        </a:rPr>
                        <a:t>March</a:t>
                      </a:r>
                    </a:p>
                  </a:txBody>
                  <a:tcPr anchor="ctr"/>
                </a:tc>
                <a:tc>
                  <a:txBody>
                    <a:bodyPr/>
                    <a:lstStyle/>
                    <a:p>
                      <a:pPr>
                        <a:buNone/>
                      </a:pPr>
                      <a:r>
                        <a:rPr lang="en-US">
                          <a:latin typeface="Times New Roman" panose="02020603050405020304" pitchFamily="18" charset="0"/>
                          <a:cs typeface="Times New Roman" panose="02020603050405020304" pitchFamily="18" charset="0"/>
                        </a:rPr>
                        <a:t>Q1</a:t>
                      </a:r>
                    </a:p>
                  </a:txBody>
                  <a:tcPr anchor="ctr"/>
                </a:tc>
                <a:tc>
                  <a:txBody>
                    <a:bodyPr/>
                    <a:lstStyle/>
                    <a:p>
                      <a:pPr>
                        <a:buNone/>
                      </a:pPr>
                      <a:r>
                        <a:rPr lang="en-US">
                          <a:latin typeface="Times New Roman" panose="02020603050405020304" pitchFamily="18" charset="0"/>
                          <a:cs typeface="Times New Roman" panose="02020603050405020304" pitchFamily="18" charset="0"/>
                        </a:rPr>
                        <a:t>2024</a:t>
                      </a:r>
                    </a:p>
                  </a:txBody>
                  <a:tcPr anchor="ctr"/>
                </a:tc>
                <a:tc>
                  <a:txBody>
                    <a:bodyPr/>
                    <a:lstStyle/>
                    <a:p>
                      <a:pPr>
                        <a:buNone/>
                      </a:pPr>
                      <a:r>
                        <a:rPr lang="en-US">
                          <a:latin typeface="Times New Roman" panose="02020603050405020304" pitchFamily="18" charset="0"/>
                          <a:cs typeface="Times New Roman" panose="02020603050405020304" pitchFamily="18" charset="0"/>
                        </a:rPr>
                        <a:t>N</a:t>
                      </a:r>
                    </a:p>
                  </a:txBody>
                  <a:tcPr anchor="ctr"/>
                </a:tc>
                <a:tc>
                  <a:txBody>
                    <a:bodyPr/>
                    <a:lstStyle/>
                    <a:p>
                      <a:pPr>
                        <a:buNone/>
                      </a:pPr>
                      <a:r>
                        <a:rPr lang="en-US">
                          <a:latin typeface="Times New Roman" panose="02020603050405020304" pitchFamily="18" charset="0"/>
                          <a:cs typeface="Times New Roman" panose="02020603050405020304" pitchFamily="18" charset="0"/>
                        </a:rPr>
                        <a:t>12</a:t>
                      </a:r>
                    </a:p>
                  </a:txBody>
                  <a:tcPr anchor="ctr"/>
                </a:tc>
                <a:tc>
                  <a:txBody>
                    <a:bodyPr/>
                    <a:lstStyle/>
                    <a:p>
                      <a:pPr>
                        <a:buNone/>
                      </a:pPr>
                      <a:r>
                        <a:rPr lang="en-US">
                          <a:latin typeface="Times New Roman" panose="02020603050405020304" pitchFamily="18" charset="0"/>
                          <a:cs typeface="Times New Roman" panose="02020603050405020304" pitchFamily="18" charset="0"/>
                        </a:rPr>
                        <a:t>FQ1</a:t>
                      </a:r>
                    </a:p>
                  </a:txBody>
                  <a:tcPr anchor="ctr"/>
                </a:tc>
                <a:extLst>
                  <a:ext uri="{0D108BD9-81ED-4DB2-BD59-A6C34878D82A}">
                    <a16:rowId xmlns:a16="http://schemas.microsoft.com/office/drawing/2014/main" val="68339707"/>
                  </a:ext>
                </a:extLst>
              </a:tr>
              <a:tr h="0">
                <a:tc>
                  <a:txBody>
                    <a:bodyPr/>
                    <a:lstStyle/>
                    <a:p>
                      <a:pPr>
                        <a:buNone/>
                      </a:pPr>
                      <a:r>
                        <a:rPr lang="en-US">
                          <a:latin typeface="Times New Roman" panose="02020603050405020304" pitchFamily="18" charset="0"/>
                          <a:cs typeface="Times New Roman" panose="02020603050405020304" pitchFamily="18" charset="0"/>
                        </a:rPr>
                        <a:t>20240316</a:t>
                      </a:r>
                    </a:p>
                  </a:txBody>
                  <a:tcPr anchor="ctr"/>
                </a:tc>
                <a:tc>
                  <a:txBody>
                    <a:bodyPr/>
                    <a:lstStyle/>
                    <a:p>
                      <a:pPr>
                        <a:buNone/>
                      </a:pPr>
                      <a:r>
                        <a:rPr lang="en-US">
                          <a:latin typeface="Times New Roman" panose="02020603050405020304" pitchFamily="18" charset="0"/>
                          <a:cs typeface="Times New Roman" panose="02020603050405020304" pitchFamily="18" charset="0"/>
                        </a:rPr>
                        <a:t>2024-03-16</a:t>
                      </a:r>
                    </a:p>
                  </a:txBody>
                  <a:tcPr anchor="ctr"/>
                </a:tc>
                <a:tc>
                  <a:txBody>
                    <a:bodyPr/>
                    <a:lstStyle/>
                    <a:p>
                      <a:pPr>
                        <a:buNone/>
                      </a:pPr>
                      <a:r>
                        <a:rPr lang="en-US">
                          <a:latin typeface="Times New Roman" panose="02020603050405020304" pitchFamily="18" charset="0"/>
                          <a:cs typeface="Times New Roman" panose="02020603050405020304" pitchFamily="18" charset="0"/>
                        </a:rPr>
                        <a:t>Saturday</a:t>
                      </a:r>
                    </a:p>
                  </a:txBody>
                  <a:tcPr anchor="ctr"/>
                </a:tc>
                <a:tc>
                  <a:txBody>
                    <a:bodyPr/>
                    <a:lstStyle/>
                    <a:p>
                      <a:pPr>
                        <a:buNone/>
                      </a:pPr>
                      <a:r>
                        <a:rPr lang="en-US">
                          <a:latin typeface="Times New Roman" panose="02020603050405020304" pitchFamily="18" charset="0"/>
                          <a:cs typeface="Times New Roman" panose="02020603050405020304" pitchFamily="18" charset="0"/>
                        </a:rPr>
                        <a:t>11</a:t>
                      </a:r>
                    </a:p>
                  </a:txBody>
                  <a:tcPr anchor="ctr"/>
                </a:tc>
                <a:tc>
                  <a:txBody>
                    <a:bodyPr/>
                    <a:lstStyle/>
                    <a:p>
                      <a:pPr>
                        <a:buNone/>
                      </a:pPr>
                      <a:r>
                        <a:rPr lang="en-US">
                          <a:latin typeface="Times New Roman" panose="02020603050405020304" pitchFamily="18" charset="0"/>
                          <a:cs typeface="Times New Roman" panose="02020603050405020304" pitchFamily="18" charset="0"/>
                        </a:rPr>
                        <a:t>March</a:t>
                      </a:r>
                    </a:p>
                  </a:txBody>
                  <a:tcPr anchor="ctr"/>
                </a:tc>
                <a:tc>
                  <a:txBody>
                    <a:bodyPr/>
                    <a:lstStyle/>
                    <a:p>
                      <a:pPr>
                        <a:buNone/>
                      </a:pPr>
                      <a:r>
                        <a:rPr lang="en-US">
                          <a:latin typeface="Times New Roman" panose="02020603050405020304" pitchFamily="18" charset="0"/>
                          <a:cs typeface="Times New Roman" panose="02020603050405020304" pitchFamily="18" charset="0"/>
                        </a:rPr>
                        <a:t>Q1</a:t>
                      </a:r>
                    </a:p>
                  </a:txBody>
                  <a:tcPr anchor="ctr"/>
                </a:tc>
                <a:tc>
                  <a:txBody>
                    <a:bodyPr/>
                    <a:lstStyle/>
                    <a:p>
                      <a:pPr>
                        <a:buNone/>
                      </a:pPr>
                      <a:r>
                        <a:rPr lang="en-US">
                          <a:latin typeface="Times New Roman" panose="02020603050405020304" pitchFamily="18" charset="0"/>
                          <a:cs typeface="Times New Roman" panose="02020603050405020304" pitchFamily="18" charset="0"/>
                        </a:rPr>
                        <a:t>2024</a:t>
                      </a:r>
                    </a:p>
                  </a:txBody>
                  <a:tcPr anchor="ctr"/>
                </a:tc>
                <a:tc>
                  <a:txBody>
                    <a:bodyPr/>
                    <a:lstStyle/>
                    <a:p>
                      <a:pPr>
                        <a:buNone/>
                      </a:pPr>
                      <a:r>
                        <a:rPr lang="en-US">
                          <a:latin typeface="Times New Roman" panose="02020603050405020304" pitchFamily="18" charset="0"/>
                          <a:cs typeface="Times New Roman" panose="02020603050405020304" pitchFamily="18" charset="0"/>
                        </a:rPr>
                        <a:t>N</a:t>
                      </a:r>
                    </a:p>
                  </a:txBody>
                  <a:tcPr anchor="ctr"/>
                </a:tc>
                <a:tc>
                  <a:txBody>
                    <a:bodyPr/>
                    <a:lstStyle/>
                    <a:p>
                      <a:pPr>
                        <a:buNone/>
                      </a:pPr>
                      <a:r>
                        <a:rPr lang="en-US">
                          <a:latin typeface="Times New Roman" panose="02020603050405020304" pitchFamily="18" charset="0"/>
                          <a:cs typeface="Times New Roman" panose="02020603050405020304" pitchFamily="18" charset="0"/>
                        </a:rPr>
                        <a:t>12</a:t>
                      </a:r>
                    </a:p>
                  </a:txBody>
                  <a:tcPr anchor="ctr"/>
                </a:tc>
                <a:tc>
                  <a:txBody>
                    <a:bodyPr/>
                    <a:lstStyle/>
                    <a:p>
                      <a:pPr>
                        <a:buNone/>
                      </a:pPr>
                      <a:r>
                        <a:rPr lang="en-US">
                          <a:latin typeface="Times New Roman" panose="02020603050405020304" pitchFamily="18" charset="0"/>
                          <a:cs typeface="Times New Roman" panose="02020603050405020304" pitchFamily="18" charset="0"/>
                        </a:rPr>
                        <a:t>FQ1</a:t>
                      </a:r>
                    </a:p>
                  </a:txBody>
                  <a:tcPr anchor="ctr"/>
                </a:tc>
                <a:extLst>
                  <a:ext uri="{0D108BD9-81ED-4DB2-BD59-A6C34878D82A}">
                    <a16:rowId xmlns:a16="http://schemas.microsoft.com/office/drawing/2014/main" val="2301122583"/>
                  </a:ext>
                </a:extLst>
              </a:tr>
              <a:tr h="0">
                <a:tc>
                  <a:txBody>
                    <a:bodyPr/>
                    <a:lstStyle/>
                    <a:p>
                      <a:pPr>
                        <a:buNone/>
                      </a:pPr>
                      <a:r>
                        <a:rPr lang="en-US">
                          <a:latin typeface="Times New Roman" panose="02020603050405020304" pitchFamily="18" charset="0"/>
                          <a:cs typeface="Times New Roman" panose="02020603050405020304" pitchFamily="18" charset="0"/>
                        </a:rPr>
                        <a:t>20240317</a:t>
                      </a:r>
                    </a:p>
                  </a:txBody>
                  <a:tcPr anchor="ctr"/>
                </a:tc>
                <a:tc>
                  <a:txBody>
                    <a:bodyPr/>
                    <a:lstStyle/>
                    <a:p>
                      <a:pPr>
                        <a:buNone/>
                      </a:pPr>
                      <a:r>
                        <a:rPr lang="en-US">
                          <a:latin typeface="Times New Roman" panose="02020603050405020304" pitchFamily="18" charset="0"/>
                          <a:cs typeface="Times New Roman" panose="02020603050405020304" pitchFamily="18" charset="0"/>
                        </a:rPr>
                        <a:t>2024-03-17</a:t>
                      </a:r>
                    </a:p>
                  </a:txBody>
                  <a:tcPr anchor="ctr"/>
                </a:tc>
                <a:tc>
                  <a:txBody>
                    <a:bodyPr/>
                    <a:lstStyle/>
                    <a:p>
                      <a:pPr>
                        <a:buNone/>
                      </a:pPr>
                      <a:r>
                        <a:rPr lang="en-US">
                          <a:latin typeface="Times New Roman" panose="02020603050405020304" pitchFamily="18" charset="0"/>
                          <a:cs typeface="Times New Roman" panose="02020603050405020304" pitchFamily="18" charset="0"/>
                        </a:rPr>
                        <a:t>Sunday</a:t>
                      </a:r>
                    </a:p>
                  </a:txBody>
                  <a:tcPr anchor="ctr"/>
                </a:tc>
                <a:tc>
                  <a:txBody>
                    <a:bodyPr/>
                    <a:lstStyle/>
                    <a:p>
                      <a:pPr>
                        <a:buNone/>
                      </a:pPr>
                      <a:r>
                        <a:rPr lang="en-US">
                          <a:latin typeface="Times New Roman" panose="02020603050405020304" pitchFamily="18" charset="0"/>
                          <a:cs typeface="Times New Roman" panose="02020603050405020304" pitchFamily="18" charset="0"/>
                        </a:rPr>
                        <a:t>11</a:t>
                      </a:r>
                    </a:p>
                  </a:txBody>
                  <a:tcPr anchor="ctr"/>
                </a:tc>
                <a:tc>
                  <a:txBody>
                    <a:bodyPr/>
                    <a:lstStyle/>
                    <a:p>
                      <a:pPr>
                        <a:buNone/>
                      </a:pPr>
                      <a:r>
                        <a:rPr lang="en-US">
                          <a:latin typeface="Times New Roman" panose="02020603050405020304" pitchFamily="18" charset="0"/>
                          <a:cs typeface="Times New Roman" panose="02020603050405020304" pitchFamily="18" charset="0"/>
                        </a:rPr>
                        <a:t>March</a:t>
                      </a:r>
                    </a:p>
                  </a:txBody>
                  <a:tcPr anchor="ctr"/>
                </a:tc>
                <a:tc>
                  <a:txBody>
                    <a:bodyPr/>
                    <a:lstStyle/>
                    <a:p>
                      <a:pPr>
                        <a:buNone/>
                      </a:pPr>
                      <a:r>
                        <a:rPr lang="en-US">
                          <a:latin typeface="Times New Roman" panose="02020603050405020304" pitchFamily="18" charset="0"/>
                          <a:cs typeface="Times New Roman" panose="02020603050405020304" pitchFamily="18" charset="0"/>
                        </a:rPr>
                        <a:t>Q1</a:t>
                      </a:r>
                    </a:p>
                  </a:txBody>
                  <a:tcPr anchor="ctr"/>
                </a:tc>
                <a:tc>
                  <a:txBody>
                    <a:bodyPr/>
                    <a:lstStyle/>
                    <a:p>
                      <a:pPr>
                        <a:buNone/>
                      </a:pPr>
                      <a:r>
                        <a:rPr lang="en-US">
                          <a:latin typeface="Times New Roman" panose="02020603050405020304" pitchFamily="18" charset="0"/>
                          <a:cs typeface="Times New Roman" panose="02020603050405020304" pitchFamily="18" charset="0"/>
                        </a:rPr>
                        <a:t>2024</a:t>
                      </a:r>
                    </a:p>
                  </a:txBody>
                  <a:tcPr anchor="ctr"/>
                </a:tc>
                <a:tc>
                  <a:txBody>
                    <a:bodyPr/>
                    <a:lstStyle/>
                    <a:p>
                      <a:pPr>
                        <a:buNone/>
                      </a:pPr>
                      <a:r>
                        <a:rPr lang="en-US">
                          <a:latin typeface="Times New Roman" panose="02020603050405020304" pitchFamily="18" charset="0"/>
                          <a:cs typeface="Times New Roman" panose="02020603050405020304" pitchFamily="18" charset="0"/>
                        </a:rPr>
                        <a:t>Y (Festival)</a:t>
                      </a:r>
                    </a:p>
                  </a:txBody>
                  <a:tcPr anchor="ctr"/>
                </a:tc>
                <a:tc>
                  <a:txBody>
                    <a:bodyPr/>
                    <a:lstStyle/>
                    <a:p>
                      <a:pPr>
                        <a:buNone/>
                      </a:pPr>
                      <a:r>
                        <a:rPr lang="en-US">
                          <a:latin typeface="Times New Roman" panose="02020603050405020304" pitchFamily="18" charset="0"/>
                          <a:cs typeface="Times New Roman" panose="02020603050405020304" pitchFamily="18" charset="0"/>
                        </a:rPr>
                        <a:t>12</a:t>
                      </a:r>
                    </a:p>
                  </a:txBody>
                  <a:tcPr anchor="ctr"/>
                </a:tc>
                <a:tc>
                  <a:txBody>
                    <a:bodyPr/>
                    <a:lstStyle/>
                    <a:p>
                      <a:pPr>
                        <a:buNone/>
                      </a:pPr>
                      <a:r>
                        <a:rPr lang="en-US">
                          <a:latin typeface="Times New Roman" panose="02020603050405020304" pitchFamily="18" charset="0"/>
                          <a:cs typeface="Times New Roman" panose="02020603050405020304" pitchFamily="18" charset="0"/>
                        </a:rPr>
                        <a:t>FQ1</a:t>
                      </a:r>
                    </a:p>
                  </a:txBody>
                  <a:tcPr anchor="ctr"/>
                </a:tc>
                <a:extLst>
                  <a:ext uri="{0D108BD9-81ED-4DB2-BD59-A6C34878D82A}">
                    <a16:rowId xmlns:a16="http://schemas.microsoft.com/office/drawing/2014/main" val="1645197025"/>
                  </a:ext>
                </a:extLst>
              </a:tr>
              <a:tr h="0">
                <a:tc>
                  <a:txBody>
                    <a:bodyPr/>
                    <a:lstStyle/>
                    <a:p>
                      <a:pPr>
                        <a:buNone/>
                      </a:pPr>
                      <a:r>
                        <a:rPr lang="en-US">
                          <a:latin typeface="Times New Roman" panose="02020603050405020304" pitchFamily="18" charset="0"/>
                          <a:cs typeface="Times New Roman" panose="02020603050405020304" pitchFamily="18" charset="0"/>
                        </a:rPr>
                        <a:t>20240630</a:t>
                      </a:r>
                    </a:p>
                  </a:txBody>
                  <a:tcPr anchor="ctr"/>
                </a:tc>
                <a:tc>
                  <a:txBody>
                    <a:bodyPr/>
                    <a:lstStyle/>
                    <a:p>
                      <a:pPr>
                        <a:buNone/>
                      </a:pPr>
                      <a:r>
                        <a:rPr lang="en-US">
                          <a:latin typeface="Times New Roman" panose="02020603050405020304" pitchFamily="18" charset="0"/>
                          <a:cs typeface="Times New Roman" panose="02020603050405020304" pitchFamily="18" charset="0"/>
                        </a:rPr>
                        <a:t>2024-06-30</a:t>
                      </a:r>
                    </a:p>
                  </a:txBody>
                  <a:tcPr anchor="ctr"/>
                </a:tc>
                <a:tc>
                  <a:txBody>
                    <a:bodyPr/>
                    <a:lstStyle/>
                    <a:p>
                      <a:pPr>
                        <a:buNone/>
                      </a:pPr>
                      <a:r>
                        <a:rPr lang="en-US">
                          <a:latin typeface="Times New Roman" panose="02020603050405020304" pitchFamily="18" charset="0"/>
                          <a:cs typeface="Times New Roman" panose="02020603050405020304" pitchFamily="18" charset="0"/>
                        </a:rPr>
                        <a:t>Sunday</a:t>
                      </a:r>
                    </a:p>
                  </a:txBody>
                  <a:tcPr anchor="ctr"/>
                </a:tc>
                <a:tc>
                  <a:txBody>
                    <a:bodyPr/>
                    <a:lstStyle/>
                    <a:p>
                      <a:pPr>
                        <a:buNone/>
                      </a:pPr>
                      <a:r>
                        <a:rPr lang="en-US">
                          <a:latin typeface="Times New Roman" panose="02020603050405020304" pitchFamily="18" charset="0"/>
                          <a:cs typeface="Times New Roman" panose="02020603050405020304" pitchFamily="18" charset="0"/>
                        </a:rPr>
                        <a:t>26</a:t>
                      </a:r>
                    </a:p>
                  </a:txBody>
                  <a:tcPr anchor="ctr"/>
                </a:tc>
                <a:tc>
                  <a:txBody>
                    <a:bodyPr/>
                    <a:lstStyle/>
                    <a:p>
                      <a:pPr>
                        <a:buNone/>
                      </a:pPr>
                      <a:r>
                        <a:rPr lang="en-US">
                          <a:latin typeface="Times New Roman" panose="02020603050405020304" pitchFamily="18" charset="0"/>
                          <a:cs typeface="Times New Roman" panose="02020603050405020304" pitchFamily="18" charset="0"/>
                        </a:rPr>
                        <a:t>June</a:t>
                      </a:r>
                    </a:p>
                  </a:txBody>
                  <a:tcPr anchor="ctr"/>
                </a:tc>
                <a:tc>
                  <a:txBody>
                    <a:bodyPr/>
                    <a:lstStyle/>
                    <a:p>
                      <a:pPr>
                        <a:buNone/>
                      </a:pPr>
                      <a:r>
                        <a:rPr lang="en-US">
                          <a:latin typeface="Times New Roman" panose="02020603050405020304" pitchFamily="18" charset="0"/>
                          <a:cs typeface="Times New Roman" panose="02020603050405020304" pitchFamily="18" charset="0"/>
                        </a:rPr>
                        <a:t>Q2</a:t>
                      </a:r>
                    </a:p>
                  </a:txBody>
                  <a:tcPr anchor="ctr"/>
                </a:tc>
                <a:tc>
                  <a:txBody>
                    <a:bodyPr/>
                    <a:lstStyle/>
                    <a:p>
                      <a:pPr>
                        <a:buNone/>
                      </a:pPr>
                      <a:r>
                        <a:rPr lang="en-US">
                          <a:latin typeface="Times New Roman" panose="02020603050405020304" pitchFamily="18" charset="0"/>
                          <a:cs typeface="Times New Roman" panose="02020603050405020304" pitchFamily="18" charset="0"/>
                        </a:rPr>
                        <a:t>2024</a:t>
                      </a:r>
                    </a:p>
                  </a:txBody>
                  <a:tcPr anchor="ctr"/>
                </a:tc>
                <a:tc>
                  <a:txBody>
                    <a:bodyPr/>
                    <a:lstStyle/>
                    <a:p>
                      <a:pPr>
                        <a:buNone/>
                      </a:pPr>
                      <a:r>
                        <a:rPr lang="en-US">
                          <a:latin typeface="Times New Roman" panose="02020603050405020304" pitchFamily="18" charset="0"/>
                          <a:cs typeface="Times New Roman" panose="02020603050405020304" pitchFamily="18" charset="0"/>
                        </a:rPr>
                        <a:t>N</a:t>
                      </a:r>
                    </a:p>
                  </a:txBody>
                  <a:tcPr anchor="ct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8549977"/>
                  </a:ext>
                </a:extLst>
              </a:tr>
            </a:tbl>
          </a:graphicData>
        </a:graphic>
      </p:graphicFrame>
      <p:sp>
        <p:nvSpPr>
          <p:cNvPr id="6" name="TextBox 5">
            <a:extLst>
              <a:ext uri="{FF2B5EF4-FFF2-40B4-BE49-F238E27FC236}">
                <a16:creationId xmlns:a16="http://schemas.microsoft.com/office/drawing/2014/main" id="{6E172E3B-05AC-FAA2-3187-48B9D8831982}"/>
              </a:ext>
            </a:extLst>
          </p:cNvPr>
          <p:cNvSpPr txBox="1"/>
          <p:nvPr/>
        </p:nvSpPr>
        <p:spPr>
          <a:xfrm>
            <a:off x="685950" y="4630300"/>
            <a:ext cx="11319240" cy="12890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Date Dimension provides detailed information for each calendar date, such as day, month, quarter, and year.</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connects to fact tables using the </a:t>
            </a:r>
            <a:r>
              <a:rPr lang="en-US" dirty="0" err="1">
                <a:latin typeface="Times New Roman" panose="02020603050405020304" pitchFamily="18" charset="0"/>
                <a:cs typeface="Times New Roman" panose="02020603050405020304" pitchFamily="18" charset="0"/>
              </a:rPr>
              <a:t>DateKey</a:t>
            </a:r>
            <a:r>
              <a:rPr lang="en-US" dirty="0">
                <a:latin typeface="Times New Roman" panose="02020603050405020304" pitchFamily="18" charset="0"/>
                <a:cs typeface="Times New Roman" panose="02020603050405020304" pitchFamily="18" charset="0"/>
              </a:rPr>
              <a:t>, allowing time-based analysis like monthly or yearly trends.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helps ensure consistent date logic across reports and supports drill-down and roll-up in analytics.</a:t>
            </a:r>
          </a:p>
        </p:txBody>
      </p:sp>
    </p:spTree>
    <p:extLst>
      <p:ext uri="{BB962C8B-B14F-4D97-AF65-F5344CB8AC3E}">
        <p14:creationId xmlns:p14="http://schemas.microsoft.com/office/powerpoint/2010/main" val="533572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5DBB10-2080-5746-8D95-B85AAFEC29E6}"/>
              </a:ext>
            </a:extLst>
          </p:cNvPr>
          <p:cNvSpPr>
            <a:spLocks noGrp="1"/>
          </p:cNvSpPr>
          <p:nvPr>
            <p:ph type="title"/>
          </p:nvPr>
        </p:nvSpPr>
        <p:spPr>
          <a:xfrm>
            <a:off x="2042205" y="2311375"/>
            <a:ext cx="7711756" cy="732869"/>
          </a:xfrm>
        </p:spPr>
        <p:txBody>
          <a:bodyPr>
            <a:normAutofit/>
          </a:bodyPr>
          <a:lstStyle/>
          <a:p>
            <a:pPr algn="l"/>
            <a:r>
              <a:rPr lang="en-US" dirty="0">
                <a:latin typeface="Times New Roman" panose="02020603050405020304" pitchFamily="18" charset="0"/>
                <a:cs typeface="Times New Roman" panose="02020603050405020304" pitchFamily="18" charset="0"/>
              </a:rPr>
              <a:t>Slowly changing Dimensions</a:t>
            </a:r>
          </a:p>
        </p:txBody>
      </p:sp>
    </p:spTree>
    <p:extLst>
      <p:ext uri="{BB962C8B-B14F-4D97-AF65-F5344CB8AC3E}">
        <p14:creationId xmlns:p14="http://schemas.microsoft.com/office/powerpoint/2010/main" val="1445242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26373-C1C0-3151-F1A9-19E200BD4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9E485-838F-FDA1-2CF5-AEDD28BC9BB2}"/>
              </a:ext>
            </a:extLst>
          </p:cNvPr>
          <p:cNvSpPr>
            <a:spLocks noGrp="1"/>
          </p:cNvSpPr>
          <p:nvPr>
            <p:ph type="title"/>
          </p:nvPr>
        </p:nvSpPr>
        <p:spPr>
          <a:xfrm>
            <a:off x="643570" y="569181"/>
            <a:ext cx="10904859" cy="440488"/>
          </a:xfrm>
        </p:spPr>
        <p:txBody>
          <a:bodyPr/>
          <a:lstStyle/>
          <a:p>
            <a:pPr>
              <a:spcAft>
                <a:spcPts val="3000"/>
              </a:spcAft>
            </a:pPr>
            <a:r>
              <a:rPr lang="en-US" sz="2800" dirty="0">
                <a:latin typeface="Times New Roman" panose="02020603050405020304" pitchFamily="18" charset="0"/>
                <a:cs typeface="Times New Roman" panose="02020603050405020304" pitchFamily="18" charset="0"/>
              </a:rPr>
              <a:t>Introduction to SCD</a:t>
            </a:r>
          </a:p>
        </p:txBody>
      </p:sp>
      <p:sp>
        <p:nvSpPr>
          <p:cNvPr id="8" name="TextBox 7">
            <a:extLst>
              <a:ext uri="{FF2B5EF4-FFF2-40B4-BE49-F238E27FC236}">
                <a16:creationId xmlns:a16="http://schemas.microsoft.com/office/drawing/2014/main" id="{F5E6F311-0693-B6F9-90E6-760A1E3AE11F}"/>
              </a:ext>
            </a:extLst>
          </p:cNvPr>
          <p:cNvSpPr txBox="1"/>
          <p:nvPr/>
        </p:nvSpPr>
        <p:spPr>
          <a:xfrm>
            <a:off x="94725" y="1290221"/>
            <a:ext cx="5488553" cy="2535566"/>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 data warehouse, a dimension may change slowly (e.g., a customer moves, product category changes). SCDs provide methods to handle these changes for analysis and historical tracking.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Choosing the right SCD type affects how you can track history and support reporting.</a:t>
            </a:r>
          </a:p>
        </p:txBody>
      </p:sp>
      <p:sp>
        <p:nvSpPr>
          <p:cNvPr id="10" name="TextBox 9">
            <a:extLst>
              <a:ext uri="{FF2B5EF4-FFF2-40B4-BE49-F238E27FC236}">
                <a16:creationId xmlns:a16="http://schemas.microsoft.com/office/drawing/2014/main" id="{F076D0C8-44B6-4B32-D1D7-170B18F00B1A}"/>
              </a:ext>
            </a:extLst>
          </p:cNvPr>
          <p:cNvSpPr txBox="1"/>
          <p:nvPr/>
        </p:nvSpPr>
        <p:spPr>
          <a:xfrm>
            <a:off x="114097" y="4363454"/>
            <a:ext cx="11868796" cy="1704569"/>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Why SCDs Matter</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Without handling changes, reports may show </a:t>
            </a:r>
            <a:r>
              <a:rPr lang="en-US" b="1" dirty="0">
                <a:latin typeface="Times New Roman" panose="02020603050405020304" pitchFamily="18" charset="0"/>
                <a:cs typeface="Times New Roman" panose="02020603050405020304" pitchFamily="18" charset="0"/>
              </a:rPr>
              <a:t>incorrect historic context</a:t>
            </a:r>
            <a:r>
              <a:rPr lang="en-US" dirty="0">
                <a:latin typeface="Times New Roman" panose="02020603050405020304" pitchFamily="18" charset="0"/>
                <a:cs typeface="Times New Roman" panose="02020603050405020304" pitchFamily="18" charset="0"/>
              </a:rPr>
              <a:t> (e.g., a customer’s old region lost). </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SCD methods help ensure facts are joined to the correct version of dimension attributes. They improve decision-making, analytics, and maintain data integrity over time.</a:t>
            </a:r>
          </a:p>
        </p:txBody>
      </p:sp>
      <p:pic>
        <p:nvPicPr>
          <p:cNvPr id="12" name="Picture 11">
            <a:extLst>
              <a:ext uri="{FF2B5EF4-FFF2-40B4-BE49-F238E27FC236}">
                <a16:creationId xmlns:a16="http://schemas.microsoft.com/office/drawing/2014/main" id="{715FDF30-7CED-4296-577F-6B36AF7594E2}"/>
              </a:ext>
            </a:extLst>
          </p:cNvPr>
          <p:cNvPicPr>
            <a:picLocks noChangeAspect="1"/>
          </p:cNvPicPr>
          <p:nvPr/>
        </p:nvPicPr>
        <p:blipFill>
          <a:blip r:embed="rId2"/>
          <a:stretch>
            <a:fillRect/>
          </a:stretch>
        </p:blipFill>
        <p:spPr>
          <a:xfrm>
            <a:off x="5816291" y="789977"/>
            <a:ext cx="5785047" cy="3675697"/>
          </a:xfrm>
          <a:prstGeom prst="rect">
            <a:avLst/>
          </a:prstGeom>
        </p:spPr>
      </p:pic>
    </p:spTree>
    <p:extLst>
      <p:ext uri="{BB962C8B-B14F-4D97-AF65-F5344CB8AC3E}">
        <p14:creationId xmlns:p14="http://schemas.microsoft.com/office/powerpoint/2010/main" val="2329263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5EC93-122A-1536-5E03-780271E782A7}"/>
              </a:ext>
            </a:extLst>
          </p:cNvPr>
          <p:cNvSpPr>
            <a:spLocks noGrp="1"/>
          </p:cNvSpPr>
          <p:nvPr>
            <p:ph type="title"/>
          </p:nvPr>
        </p:nvSpPr>
        <p:spPr>
          <a:xfrm>
            <a:off x="546148" y="539800"/>
            <a:ext cx="10807652" cy="440488"/>
          </a:xfrm>
        </p:spPr>
        <p:txBody>
          <a:bodyPr>
            <a:noAutofit/>
          </a:bodyPr>
          <a:lstStyle/>
          <a:p>
            <a:r>
              <a:rPr lang="en-US" sz="2800" dirty="0">
                <a:latin typeface="Times New Roman" panose="02020603050405020304" pitchFamily="18" charset="0"/>
                <a:cs typeface="Times New Roman" panose="02020603050405020304" pitchFamily="18" charset="0"/>
              </a:rPr>
              <a:t>SCD Type 0 – Fixed / No Change</a:t>
            </a:r>
          </a:p>
        </p:txBody>
      </p:sp>
      <p:graphicFrame>
        <p:nvGraphicFramePr>
          <p:cNvPr id="10" name="Table 9">
            <a:extLst>
              <a:ext uri="{FF2B5EF4-FFF2-40B4-BE49-F238E27FC236}">
                <a16:creationId xmlns:a16="http://schemas.microsoft.com/office/drawing/2014/main" id="{D9F919DA-BC65-0200-4799-1D7BB8A7E637}"/>
              </a:ext>
            </a:extLst>
          </p:cNvPr>
          <p:cNvGraphicFramePr>
            <a:graphicFrameLocks noGrp="1"/>
          </p:cNvGraphicFramePr>
          <p:nvPr/>
        </p:nvGraphicFramePr>
        <p:xfrm>
          <a:off x="546148" y="2697480"/>
          <a:ext cx="11367975" cy="731520"/>
        </p:xfrm>
        <a:graphic>
          <a:graphicData uri="http://schemas.openxmlformats.org/drawingml/2006/table">
            <a:tbl>
              <a:tblPr>
                <a:tableStyleId>{3C2FFA5D-87B4-456A-9821-1D502468CF0F}</a:tableStyleId>
              </a:tblPr>
              <a:tblGrid>
                <a:gridCol w="2273595">
                  <a:extLst>
                    <a:ext uri="{9D8B030D-6E8A-4147-A177-3AD203B41FA5}">
                      <a16:colId xmlns:a16="http://schemas.microsoft.com/office/drawing/2014/main" val="3342941769"/>
                    </a:ext>
                  </a:extLst>
                </a:gridCol>
                <a:gridCol w="2273595">
                  <a:extLst>
                    <a:ext uri="{9D8B030D-6E8A-4147-A177-3AD203B41FA5}">
                      <a16:colId xmlns:a16="http://schemas.microsoft.com/office/drawing/2014/main" val="731221458"/>
                    </a:ext>
                  </a:extLst>
                </a:gridCol>
                <a:gridCol w="2273595">
                  <a:extLst>
                    <a:ext uri="{9D8B030D-6E8A-4147-A177-3AD203B41FA5}">
                      <a16:colId xmlns:a16="http://schemas.microsoft.com/office/drawing/2014/main" val="3989067513"/>
                    </a:ext>
                  </a:extLst>
                </a:gridCol>
                <a:gridCol w="2273595">
                  <a:extLst>
                    <a:ext uri="{9D8B030D-6E8A-4147-A177-3AD203B41FA5}">
                      <a16:colId xmlns:a16="http://schemas.microsoft.com/office/drawing/2014/main" val="1960801211"/>
                    </a:ext>
                  </a:extLst>
                </a:gridCol>
                <a:gridCol w="2273595">
                  <a:extLst>
                    <a:ext uri="{9D8B030D-6E8A-4147-A177-3AD203B41FA5}">
                      <a16:colId xmlns:a16="http://schemas.microsoft.com/office/drawing/2014/main" val="3835879244"/>
                    </a:ext>
                  </a:extLst>
                </a:gridCol>
              </a:tblGrid>
              <a:tr h="0">
                <a:tc>
                  <a:txBody>
                    <a:bodyPr/>
                    <a:lstStyle/>
                    <a:p>
                      <a:pPr>
                        <a:buNone/>
                      </a:pPr>
                      <a:r>
                        <a:rPr lang="en-US" b="1"/>
                        <a:t>CustomerID</a:t>
                      </a:r>
                    </a:p>
                  </a:txBody>
                  <a:tcPr anchor="ctr"/>
                </a:tc>
                <a:tc>
                  <a:txBody>
                    <a:bodyPr/>
                    <a:lstStyle/>
                    <a:p>
                      <a:pPr>
                        <a:buNone/>
                      </a:pPr>
                      <a:r>
                        <a:rPr lang="en-US" b="1"/>
                        <a:t>Name</a:t>
                      </a:r>
                    </a:p>
                  </a:txBody>
                  <a:tcPr anchor="ctr"/>
                </a:tc>
                <a:tc>
                  <a:txBody>
                    <a:bodyPr/>
                    <a:lstStyle/>
                    <a:p>
                      <a:pPr>
                        <a:buNone/>
                      </a:pPr>
                      <a:r>
                        <a:rPr lang="en-US" b="1"/>
                        <a:t>DOB</a:t>
                      </a:r>
                    </a:p>
                  </a:txBody>
                  <a:tcPr anchor="ctr"/>
                </a:tc>
                <a:tc>
                  <a:txBody>
                    <a:bodyPr/>
                    <a:lstStyle/>
                    <a:p>
                      <a:pPr>
                        <a:buNone/>
                      </a:pPr>
                      <a:r>
                        <a:rPr lang="en-US" b="1"/>
                        <a:t>RegistrationDate</a:t>
                      </a:r>
                    </a:p>
                  </a:txBody>
                  <a:tcPr anchor="ctr"/>
                </a:tc>
                <a:tc>
                  <a:txBody>
                    <a:bodyPr/>
                    <a:lstStyle/>
                    <a:p>
                      <a:pPr>
                        <a:buNone/>
                      </a:pPr>
                      <a:r>
                        <a:rPr lang="en-US" b="1" dirty="0"/>
                        <a:t>Country</a:t>
                      </a:r>
                    </a:p>
                  </a:txBody>
                  <a:tcPr anchor="ctr"/>
                </a:tc>
                <a:extLst>
                  <a:ext uri="{0D108BD9-81ED-4DB2-BD59-A6C34878D82A}">
                    <a16:rowId xmlns:a16="http://schemas.microsoft.com/office/drawing/2014/main" val="1640836471"/>
                  </a:ext>
                </a:extLst>
              </a:tr>
              <a:tr h="0">
                <a:tc>
                  <a:txBody>
                    <a:bodyPr/>
                    <a:lstStyle/>
                    <a:p>
                      <a:pPr>
                        <a:buNone/>
                      </a:pPr>
                      <a:r>
                        <a:rPr lang="en-US"/>
                        <a:t>101</a:t>
                      </a:r>
                    </a:p>
                  </a:txBody>
                  <a:tcPr anchor="ctr"/>
                </a:tc>
                <a:tc>
                  <a:txBody>
                    <a:bodyPr/>
                    <a:lstStyle/>
                    <a:p>
                      <a:pPr>
                        <a:buNone/>
                      </a:pPr>
                      <a:r>
                        <a:rPr lang="en-US"/>
                        <a:t>Riya Sharma</a:t>
                      </a:r>
                    </a:p>
                  </a:txBody>
                  <a:tcPr anchor="ctr"/>
                </a:tc>
                <a:tc>
                  <a:txBody>
                    <a:bodyPr/>
                    <a:lstStyle/>
                    <a:p>
                      <a:pPr>
                        <a:buNone/>
                      </a:pPr>
                      <a:r>
                        <a:rPr lang="en-US"/>
                        <a:t>1995-03-22</a:t>
                      </a:r>
                    </a:p>
                  </a:txBody>
                  <a:tcPr anchor="ctr"/>
                </a:tc>
                <a:tc>
                  <a:txBody>
                    <a:bodyPr/>
                    <a:lstStyle/>
                    <a:p>
                      <a:pPr>
                        <a:buNone/>
                      </a:pPr>
                      <a:r>
                        <a:rPr lang="en-US"/>
                        <a:t>2021-07-10</a:t>
                      </a:r>
                    </a:p>
                  </a:txBody>
                  <a:tcPr anchor="ctr"/>
                </a:tc>
                <a:tc>
                  <a:txBody>
                    <a:bodyPr/>
                    <a:lstStyle/>
                    <a:p>
                      <a:pPr>
                        <a:buNone/>
                      </a:pPr>
                      <a:r>
                        <a:rPr lang="en-US" dirty="0"/>
                        <a:t>India</a:t>
                      </a:r>
                    </a:p>
                  </a:txBody>
                  <a:tcPr anchor="ctr"/>
                </a:tc>
                <a:extLst>
                  <a:ext uri="{0D108BD9-81ED-4DB2-BD59-A6C34878D82A}">
                    <a16:rowId xmlns:a16="http://schemas.microsoft.com/office/drawing/2014/main" val="2002086369"/>
                  </a:ext>
                </a:extLst>
              </a:tr>
            </a:tbl>
          </a:graphicData>
        </a:graphic>
      </p:graphicFrame>
      <p:sp>
        <p:nvSpPr>
          <p:cNvPr id="11" name="Rectangle 2">
            <a:extLst>
              <a:ext uri="{FF2B5EF4-FFF2-40B4-BE49-F238E27FC236}">
                <a16:creationId xmlns:a16="http://schemas.microsoft.com/office/drawing/2014/main" id="{BAE97DFE-7E8F-6B68-4FC5-20A0523885CE}"/>
              </a:ext>
            </a:extLst>
          </p:cNvPr>
          <p:cNvSpPr>
            <a:spLocks noChangeArrowheads="1"/>
          </p:cNvSpPr>
          <p:nvPr/>
        </p:nvSpPr>
        <p:spPr bwMode="auto">
          <a:xfrm>
            <a:off x="412012" y="1406420"/>
            <a:ext cx="11075924"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Once the record is loaded into the dimension, it remains unchanged forever, regardless of source updates. Used for attributes that are constant ,or should remain as first recorded for historical reasons.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 if Riya changes her country later, the Country in this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dimension will not be updated (fixed attribute).</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to Use: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values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should never change (identity-defining attributes).</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audit fields or reference data.</a:t>
            </a:r>
          </a:p>
          <a:p>
            <a:pPr lvl="0"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Examples of Fixed Attributes: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DateOfBirth</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JoiningDate</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OriginalProductLaunchDate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CustomerFirstSignupDate</a:t>
            </a: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319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EA8B9-1C4D-59BD-E70C-B319638BC678}"/>
              </a:ext>
            </a:extLst>
          </p:cNvPr>
          <p:cNvSpPr>
            <a:spLocks noGrp="1"/>
          </p:cNvSpPr>
          <p:nvPr>
            <p:ph type="title"/>
          </p:nvPr>
        </p:nvSpPr>
        <p:spPr>
          <a:xfrm>
            <a:off x="654052" y="749466"/>
            <a:ext cx="17545521" cy="440488"/>
          </a:xfrm>
        </p:spPr>
        <p:txBody>
          <a:bodyPr>
            <a:noAutofit/>
          </a:bodyPr>
          <a:lstStyle/>
          <a:p>
            <a:r>
              <a:rPr lang="en-US" altLang="en-US" sz="2800" dirty="0">
                <a:latin typeface="Times New Roman" panose="02020603050405020304" pitchFamily="18" charset="0"/>
                <a:cs typeface="Times New Roman" panose="02020603050405020304" pitchFamily="18" charset="0"/>
              </a:rPr>
              <a:t>SCD Type 1 – Overwrite (No History)</a:t>
            </a:r>
            <a:br>
              <a:rPr lang="en-US" alt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3EF2228A-5437-8E03-0BAF-D5F457C18105}"/>
              </a:ext>
            </a:extLst>
          </p:cNvPr>
          <p:cNvSpPr>
            <a:spLocks noChangeArrowheads="1"/>
          </p:cNvSpPr>
          <p:nvPr/>
        </p:nvSpPr>
        <p:spPr bwMode="auto">
          <a:xfrm>
            <a:off x="427961" y="1108668"/>
            <a:ext cx="1041104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Old data is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overwritten with new data — history is not preserved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Case: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only 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latest value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matters.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Priya moves to Pune: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ETL Logic:</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UPDATE dimension record with new value when source changes.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to Use:</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non-critical attributes like email, phone, last login city, etc.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implementation</a:t>
            </a:r>
          </a:p>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historical tracking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A17C638A-E5AE-1E5A-B9AA-3A1184FF5BBE}"/>
              </a:ext>
            </a:extLst>
          </p:cNvPr>
          <p:cNvGraphicFramePr>
            <a:graphicFrameLocks noGrp="1"/>
          </p:cNvGraphicFramePr>
          <p:nvPr/>
        </p:nvGraphicFramePr>
        <p:xfrm>
          <a:off x="547726" y="2349483"/>
          <a:ext cx="6849138" cy="731520"/>
        </p:xfrm>
        <a:graphic>
          <a:graphicData uri="http://schemas.openxmlformats.org/drawingml/2006/table">
            <a:tbl>
              <a:tblPr>
                <a:tableStyleId>{3C2FFA5D-87B4-456A-9821-1D502468CF0F}</a:tableStyleId>
              </a:tblPr>
              <a:tblGrid>
                <a:gridCol w="2283046">
                  <a:extLst>
                    <a:ext uri="{9D8B030D-6E8A-4147-A177-3AD203B41FA5}">
                      <a16:colId xmlns:a16="http://schemas.microsoft.com/office/drawing/2014/main" val="2663298363"/>
                    </a:ext>
                  </a:extLst>
                </a:gridCol>
                <a:gridCol w="2283046">
                  <a:extLst>
                    <a:ext uri="{9D8B030D-6E8A-4147-A177-3AD203B41FA5}">
                      <a16:colId xmlns:a16="http://schemas.microsoft.com/office/drawing/2014/main" val="4286419363"/>
                    </a:ext>
                  </a:extLst>
                </a:gridCol>
                <a:gridCol w="2283046">
                  <a:extLst>
                    <a:ext uri="{9D8B030D-6E8A-4147-A177-3AD203B41FA5}">
                      <a16:colId xmlns:a16="http://schemas.microsoft.com/office/drawing/2014/main" val="1721747150"/>
                    </a:ext>
                  </a:extLst>
                </a:gridCol>
              </a:tblGrid>
              <a:tr h="0">
                <a:tc>
                  <a:txBody>
                    <a:bodyPr/>
                    <a:lstStyle/>
                    <a:p>
                      <a:pPr>
                        <a:buNone/>
                      </a:pPr>
                      <a:r>
                        <a:rPr lang="en-US" b="1" dirty="0" err="1">
                          <a:latin typeface="Times New Roman" panose="02020603050405020304" pitchFamily="18" charset="0"/>
                          <a:cs typeface="Times New Roman" panose="02020603050405020304" pitchFamily="18" charset="0"/>
                        </a:rPr>
                        <a:t>CustomerID</a:t>
                      </a:r>
                      <a:endParaRPr lang="en-US"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b="1" dirty="0">
                          <a:latin typeface="Times New Roman" panose="02020603050405020304" pitchFamily="18" charset="0"/>
                          <a:cs typeface="Times New Roman" panose="02020603050405020304" pitchFamily="18" charset="0"/>
                        </a:rPr>
                        <a:t>Name</a:t>
                      </a:r>
                    </a:p>
                  </a:txBody>
                  <a:tcPr anchor="ctr"/>
                </a:tc>
                <a:tc>
                  <a:txBody>
                    <a:bodyPr/>
                    <a:lstStyle/>
                    <a:p>
                      <a:pPr>
                        <a:buNone/>
                      </a:pPr>
                      <a:r>
                        <a:rPr lang="en-US" b="1" dirty="0">
                          <a:latin typeface="Times New Roman" panose="02020603050405020304" pitchFamily="18" charset="0"/>
                          <a:cs typeface="Times New Roman" panose="02020603050405020304" pitchFamily="18" charset="0"/>
                        </a:rPr>
                        <a:t>City</a:t>
                      </a:r>
                    </a:p>
                  </a:txBody>
                  <a:tcPr anchor="ctr"/>
                </a:tc>
                <a:extLst>
                  <a:ext uri="{0D108BD9-81ED-4DB2-BD59-A6C34878D82A}">
                    <a16:rowId xmlns:a16="http://schemas.microsoft.com/office/drawing/2014/main" val="3296652442"/>
                  </a:ext>
                </a:extLst>
              </a:tr>
              <a:tr h="0">
                <a:tc>
                  <a:txBody>
                    <a:bodyPr/>
                    <a:lstStyle/>
                    <a:p>
                      <a:pPr>
                        <a:buNone/>
                      </a:pPr>
                      <a:r>
                        <a:rPr lang="en-US" dirty="0">
                          <a:latin typeface="Times New Roman" panose="02020603050405020304" pitchFamily="18" charset="0"/>
                          <a:cs typeface="Times New Roman" panose="02020603050405020304" pitchFamily="18" charset="0"/>
                        </a:rPr>
                        <a:t>1001</a:t>
                      </a:r>
                    </a:p>
                  </a:txBody>
                  <a:tcPr anchor="ctr"/>
                </a:tc>
                <a:tc>
                  <a:txBody>
                    <a:bodyPr/>
                    <a:lstStyle/>
                    <a:p>
                      <a:pPr>
                        <a:buNone/>
                      </a:pPr>
                      <a:r>
                        <a:rPr lang="en-US">
                          <a:latin typeface="Times New Roman" panose="02020603050405020304" pitchFamily="18" charset="0"/>
                          <a:cs typeface="Times New Roman" panose="02020603050405020304" pitchFamily="18" charset="0"/>
                        </a:rPr>
                        <a:t>Priya</a:t>
                      </a:r>
                    </a:p>
                  </a:txBody>
                  <a:tcPr anchor="ctr"/>
                </a:tc>
                <a:tc>
                  <a:txBody>
                    <a:bodyPr/>
                    <a:lstStyle/>
                    <a:p>
                      <a:pPr>
                        <a:buNone/>
                      </a:pPr>
                      <a:r>
                        <a:rPr lang="en-US" dirty="0">
                          <a:latin typeface="Times New Roman" panose="02020603050405020304" pitchFamily="18" charset="0"/>
                          <a:cs typeface="Times New Roman" panose="02020603050405020304" pitchFamily="18" charset="0"/>
                        </a:rPr>
                        <a:t>Mumbai</a:t>
                      </a:r>
                    </a:p>
                  </a:txBody>
                  <a:tcPr anchor="ctr"/>
                </a:tc>
                <a:extLst>
                  <a:ext uri="{0D108BD9-81ED-4DB2-BD59-A6C34878D82A}">
                    <a16:rowId xmlns:a16="http://schemas.microsoft.com/office/drawing/2014/main" val="622783559"/>
                  </a:ext>
                </a:extLst>
              </a:tr>
            </a:tbl>
          </a:graphicData>
        </a:graphic>
      </p:graphicFrame>
      <p:graphicFrame>
        <p:nvGraphicFramePr>
          <p:cNvPr id="8" name="Table 7">
            <a:extLst>
              <a:ext uri="{FF2B5EF4-FFF2-40B4-BE49-F238E27FC236}">
                <a16:creationId xmlns:a16="http://schemas.microsoft.com/office/drawing/2014/main" id="{269FF6AB-3773-C39D-E242-4670641F9FC0}"/>
              </a:ext>
            </a:extLst>
          </p:cNvPr>
          <p:cNvGraphicFramePr>
            <a:graphicFrameLocks noGrp="1"/>
          </p:cNvGraphicFramePr>
          <p:nvPr/>
        </p:nvGraphicFramePr>
        <p:xfrm>
          <a:off x="547725" y="3544389"/>
          <a:ext cx="6849138" cy="731520"/>
        </p:xfrm>
        <a:graphic>
          <a:graphicData uri="http://schemas.openxmlformats.org/drawingml/2006/table">
            <a:tbl>
              <a:tblPr>
                <a:tableStyleId>{3C2FFA5D-87B4-456A-9821-1D502468CF0F}</a:tableStyleId>
              </a:tblPr>
              <a:tblGrid>
                <a:gridCol w="2283046">
                  <a:extLst>
                    <a:ext uri="{9D8B030D-6E8A-4147-A177-3AD203B41FA5}">
                      <a16:colId xmlns:a16="http://schemas.microsoft.com/office/drawing/2014/main" val="1078418841"/>
                    </a:ext>
                  </a:extLst>
                </a:gridCol>
                <a:gridCol w="2283046">
                  <a:extLst>
                    <a:ext uri="{9D8B030D-6E8A-4147-A177-3AD203B41FA5}">
                      <a16:colId xmlns:a16="http://schemas.microsoft.com/office/drawing/2014/main" val="1228844975"/>
                    </a:ext>
                  </a:extLst>
                </a:gridCol>
                <a:gridCol w="2283046">
                  <a:extLst>
                    <a:ext uri="{9D8B030D-6E8A-4147-A177-3AD203B41FA5}">
                      <a16:colId xmlns:a16="http://schemas.microsoft.com/office/drawing/2014/main" val="1485810728"/>
                    </a:ext>
                  </a:extLst>
                </a:gridCol>
              </a:tblGrid>
              <a:tr h="0">
                <a:tc>
                  <a:txBody>
                    <a:bodyPr/>
                    <a:lstStyle/>
                    <a:p>
                      <a:pPr>
                        <a:buNone/>
                      </a:pPr>
                      <a:r>
                        <a:rPr lang="en-US" b="1">
                          <a:latin typeface="Times New Roman" panose="02020603050405020304" pitchFamily="18" charset="0"/>
                          <a:cs typeface="Times New Roman" panose="02020603050405020304" pitchFamily="18" charset="0"/>
                        </a:rPr>
                        <a:t>CustomerID</a:t>
                      </a:r>
                    </a:p>
                  </a:txBody>
                  <a:tcPr anchor="ctr"/>
                </a:tc>
                <a:tc>
                  <a:txBody>
                    <a:bodyPr/>
                    <a:lstStyle/>
                    <a:p>
                      <a:pPr>
                        <a:buNone/>
                      </a:pPr>
                      <a:r>
                        <a:rPr lang="en-US" b="1" dirty="0">
                          <a:latin typeface="Times New Roman" panose="02020603050405020304" pitchFamily="18" charset="0"/>
                          <a:cs typeface="Times New Roman" panose="02020603050405020304" pitchFamily="18" charset="0"/>
                        </a:rPr>
                        <a:t>Name</a:t>
                      </a:r>
                    </a:p>
                  </a:txBody>
                  <a:tcPr anchor="ctr"/>
                </a:tc>
                <a:tc>
                  <a:txBody>
                    <a:bodyPr/>
                    <a:lstStyle/>
                    <a:p>
                      <a:pPr>
                        <a:buNone/>
                      </a:pPr>
                      <a:r>
                        <a:rPr lang="en-US" b="1" dirty="0">
                          <a:latin typeface="Times New Roman" panose="02020603050405020304" pitchFamily="18" charset="0"/>
                          <a:cs typeface="Times New Roman" panose="02020603050405020304" pitchFamily="18" charset="0"/>
                        </a:rPr>
                        <a:t>City</a:t>
                      </a:r>
                    </a:p>
                  </a:txBody>
                  <a:tcPr anchor="ctr"/>
                </a:tc>
                <a:extLst>
                  <a:ext uri="{0D108BD9-81ED-4DB2-BD59-A6C34878D82A}">
                    <a16:rowId xmlns:a16="http://schemas.microsoft.com/office/drawing/2014/main" val="2385773618"/>
                  </a:ext>
                </a:extLst>
              </a:tr>
              <a:tr h="0">
                <a:tc>
                  <a:txBody>
                    <a:bodyPr/>
                    <a:lstStyle/>
                    <a:p>
                      <a:pPr>
                        <a:buNone/>
                      </a:pPr>
                      <a:r>
                        <a:rPr lang="en-US" dirty="0">
                          <a:latin typeface="Times New Roman" panose="02020603050405020304" pitchFamily="18" charset="0"/>
                          <a:cs typeface="Times New Roman" panose="02020603050405020304" pitchFamily="18" charset="0"/>
                        </a:rPr>
                        <a:t>1001</a:t>
                      </a:r>
                    </a:p>
                  </a:txBody>
                  <a:tcPr anchor="ctr"/>
                </a:tc>
                <a:tc>
                  <a:txBody>
                    <a:bodyPr/>
                    <a:lstStyle/>
                    <a:p>
                      <a:pPr>
                        <a:buNone/>
                      </a:pPr>
                      <a:r>
                        <a:rPr lang="en-US">
                          <a:latin typeface="Times New Roman" panose="02020603050405020304" pitchFamily="18" charset="0"/>
                          <a:cs typeface="Times New Roman" panose="02020603050405020304" pitchFamily="18" charset="0"/>
                        </a:rPr>
                        <a:t>Priya</a:t>
                      </a:r>
                    </a:p>
                  </a:txBody>
                  <a:tcPr anchor="ctr"/>
                </a:tc>
                <a:tc>
                  <a:txBody>
                    <a:bodyPr/>
                    <a:lstStyle/>
                    <a:p>
                      <a:pPr>
                        <a:buNone/>
                      </a:pPr>
                      <a:r>
                        <a:rPr lang="en-US" dirty="0">
                          <a:latin typeface="Times New Roman" panose="02020603050405020304" pitchFamily="18" charset="0"/>
                          <a:cs typeface="Times New Roman" panose="02020603050405020304" pitchFamily="18" charset="0"/>
                        </a:rPr>
                        <a:t>Pune</a:t>
                      </a:r>
                    </a:p>
                  </a:txBody>
                  <a:tcPr anchor="ctr"/>
                </a:tc>
                <a:extLst>
                  <a:ext uri="{0D108BD9-81ED-4DB2-BD59-A6C34878D82A}">
                    <a16:rowId xmlns:a16="http://schemas.microsoft.com/office/drawing/2014/main" val="1730325140"/>
                  </a:ext>
                </a:extLst>
              </a:tr>
            </a:tbl>
          </a:graphicData>
        </a:graphic>
      </p:graphicFrame>
    </p:spTree>
    <p:extLst>
      <p:ext uri="{BB962C8B-B14F-4D97-AF65-F5344CB8AC3E}">
        <p14:creationId xmlns:p14="http://schemas.microsoft.com/office/powerpoint/2010/main" val="2939179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763E3-468A-0CAE-3BBE-02DC181C445E}"/>
              </a:ext>
            </a:extLst>
          </p:cNvPr>
          <p:cNvSpPr>
            <a:spLocks noGrp="1"/>
          </p:cNvSpPr>
          <p:nvPr>
            <p:ph type="title"/>
          </p:nvPr>
        </p:nvSpPr>
        <p:spPr/>
        <p:txBody>
          <a:bodyPr>
            <a:normAutofit fontScale="90000"/>
          </a:bodyPr>
          <a:lstStyle/>
          <a:p>
            <a:r>
              <a:rPr lang="en-US" altLang="en-US" sz="3200" dirty="0">
                <a:latin typeface="Times New Roman" panose="02020603050405020304" pitchFamily="18" charset="0"/>
                <a:cs typeface="Times New Roman" panose="02020603050405020304" pitchFamily="18" charset="0"/>
              </a:rPr>
              <a:t>SCD Type 2 – Add New Row (Full History)</a:t>
            </a:r>
            <a:br>
              <a:rPr lang="en-US" altLang="en-US" sz="32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61D2326-29C6-EB40-DB2E-B93D3D393099}"/>
              </a:ext>
            </a:extLst>
          </p:cNvPr>
          <p:cNvGraphicFramePr>
            <a:graphicFrameLocks noGrp="1"/>
          </p:cNvGraphicFramePr>
          <p:nvPr/>
        </p:nvGraphicFramePr>
        <p:xfrm>
          <a:off x="576122" y="2521616"/>
          <a:ext cx="11114187" cy="1097280"/>
        </p:xfrm>
        <a:graphic>
          <a:graphicData uri="http://schemas.openxmlformats.org/drawingml/2006/table">
            <a:tbl>
              <a:tblPr>
                <a:tableStyleId>{3C2FFA5D-87B4-456A-9821-1D502468CF0F}</a:tableStyleId>
              </a:tblPr>
              <a:tblGrid>
                <a:gridCol w="1587741">
                  <a:extLst>
                    <a:ext uri="{9D8B030D-6E8A-4147-A177-3AD203B41FA5}">
                      <a16:colId xmlns:a16="http://schemas.microsoft.com/office/drawing/2014/main" val="1759816832"/>
                    </a:ext>
                  </a:extLst>
                </a:gridCol>
                <a:gridCol w="1587741">
                  <a:extLst>
                    <a:ext uri="{9D8B030D-6E8A-4147-A177-3AD203B41FA5}">
                      <a16:colId xmlns:a16="http://schemas.microsoft.com/office/drawing/2014/main" val="3229481993"/>
                    </a:ext>
                  </a:extLst>
                </a:gridCol>
                <a:gridCol w="1587741">
                  <a:extLst>
                    <a:ext uri="{9D8B030D-6E8A-4147-A177-3AD203B41FA5}">
                      <a16:colId xmlns:a16="http://schemas.microsoft.com/office/drawing/2014/main" val="25849850"/>
                    </a:ext>
                  </a:extLst>
                </a:gridCol>
                <a:gridCol w="1587741">
                  <a:extLst>
                    <a:ext uri="{9D8B030D-6E8A-4147-A177-3AD203B41FA5}">
                      <a16:colId xmlns:a16="http://schemas.microsoft.com/office/drawing/2014/main" val="3155368612"/>
                    </a:ext>
                  </a:extLst>
                </a:gridCol>
                <a:gridCol w="1587741">
                  <a:extLst>
                    <a:ext uri="{9D8B030D-6E8A-4147-A177-3AD203B41FA5}">
                      <a16:colId xmlns:a16="http://schemas.microsoft.com/office/drawing/2014/main" val="2390843362"/>
                    </a:ext>
                  </a:extLst>
                </a:gridCol>
                <a:gridCol w="1587741">
                  <a:extLst>
                    <a:ext uri="{9D8B030D-6E8A-4147-A177-3AD203B41FA5}">
                      <a16:colId xmlns:a16="http://schemas.microsoft.com/office/drawing/2014/main" val="4154224434"/>
                    </a:ext>
                  </a:extLst>
                </a:gridCol>
                <a:gridCol w="1587741">
                  <a:extLst>
                    <a:ext uri="{9D8B030D-6E8A-4147-A177-3AD203B41FA5}">
                      <a16:colId xmlns:a16="http://schemas.microsoft.com/office/drawing/2014/main" val="3349029961"/>
                    </a:ext>
                  </a:extLst>
                </a:gridCol>
              </a:tblGrid>
              <a:tr h="338512">
                <a:tc>
                  <a:txBody>
                    <a:bodyPr/>
                    <a:lstStyle/>
                    <a:p>
                      <a:pPr>
                        <a:buNone/>
                      </a:pPr>
                      <a:r>
                        <a:rPr lang="en-US" sz="1800" b="1"/>
                        <a:t>CustomerKey</a:t>
                      </a:r>
                    </a:p>
                  </a:txBody>
                  <a:tcPr anchor="ctr"/>
                </a:tc>
                <a:tc>
                  <a:txBody>
                    <a:bodyPr/>
                    <a:lstStyle/>
                    <a:p>
                      <a:pPr>
                        <a:buNone/>
                      </a:pPr>
                      <a:r>
                        <a:rPr lang="en-US" sz="1800" b="1"/>
                        <a:t>CustomerID</a:t>
                      </a:r>
                    </a:p>
                  </a:txBody>
                  <a:tcPr anchor="ctr"/>
                </a:tc>
                <a:tc>
                  <a:txBody>
                    <a:bodyPr/>
                    <a:lstStyle/>
                    <a:p>
                      <a:pPr>
                        <a:buNone/>
                      </a:pPr>
                      <a:r>
                        <a:rPr lang="en-US" sz="1800" b="1"/>
                        <a:t>Name</a:t>
                      </a:r>
                    </a:p>
                  </a:txBody>
                  <a:tcPr anchor="ctr"/>
                </a:tc>
                <a:tc>
                  <a:txBody>
                    <a:bodyPr/>
                    <a:lstStyle/>
                    <a:p>
                      <a:pPr>
                        <a:buNone/>
                      </a:pPr>
                      <a:r>
                        <a:rPr lang="en-US" sz="1800" b="1"/>
                        <a:t>City</a:t>
                      </a:r>
                    </a:p>
                  </a:txBody>
                  <a:tcPr anchor="ctr"/>
                </a:tc>
                <a:tc>
                  <a:txBody>
                    <a:bodyPr/>
                    <a:lstStyle/>
                    <a:p>
                      <a:pPr>
                        <a:buNone/>
                      </a:pPr>
                      <a:r>
                        <a:rPr lang="en-US" sz="1800" b="1"/>
                        <a:t>StartDate</a:t>
                      </a:r>
                    </a:p>
                  </a:txBody>
                  <a:tcPr anchor="ctr"/>
                </a:tc>
                <a:tc>
                  <a:txBody>
                    <a:bodyPr/>
                    <a:lstStyle/>
                    <a:p>
                      <a:pPr>
                        <a:buNone/>
                      </a:pPr>
                      <a:r>
                        <a:rPr lang="en-US" sz="1800" b="1"/>
                        <a:t>EndDate</a:t>
                      </a:r>
                    </a:p>
                  </a:txBody>
                  <a:tcPr anchor="ctr"/>
                </a:tc>
                <a:tc>
                  <a:txBody>
                    <a:bodyPr/>
                    <a:lstStyle/>
                    <a:p>
                      <a:pPr>
                        <a:buNone/>
                      </a:pPr>
                      <a:r>
                        <a:rPr lang="en-US" sz="1800" b="1" dirty="0" err="1"/>
                        <a:t>IsCurrent</a:t>
                      </a:r>
                      <a:endParaRPr lang="en-US" sz="1800" b="1" dirty="0"/>
                    </a:p>
                  </a:txBody>
                  <a:tcPr anchor="ctr"/>
                </a:tc>
                <a:extLst>
                  <a:ext uri="{0D108BD9-81ED-4DB2-BD59-A6C34878D82A}">
                    <a16:rowId xmlns:a16="http://schemas.microsoft.com/office/drawing/2014/main" val="1522350837"/>
                  </a:ext>
                </a:extLst>
              </a:tr>
              <a:tr h="338512">
                <a:tc>
                  <a:txBody>
                    <a:bodyPr/>
                    <a:lstStyle/>
                    <a:p>
                      <a:pPr>
                        <a:buNone/>
                      </a:pPr>
                      <a:r>
                        <a:rPr lang="en-US" sz="1800"/>
                        <a:t>1001</a:t>
                      </a:r>
                    </a:p>
                  </a:txBody>
                  <a:tcPr anchor="ctr"/>
                </a:tc>
                <a:tc>
                  <a:txBody>
                    <a:bodyPr/>
                    <a:lstStyle/>
                    <a:p>
                      <a:pPr>
                        <a:buNone/>
                      </a:pPr>
                      <a:r>
                        <a:rPr lang="en-US" sz="1800"/>
                        <a:t>CUST001</a:t>
                      </a:r>
                    </a:p>
                  </a:txBody>
                  <a:tcPr anchor="ctr"/>
                </a:tc>
                <a:tc>
                  <a:txBody>
                    <a:bodyPr/>
                    <a:lstStyle/>
                    <a:p>
                      <a:pPr>
                        <a:buNone/>
                      </a:pPr>
                      <a:r>
                        <a:rPr lang="en-US" sz="1800"/>
                        <a:t>Priya</a:t>
                      </a:r>
                    </a:p>
                  </a:txBody>
                  <a:tcPr anchor="ctr"/>
                </a:tc>
                <a:tc>
                  <a:txBody>
                    <a:bodyPr/>
                    <a:lstStyle/>
                    <a:p>
                      <a:pPr>
                        <a:buNone/>
                      </a:pPr>
                      <a:r>
                        <a:rPr lang="en-US" sz="1800"/>
                        <a:t>Mumbai</a:t>
                      </a:r>
                    </a:p>
                  </a:txBody>
                  <a:tcPr anchor="ctr"/>
                </a:tc>
                <a:tc>
                  <a:txBody>
                    <a:bodyPr/>
                    <a:lstStyle/>
                    <a:p>
                      <a:pPr>
                        <a:buNone/>
                      </a:pPr>
                      <a:r>
                        <a:rPr lang="en-US" sz="1800"/>
                        <a:t>2019-01-01</a:t>
                      </a:r>
                    </a:p>
                  </a:txBody>
                  <a:tcPr anchor="ctr"/>
                </a:tc>
                <a:tc>
                  <a:txBody>
                    <a:bodyPr/>
                    <a:lstStyle/>
                    <a:p>
                      <a:pPr>
                        <a:buNone/>
                      </a:pPr>
                      <a:r>
                        <a:rPr lang="en-US" sz="1800"/>
                        <a:t>2020-12-31</a:t>
                      </a:r>
                    </a:p>
                  </a:txBody>
                  <a:tcPr anchor="ctr"/>
                </a:tc>
                <a:tc>
                  <a:txBody>
                    <a:bodyPr/>
                    <a:lstStyle/>
                    <a:p>
                      <a:pPr>
                        <a:buNone/>
                      </a:pPr>
                      <a:r>
                        <a:rPr lang="en-US" sz="1800" dirty="0"/>
                        <a:t>N</a:t>
                      </a:r>
                    </a:p>
                  </a:txBody>
                  <a:tcPr anchor="ctr"/>
                </a:tc>
                <a:extLst>
                  <a:ext uri="{0D108BD9-81ED-4DB2-BD59-A6C34878D82A}">
                    <a16:rowId xmlns:a16="http://schemas.microsoft.com/office/drawing/2014/main" val="2573147420"/>
                  </a:ext>
                </a:extLst>
              </a:tr>
              <a:tr h="338512">
                <a:tc>
                  <a:txBody>
                    <a:bodyPr/>
                    <a:lstStyle/>
                    <a:p>
                      <a:pPr>
                        <a:buNone/>
                      </a:pPr>
                      <a:r>
                        <a:rPr lang="en-US" sz="1800"/>
                        <a:t>1002</a:t>
                      </a:r>
                    </a:p>
                  </a:txBody>
                  <a:tcPr anchor="ctr"/>
                </a:tc>
                <a:tc>
                  <a:txBody>
                    <a:bodyPr/>
                    <a:lstStyle/>
                    <a:p>
                      <a:pPr>
                        <a:buNone/>
                      </a:pPr>
                      <a:r>
                        <a:rPr lang="en-US" sz="1800"/>
                        <a:t>CUST001</a:t>
                      </a:r>
                    </a:p>
                  </a:txBody>
                  <a:tcPr anchor="ctr"/>
                </a:tc>
                <a:tc>
                  <a:txBody>
                    <a:bodyPr/>
                    <a:lstStyle/>
                    <a:p>
                      <a:pPr>
                        <a:buNone/>
                      </a:pPr>
                      <a:r>
                        <a:rPr lang="en-US" sz="1800"/>
                        <a:t>Priya</a:t>
                      </a:r>
                    </a:p>
                  </a:txBody>
                  <a:tcPr anchor="ctr"/>
                </a:tc>
                <a:tc>
                  <a:txBody>
                    <a:bodyPr/>
                    <a:lstStyle/>
                    <a:p>
                      <a:pPr>
                        <a:buNone/>
                      </a:pPr>
                      <a:r>
                        <a:rPr lang="en-US" sz="1800"/>
                        <a:t>Pune</a:t>
                      </a:r>
                    </a:p>
                  </a:txBody>
                  <a:tcPr anchor="ctr"/>
                </a:tc>
                <a:tc>
                  <a:txBody>
                    <a:bodyPr/>
                    <a:lstStyle/>
                    <a:p>
                      <a:pPr>
                        <a:buNone/>
                      </a:pPr>
                      <a:r>
                        <a:rPr lang="en-US" sz="1800"/>
                        <a:t>2021-01-01</a:t>
                      </a:r>
                    </a:p>
                  </a:txBody>
                  <a:tcPr anchor="ctr"/>
                </a:tc>
                <a:tc>
                  <a:txBody>
                    <a:bodyPr/>
                    <a:lstStyle/>
                    <a:p>
                      <a:pPr>
                        <a:buNone/>
                      </a:pPr>
                      <a:r>
                        <a:rPr lang="en-US" sz="1800"/>
                        <a:t>9999-12-31</a:t>
                      </a:r>
                    </a:p>
                  </a:txBody>
                  <a:tcPr anchor="ctr"/>
                </a:tc>
                <a:tc>
                  <a:txBody>
                    <a:bodyPr/>
                    <a:lstStyle/>
                    <a:p>
                      <a:pPr>
                        <a:buNone/>
                      </a:pPr>
                      <a:r>
                        <a:rPr lang="en-US" sz="1800" dirty="0"/>
                        <a:t>Y</a:t>
                      </a:r>
                    </a:p>
                  </a:txBody>
                  <a:tcPr anchor="ctr"/>
                </a:tc>
                <a:extLst>
                  <a:ext uri="{0D108BD9-81ED-4DB2-BD59-A6C34878D82A}">
                    <a16:rowId xmlns:a16="http://schemas.microsoft.com/office/drawing/2014/main" val="1349208822"/>
                  </a:ext>
                </a:extLst>
              </a:tr>
            </a:tbl>
          </a:graphicData>
        </a:graphic>
      </p:graphicFrame>
      <p:sp>
        <p:nvSpPr>
          <p:cNvPr id="5" name="Rectangle 1">
            <a:extLst>
              <a:ext uri="{FF2B5EF4-FFF2-40B4-BE49-F238E27FC236}">
                <a16:creationId xmlns:a16="http://schemas.microsoft.com/office/drawing/2014/main" id="{4345D5FC-C1F3-66AC-5259-62C2F4835789}"/>
              </a:ext>
            </a:extLst>
          </p:cNvPr>
          <p:cNvSpPr>
            <a:spLocks noChangeArrowheads="1"/>
          </p:cNvSpPr>
          <p:nvPr/>
        </p:nvSpPr>
        <p:spPr bwMode="auto">
          <a:xfrm>
            <a:off x="501694" y="930990"/>
            <a:ext cx="1080765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time an attribute changes,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new row is inserted with a new surrogate key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the old record is marked as expired.</a:t>
            </a:r>
          </a:p>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usually added:</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EffectiveStartDate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EffectiveEndDate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IsCurrent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ActiveFlag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highlight>
                <a:srgbClr val="FFFF00"/>
              </a:highligh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highlight>
                <a:srgbClr val="FFFF00"/>
              </a:highligh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ETL Logic:</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a change is detected → expire old record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EndDate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today,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IsCurrent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N), and insert a new record with new key.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to Use: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historical analysis is needed (e.g., "Sales by customer region over time").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 history tracking</a:t>
            </a:r>
          </a:p>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Larger table, more complex joins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5779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8E242-3F37-A204-6D4F-FA5838DBA2EB}"/>
              </a:ext>
            </a:extLst>
          </p:cNvPr>
          <p:cNvSpPr>
            <a:spLocks noGrp="1"/>
          </p:cNvSpPr>
          <p:nvPr>
            <p:ph type="title"/>
          </p:nvPr>
        </p:nvSpPr>
        <p:spPr>
          <a:xfrm>
            <a:off x="692174" y="773716"/>
            <a:ext cx="10807652" cy="440488"/>
          </a:xfrm>
        </p:spPr>
        <p:txBody>
          <a:bodyPr>
            <a:normAutofit fontScale="90000"/>
          </a:bodyPr>
          <a:lstStyle/>
          <a:p>
            <a:r>
              <a:rPr lang="en-US" altLang="en-US" sz="3200" dirty="0">
                <a:latin typeface="Times New Roman" panose="02020603050405020304" pitchFamily="18" charset="0"/>
                <a:cs typeface="Times New Roman" panose="02020603050405020304" pitchFamily="18" charset="0"/>
              </a:rPr>
              <a:t>SCD Type 3 – Add New Columns (Partial History)</a:t>
            </a:r>
            <a:br>
              <a:rPr lang="en-US" altLang="en-US" sz="32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BE3D578-E751-160B-69E3-185766781ABF}"/>
              </a:ext>
            </a:extLst>
          </p:cNvPr>
          <p:cNvGraphicFramePr>
            <a:graphicFrameLocks noGrp="1"/>
          </p:cNvGraphicFramePr>
          <p:nvPr/>
        </p:nvGraphicFramePr>
        <p:xfrm>
          <a:off x="466060" y="1987487"/>
          <a:ext cx="10515600" cy="731520"/>
        </p:xfrm>
        <a:graphic>
          <a:graphicData uri="http://schemas.openxmlformats.org/drawingml/2006/table">
            <a:tbl>
              <a:tblPr>
                <a:tableStyleId>{3C2FFA5D-87B4-456A-9821-1D502468CF0F}</a:tableStyleId>
              </a:tblPr>
              <a:tblGrid>
                <a:gridCol w="2628900">
                  <a:extLst>
                    <a:ext uri="{9D8B030D-6E8A-4147-A177-3AD203B41FA5}">
                      <a16:colId xmlns:a16="http://schemas.microsoft.com/office/drawing/2014/main" val="3297881551"/>
                    </a:ext>
                  </a:extLst>
                </a:gridCol>
                <a:gridCol w="2628900">
                  <a:extLst>
                    <a:ext uri="{9D8B030D-6E8A-4147-A177-3AD203B41FA5}">
                      <a16:colId xmlns:a16="http://schemas.microsoft.com/office/drawing/2014/main" val="872771762"/>
                    </a:ext>
                  </a:extLst>
                </a:gridCol>
                <a:gridCol w="2628900">
                  <a:extLst>
                    <a:ext uri="{9D8B030D-6E8A-4147-A177-3AD203B41FA5}">
                      <a16:colId xmlns:a16="http://schemas.microsoft.com/office/drawing/2014/main" val="281955994"/>
                    </a:ext>
                  </a:extLst>
                </a:gridCol>
                <a:gridCol w="2628900">
                  <a:extLst>
                    <a:ext uri="{9D8B030D-6E8A-4147-A177-3AD203B41FA5}">
                      <a16:colId xmlns:a16="http://schemas.microsoft.com/office/drawing/2014/main" val="2274160639"/>
                    </a:ext>
                  </a:extLst>
                </a:gridCol>
              </a:tblGrid>
              <a:tr h="0">
                <a:tc>
                  <a:txBody>
                    <a:bodyPr/>
                    <a:lstStyle/>
                    <a:p>
                      <a:pPr>
                        <a:buNone/>
                      </a:pPr>
                      <a:r>
                        <a:rPr lang="en-US" b="1"/>
                        <a:t>CustomerID</a:t>
                      </a:r>
                    </a:p>
                  </a:txBody>
                  <a:tcPr anchor="ctr"/>
                </a:tc>
                <a:tc>
                  <a:txBody>
                    <a:bodyPr/>
                    <a:lstStyle/>
                    <a:p>
                      <a:pPr>
                        <a:buNone/>
                      </a:pPr>
                      <a:r>
                        <a:rPr lang="en-US" b="1"/>
                        <a:t>Name</a:t>
                      </a:r>
                    </a:p>
                  </a:txBody>
                  <a:tcPr anchor="ctr"/>
                </a:tc>
                <a:tc>
                  <a:txBody>
                    <a:bodyPr/>
                    <a:lstStyle/>
                    <a:p>
                      <a:pPr>
                        <a:buNone/>
                      </a:pPr>
                      <a:r>
                        <a:rPr lang="en-US" b="1"/>
                        <a:t>CurrentCity</a:t>
                      </a:r>
                    </a:p>
                  </a:txBody>
                  <a:tcPr anchor="ctr"/>
                </a:tc>
                <a:tc>
                  <a:txBody>
                    <a:bodyPr/>
                    <a:lstStyle/>
                    <a:p>
                      <a:pPr>
                        <a:buNone/>
                      </a:pPr>
                      <a:r>
                        <a:rPr lang="en-US" b="1" dirty="0" err="1"/>
                        <a:t>PreviousCity</a:t>
                      </a:r>
                      <a:endParaRPr lang="en-US" b="1" dirty="0"/>
                    </a:p>
                  </a:txBody>
                  <a:tcPr anchor="ctr"/>
                </a:tc>
                <a:extLst>
                  <a:ext uri="{0D108BD9-81ED-4DB2-BD59-A6C34878D82A}">
                    <a16:rowId xmlns:a16="http://schemas.microsoft.com/office/drawing/2014/main" val="223755043"/>
                  </a:ext>
                </a:extLst>
              </a:tr>
              <a:tr h="0">
                <a:tc>
                  <a:txBody>
                    <a:bodyPr/>
                    <a:lstStyle/>
                    <a:p>
                      <a:pPr>
                        <a:buNone/>
                      </a:pPr>
                      <a:r>
                        <a:rPr lang="en-US"/>
                        <a:t>1001</a:t>
                      </a:r>
                    </a:p>
                  </a:txBody>
                  <a:tcPr anchor="ctr"/>
                </a:tc>
                <a:tc>
                  <a:txBody>
                    <a:bodyPr/>
                    <a:lstStyle/>
                    <a:p>
                      <a:pPr>
                        <a:buNone/>
                      </a:pPr>
                      <a:r>
                        <a:rPr lang="en-US"/>
                        <a:t>Priya</a:t>
                      </a:r>
                    </a:p>
                  </a:txBody>
                  <a:tcPr anchor="ctr"/>
                </a:tc>
                <a:tc>
                  <a:txBody>
                    <a:bodyPr/>
                    <a:lstStyle/>
                    <a:p>
                      <a:pPr>
                        <a:buNone/>
                      </a:pPr>
                      <a:r>
                        <a:rPr lang="en-US"/>
                        <a:t>Pune</a:t>
                      </a:r>
                    </a:p>
                  </a:txBody>
                  <a:tcPr anchor="ctr"/>
                </a:tc>
                <a:tc>
                  <a:txBody>
                    <a:bodyPr/>
                    <a:lstStyle/>
                    <a:p>
                      <a:pPr>
                        <a:buNone/>
                      </a:pPr>
                      <a:r>
                        <a:rPr lang="en-US" dirty="0"/>
                        <a:t>Mumbai</a:t>
                      </a:r>
                    </a:p>
                  </a:txBody>
                  <a:tcPr anchor="ctr"/>
                </a:tc>
                <a:extLst>
                  <a:ext uri="{0D108BD9-81ED-4DB2-BD59-A6C34878D82A}">
                    <a16:rowId xmlns:a16="http://schemas.microsoft.com/office/drawing/2014/main" val="1890968606"/>
                  </a:ext>
                </a:extLst>
              </a:tr>
            </a:tbl>
          </a:graphicData>
        </a:graphic>
      </p:graphicFrame>
      <p:sp>
        <p:nvSpPr>
          <p:cNvPr id="5" name="Rectangle 1">
            <a:extLst>
              <a:ext uri="{FF2B5EF4-FFF2-40B4-BE49-F238E27FC236}">
                <a16:creationId xmlns:a16="http://schemas.microsoft.com/office/drawing/2014/main" id="{E7649C3E-8A19-7270-1978-17A27D926F02}"/>
              </a:ext>
            </a:extLst>
          </p:cNvPr>
          <p:cNvSpPr>
            <a:spLocks noChangeArrowheads="1"/>
          </p:cNvSpPr>
          <p:nvPr/>
        </p:nvSpPr>
        <p:spPr bwMode="auto">
          <a:xfrm>
            <a:off x="381000" y="1214204"/>
            <a:ext cx="916154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Adds new columns to store limited history (usually only previous value).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ETL Logic: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change occurs → move old value to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PreviousCity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update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CurrentCity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to Use: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you only need to compare old vs new values, not full history.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Less storage</a:t>
            </a:r>
          </a:p>
          <a:p>
            <a:pPr marL="285750"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to only one prior change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0332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43132-2927-A871-13A9-340201882FCB}"/>
              </a:ext>
            </a:extLst>
          </p:cNvPr>
          <p:cNvSpPr>
            <a:spLocks noGrp="1"/>
          </p:cNvSpPr>
          <p:nvPr>
            <p:ph type="title"/>
          </p:nvPr>
        </p:nvSpPr>
        <p:spPr>
          <a:xfrm>
            <a:off x="546148" y="773715"/>
            <a:ext cx="10807652" cy="440488"/>
          </a:xfrm>
        </p:spPr>
        <p:txBody>
          <a:bodyPr>
            <a:normAutofit fontScale="90000"/>
          </a:bodyPr>
          <a:lstStyle/>
          <a:p>
            <a:r>
              <a:rPr lang="en-US" altLang="en-US" sz="3200" dirty="0">
                <a:latin typeface="Times New Roman" panose="02020603050405020304" pitchFamily="18" charset="0"/>
                <a:cs typeface="Times New Roman" panose="02020603050405020304" pitchFamily="18" charset="0"/>
              </a:rPr>
              <a:t>SCD Type 4 – Separate History Table</a:t>
            </a:r>
            <a:br>
              <a:rPr lang="en-US" altLang="en-US" sz="32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1742D6F-9A16-DD55-4016-598270845EA7}"/>
              </a:ext>
            </a:extLst>
          </p:cNvPr>
          <p:cNvGraphicFramePr>
            <a:graphicFrameLocks noGrp="1"/>
          </p:cNvGraphicFramePr>
          <p:nvPr/>
        </p:nvGraphicFramePr>
        <p:xfrm>
          <a:off x="692174" y="2125989"/>
          <a:ext cx="10515600" cy="731520"/>
        </p:xfrm>
        <a:graphic>
          <a:graphicData uri="http://schemas.openxmlformats.org/drawingml/2006/table">
            <a:tbl>
              <a:tblPr>
                <a:tableStyleId>{3C2FFA5D-87B4-456A-9821-1D502468CF0F}</a:tableStyleId>
              </a:tblPr>
              <a:tblGrid>
                <a:gridCol w="3505200">
                  <a:extLst>
                    <a:ext uri="{9D8B030D-6E8A-4147-A177-3AD203B41FA5}">
                      <a16:colId xmlns:a16="http://schemas.microsoft.com/office/drawing/2014/main" val="2872610573"/>
                    </a:ext>
                  </a:extLst>
                </a:gridCol>
                <a:gridCol w="3505200">
                  <a:extLst>
                    <a:ext uri="{9D8B030D-6E8A-4147-A177-3AD203B41FA5}">
                      <a16:colId xmlns:a16="http://schemas.microsoft.com/office/drawing/2014/main" val="3448846014"/>
                    </a:ext>
                  </a:extLst>
                </a:gridCol>
                <a:gridCol w="3505200">
                  <a:extLst>
                    <a:ext uri="{9D8B030D-6E8A-4147-A177-3AD203B41FA5}">
                      <a16:colId xmlns:a16="http://schemas.microsoft.com/office/drawing/2014/main" val="1107707726"/>
                    </a:ext>
                  </a:extLst>
                </a:gridCol>
              </a:tblGrid>
              <a:tr h="0">
                <a:tc>
                  <a:txBody>
                    <a:bodyPr/>
                    <a:lstStyle/>
                    <a:p>
                      <a:pPr>
                        <a:buNone/>
                      </a:pPr>
                      <a:r>
                        <a:rPr lang="en-US" b="1"/>
                        <a:t>CustomerID</a:t>
                      </a:r>
                    </a:p>
                  </a:txBody>
                  <a:tcPr anchor="ctr"/>
                </a:tc>
                <a:tc>
                  <a:txBody>
                    <a:bodyPr/>
                    <a:lstStyle/>
                    <a:p>
                      <a:pPr>
                        <a:buNone/>
                      </a:pPr>
                      <a:r>
                        <a:rPr lang="en-US" b="1"/>
                        <a:t>Name</a:t>
                      </a:r>
                    </a:p>
                  </a:txBody>
                  <a:tcPr anchor="ctr"/>
                </a:tc>
                <a:tc>
                  <a:txBody>
                    <a:bodyPr/>
                    <a:lstStyle/>
                    <a:p>
                      <a:pPr>
                        <a:buNone/>
                      </a:pPr>
                      <a:r>
                        <a:rPr lang="en-US" b="1" dirty="0"/>
                        <a:t>City</a:t>
                      </a:r>
                    </a:p>
                  </a:txBody>
                  <a:tcPr anchor="ctr"/>
                </a:tc>
                <a:extLst>
                  <a:ext uri="{0D108BD9-81ED-4DB2-BD59-A6C34878D82A}">
                    <a16:rowId xmlns:a16="http://schemas.microsoft.com/office/drawing/2014/main" val="3925078690"/>
                  </a:ext>
                </a:extLst>
              </a:tr>
              <a:tr h="0">
                <a:tc>
                  <a:txBody>
                    <a:bodyPr/>
                    <a:lstStyle/>
                    <a:p>
                      <a:pPr>
                        <a:buNone/>
                      </a:pPr>
                      <a:r>
                        <a:rPr lang="en-US"/>
                        <a:t>1001</a:t>
                      </a:r>
                    </a:p>
                  </a:txBody>
                  <a:tcPr anchor="ctr"/>
                </a:tc>
                <a:tc>
                  <a:txBody>
                    <a:bodyPr/>
                    <a:lstStyle/>
                    <a:p>
                      <a:pPr>
                        <a:buNone/>
                      </a:pPr>
                      <a:r>
                        <a:rPr lang="en-US"/>
                        <a:t>Priya</a:t>
                      </a:r>
                    </a:p>
                  </a:txBody>
                  <a:tcPr anchor="ctr"/>
                </a:tc>
                <a:tc>
                  <a:txBody>
                    <a:bodyPr/>
                    <a:lstStyle/>
                    <a:p>
                      <a:pPr>
                        <a:buNone/>
                      </a:pPr>
                      <a:r>
                        <a:rPr lang="en-US" dirty="0"/>
                        <a:t>Pune</a:t>
                      </a:r>
                    </a:p>
                  </a:txBody>
                  <a:tcPr anchor="ctr"/>
                </a:tc>
                <a:extLst>
                  <a:ext uri="{0D108BD9-81ED-4DB2-BD59-A6C34878D82A}">
                    <a16:rowId xmlns:a16="http://schemas.microsoft.com/office/drawing/2014/main" val="170795961"/>
                  </a:ext>
                </a:extLst>
              </a:tr>
            </a:tbl>
          </a:graphicData>
        </a:graphic>
      </p:graphicFrame>
      <p:graphicFrame>
        <p:nvGraphicFramePr>
          <p:cNvPr id="5" name="Table 4">
            <a:extLst>
              <a:ext uri="{FF2B5EF4-FFF2-40B4-BE49-F238E27FC236}">
                <a16:creationId xmlns:a16="http://schemas.microsoft.com/office/drawing/2014/main" id="{5B4B513D-F7A4-AFA6-36BC-3D4FD8EA817D}"/>
              </a:ext>
            </a:extLst>
          </p:cNvPr>
          <p:cNvGraphicFramePr>
            <a:graphicFrameLocks noGrp="1"/>
          </p:cNvGraphicFramePr>
          <p:nvPr/>
        </p:nvGraphicFramePr>
        <p:xfrm>
          <a:off x="671967" y="3539688"/>
          <a:ext cx="10515600" cy="731520"/>
        </p:xfrm>
        <a:graphic>
          <a:graphicData uri="http://schemas.openxmlformats.org/drawingml/2006/table">
            <a:tbl>
              <a:tblPr>
                <a:tableStyleId>{3C2FFA5D-87B4-456A-9821-1D502468CF0F}</a:tableStyleId>
              </a:tblPr>
              <a:tblGrid>
                <a:gridCol w="2103120">
                  <a:extLst>
                    <a:ext uri="{9D8B030D-6E8A-4147-A177-3AD203B41FA5}">
                      <a16:colId xmlns:a16="http://schemas.microsoft.com/office/drawing/2014/main" val="469538825"/>
                    </a:ext>
                  </a:extLst>
                </a:gridCol>
                <a:gridCol w="2103120">
                  <a:extLst>
                    <a:ext uri="{9D8B030D-6E8A-4147-A177-3AD203B41FA5}">
                      <a16:colId xmlns:a16="http://schemas.microsoft.com/office/drawing/2014/main" val="2604198182"/>
                    </a:ext>
                  </a:extLst>
                </a:gridCol>
                <a:gridCol w="2103120">
                  <a:extLst>
                    <a:ext uri="{9D8B030D-6E8A-4147-A177-3AD203B41FA5}">
                      <a16:colId xmlns:a16="http://schemas.microsoft.com/office/drawing/2014/main" val="1516866637"/>
                    </a:ext>
                  </a:extLst>
                </a:gridCol>
                <a:gridCol w="2103120">
                  <a:extLst>
                    <a:ext uri="{9D8B030D-6E8A-4147-A177-3AD203B41FA5}">
                      <a16:colId xmlns:a16="http://schemas.microsoft.com/office/drawing/2014/main" val="1751713457"/>
                    </a:ext>
                  </a:extLst>
                </a:gridCol>
                <a:gridCol w="2103120">
                  <a:extLst>
                    <a:ext uri="{9D8B030D-6E8A-4147-A177-3AD203B41FA5}">
                      <a16:colId xmlns:a16="http://schemas.microsoft.com/office/drawing/2014/main" val="523934990"/>
                    </a:ext>
                  </a:extLst>
                </a:gridCol>
              </a:tblGrid>
              <a:tr h="0">
                <a:tc>
                  <a:txBody>
                    <a:bodyPr/>
                    <a:lstStyle/>
                    <a:p>
                      <a:pPr>
                        <a:buNone/>
                      </a:pPr>
                      <a:r>
                        <a:rPr lang="en-US" b="1"/>
                        <a:t>CustomerID</a:t>
                      </a:r>
                    </a:p>
                  </a:txBody>
                  <a:tcPr anchor="ctr"/>
                </a:tc>
                <a:tc>
                  <a:txBody>
                    <a:bodyPr/>
                    <a:lstStyle/>
                    <a:p>
                      <a:pPr>
                        <a:buNone/>
                      </a:pPr>
                      <a:r>
                        <a:rPr lang="en-US" b="1"/>
                        <a:t>Name</a:t>
                      </a:r>
                    </a:p>
                  </a:txBody>
                  <a:tcPr anchor="ctr"/>
                </a:tc>
                <a:tc>
                  <a:txBody>
                    <a:bodyPr/>
                    <a:lstStyle/>
                    <a:p>
                      <a:pPr>
                        <a:buNone/>
                      </a:pPr>
                      <a:r>
                        <a:rPr lang="en-US" b="1"/>
                        <a:t>City</a:t>
                      </a:r>
                    </a:p>
                  </a:txBody>
                  <a:tcPr anchor="ctr"/>
                </a:tc>
                <a:tc>
                  <a:txBody>
                    <a:bodyPr/>
                    <a:lstStyle/>
                    <a:p>
                      <a:pPr>
                        <a:buNone/>
                      </a:pPr>
                      <a:r>
                        <a:rPr lang="en-US" b="1"/>
                        <a:t>StartDate</a:t>
                      </a:r>
                    </a:p>
                  </a:txBody>
                  <a:tcPr anchor="ctr"/>
                </a:tc>
                <a:tc>
                  <a:txBody>
                    <a:bodyPr/>
                    <a:lstStyle/>
                    <a:p>
                      <a:pPr>
                        <a:buNone/>
                      </a:pPr>
                      <a:r>
                        <a:rPr lang="en-US" b="1" dirty="0" err="1"/>
                        <a:t>EndDate</a:t>
                      </a:r>
                      <a:endParaRPr lang="en-US" b="1" dirty="0"/>
                    </a:p>
                  </a:txBody>
                  <a:tcPr anchor="ctr"/>
                </a:tc>
                <a:extLst>
                  <a:ext uri="{0D108BD9-81ED-4DB2-BD59-A6C34878D82A}">
                    <a16:rowId xmlns:a16="http://schemas.microsoft.com/office/drawing/2014/main" val="3571073472"/>
                  </a:ext>
                </a:extLst>
              </a:tr>
              <a:tr h="0">
                <a:tc>
                  <a:txBody>
                    <a:bodyPr/>
                    <a:lstStyle/>
                    <a:p>
                      <a:pPr>
                        <a:buNone/>
                      </a:pPr>
                      <a:r>
                        <a:rPr lang="en-US"/>
                        <a:t>1001</a:t>
                      </a:r>
                    </a:p>
                  </a:txBody>
                  <a:tcPr anchor="ctr"/>
                </a:tc>
                <a:tc>
                  <a:txBody>
                    <a:bodyPr/>
                    <a:lstStyle/>
                    <a:p>
                      <a:pPr>
                        <a:buNone/>
                      </a:pPr>
                      <a:r>
                        <a:rPr lang="en-US"/>
                        <a:t>Priya</a:t>
                      </a:r>
                    </a:p>
                  </a:txBody>
                  <a:tcPr anchor="ctr"/>
                </a:tc>
                <a:tc>
                  <a:txBody>
                    <a:bodyPr/>
                    <a:lstStyle/>
                    <a:p>
                      <a:pPr>
                        <a:buNone/>
                      </a:pPr>
                      <a:r>
                        <a:rPr lang="en-US"/>
                        <a:t>Mumbai</a:t>
                      </a:r>
                    </a:p>
                  </a:txBody>
                  <a:tcPr anchor="ctr"/>
                </a:tc>
                <a:tc>
                  <a:txBody>
                    <a:bodyPr/>
                    <a:lstStyle/>
                    <a:p>
                      <a:pPr>
                        <a:buNone/>
                      </a:pPr>
                      <a:r>
                        <a:rPr lang="en-US"/>
                        <a:t>2019-01-01</a:t>
                      </a:r>
                    </a:p>
                  </a:txBody>
                  <a:tcPr anchor="ctr"/>
                </a:tc>
                <a:tc>
                  <a:txBody>
                    <a:bodyPr/>
                    <a:lstStyle/>
                    <a:p>
                      <a:pPr>
                        <a:buNone/>
                      </a:pPr>
                      <a:r>
                        <a:rPr lang="en-US" dirty="0"/>
                        <a:t>2020-12-31</a:t>
                      </a:r>
                    </a:p>
                  </a:txBody>
                  <a:tcPr anchor="ctr"/>
                </a:tc>
                <a:extLst>
                  <a:ext uri="{0D108BD9-81ED-4DB2-BD59-A6C34878D82A}">
                    <a16:rowId xmlns:a16="http://schemas.microsoft.com/office/drawing/2014/main" val="3878929227"/>
                  </a:ext>
                </a:extLst>
              </a:tr>
            </a:tbl>
          </a:graphicData>
        </a:graphic>
      </p:graphicFrame>
      <p:sp>
        <p:nvSpPr>
          <p:cNvPr id="6" name="Rectangle 1">
            <a:extLst>
              <a:ext uri="{FF2B5EF4-FFF2-40B4-BE49-F238E27FC236}">
                <a16:creationId xmlns:a16="http://schemas.microsoft.com/office/drawing/2014/main" id="{DA7B23D5-24A3-D666-6EEC-99CCEC68D891}"/>
              </a:ext>
            </a:extLst>
          </p:cNvPr>
          <p:cNvSpPr>
            <a:spLocks noChangeArrowheads="1"/>
          </p:cNvSpPr>
          <p:nvPr/>
        </p:nvSpPr>
        <p:spPr bwMode="auto">
          <a:xfrm>
            <a:off x="546148" y="1087575"/>
            <a:ext cx="985332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Keeps the current data in the main dimension table and historical data in a separate “history” 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Dim_Customer</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(Current):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Dim_Customer_History</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to Use:</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history exists but you want to keep the main dimension lightweight.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for current lookups</a:t>
            </a:r>
          </a:p>
          <a:p>
            <a:pPr marL="285750"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join with another table for full history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118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F73A-63E1-74C1-61CB-7C087C7D4506}"/>
              </a:ext>
            </a:extLst>
          </p:cNvPr>
          <p:cNvSpPr>
            <a:spLocks noGrp="1"/>
          </p:cNvSpPr>
          <p:nvPr>
            <p:ph type="title"/>
          </p:nvPr>
        </p:nvSpPr>
        <p:spPr>
          <a:xfrm>
            <a:off x="546150" y="731185"/>
            <a:ext cx="10807652" cy="440488"/>
          </a:xfrm>
        </p:spPr>
        <p:txBody>
          <a:bodyPr>
            <a:normAutofit fontScale="90000"/>
          </a:bodyPr>
          <a:lstStyle/>
          <a:p>
            <a:r>
              <a:rPr lang="en-US" altLang="en-US" sz="3200" dirty="0">
                <a:latin typeface="Arial" panose="020B0604020202020204" pitchFamily="34" charset="0"/>
              </a:rPr>
              <a:t>SCD Type 6 – Hybrid (Combination of 1 + 2 + 3)</a:t>
            </a:r>
            <a:br>
              <a:rPr lang="en-US" altLang="en-US" sz="3200" dirty="0">
                <a:latin typeface="Arial" panose="020B0604020202020204" pitchFamily="34" charset="0"/>
              </a:rPr>
            </a:br>
            <a:endParaRPr lang="en-US" dirty="0"/>
          </a:p>
        </p:txBody>
      </p:sp>
      <p:graphicFrame>
        <p:nvGraphicFramePr>
          <p:cNvPr id="4" name="Table 3">
            <a:extLst>
              <a:ext uri="{FF2B5EF4-FFF2-40B4-BE49-F238E27FC236}">
                <a16:creationId xmlns:a16="http://schemas.microsoft.com/office/drawing/2014/main" id="{EFB95236-C23F-546C-4CF1-2520D838F1B2}"/>
              </a:ext>
            </a:extLst>
          </p:cNvPr>
          <p:cNvGraphicFramePr>
            <a:graphicFrameLocks noGrp="1"/>
          </p:cNvGraphicFramePr>
          <p:nvPr/>
        </p:nvGraphicFramePr>
        <p:xfrm>
          <a:off x="546150" y="2336550"/>
          <a:ext cx="10515603" cy="1097280"/>
        </p:xfrm>
        <a:graphic>
          <a:graphicData uri="http://schemas.openxmlformats.org/drawingml/2006/table">
            <a:tbl>
              <a:tblPr>
                <a:tableStyleId>{3C2FFA5D-87B4-456A-9821-1D502468CF0F}</a:tableStyleId>
              </a:tblPr>
              <a:tblGrid>
                <a:gridCol w="1502229">
                  <a:extLst>
                    <a:ext uri="{9D8B030D-6E8A-4147-A177-3AD203B41FA5}">
                      <a16:colId xmlns:a16="http://schemas.microsoft.com/office/drawing/2014/main" val="209725596"/>
                    </a:ext>
                  </a:extLst>
                </a:gridCol>
                <a:gridCol w="1502229">
                  <a:extLst>
                    <a:ext uri="{9D8B030D-6E8A-4147-A177-3AD203B41FA5}">
                      <a16:colId xmlns:a16="http://schemas.microsoft.com/office/drawing/2014/main" val="4023988402"/>
                    </a:ext>
                  </a:extLst>
                </a:gridCol>
                <a:gridCol w="1502229">
                  <a:extLst>
                    <a:ext uri="{9D8B030D-6E8A-4147-A177-3AD203B41FA5}">
                      <a16:colId xmlns:a16="http://schemas.microsoft.com/office/drawing/2014/main" val="1249886109"/>
                    </a:ext>
                  </a:extLst>
                </a:gridCol>
                <a:gridCol w="1502229">
                  <a:extLst>
                    <a:ext uri="{9D8B030D-6E8A-4147-A177-3AD203B41FA5}">
                      <a16:colId xmlns:a16="http://schemas.microsoft.com/office/drawing/2014/main" val="2356872084"/>
                    </a:ext>
                  </a:extLst>
                </a:gridCol>
                <a:gridCol w="1502229">
                  <a:extLst>
                    <a:ext uri="{9D8B030D-6E8A-4147-A177-3AD203B41FA5}">
                      <a16:colId xmlns:a16="http://schemas.microsoft.com/office/drawing/2014/main" val="2848367911"/>
                    </a:ext>
                  </a:extLst>
                </a:gridCol>
                <a:gridCol w="1502229">
                  <a:extLst>
                    <a:ext uri="{9D8B030D-6E8A-4147-A177-3AD203B41FA5}">
                      <a16:colId xmlns:a16="http://schemas.microsoft.com/office/drawing/2014/main" val="1144022790"/>
                    </a:ext>
                  </a:extLst>
                </a:gridCol>
                <a:gridCol w="1502229">
                  <a:extLst>
                    <a:ext uri="{9D8B030D-6E8A-4147-A177-3AD203B41FA5}">
                      <a16:colId xmlns:a16="http://schemas.microsoft.com/office/drawing/2014/main" val="2232173999"/>
                    </a:ext>
                  </a:extLst>
                </a:gridCol>
              </a:tblGrid>
              <a:tr h="365760">
                <a:tc>
                  <a:txBody>
                    <a:bodyPr/>
                    <a:lstStyle/>
                    <a:p>
                      <a:pPr>
                        <a:buNone/>
                      </a:pPr>
                      <a:r>
                        <a:rPr lang="en-US" sz="1800" b="1"/>
                        <a:t>CustKey</a:t>
                      </a:r>
                    </a:p>
                  </a:txBody>
                  <a:tcPr anchor="ctr"/>
                </a:tc>
                <a:tc>
                  <a:txBody>
                    <a:bodyPr/>
                    <a:lstStyle/>
                    <a:p>
                      <a:pPr>
                        <a:buNone/>
                      </a:pPr>
                      <a:r>
                        <a:rPr lang="en-US" sz="1800" b="1"/>
                        <a:t>CustID</a:t>
                      </a:r>
                    </a:p>
                  </a:txBody>
                  <a:tcPr anchor="ctr"/>
                </a:tc>
                <a:tc>
                  <a:txBody>
                    <a:bodyPr/>
                    <a:lstStyle/>
                    <a:p>
                      <a:pPr>
                        <a:buNone/>
                      </a:pPr>
                      <a:r>
                        <a:rPr lang="en-US" sz="1800" b="1"/>
                        <a:t>CurrentCity</a:t>
                      </a:r>
                    </a:p>
                  </a:txBody>
                  <a:tcPr anchor="ctr"/>
                </a:tc>
                <a:tc>
                  <a:txBody>
                    <a:bodyPr/>
                    <a:lstStyle/>
                    <a:p>
                      <a:pPr>
                        <a:buNone/>
                      </a:pPr>
                      <a:r>
                        <a:rPr lang="en-US" sz="1800" b="1"/>
                        <a:t>PrevCity</a:t>
                      </a:r>
                    </a:p>
                  </a:txBody>
                  <a:tcPr anchor="ctr"/>
                </a:tc>
                <a:tc>
                  <a:txBody>
                    <a:bodyPr/>
                    <a:lstStyle/>
                    <a:p>
                      <a:pPr>
                        <a:buNone/>
                      </a:pPr>
                      <a:r>
                        <a:rPr lang="en-US" sz="1800" b="1"/>
                        <a:t>StartDate</a:t>
                      </a:r>
                    </a:p>
                  </a:txBody>
                  <a:tcPr anchor="ctr"/>
                </a:tc>
                <a:tc>
                  <a:txBody>
                    <a:bodyPr/>
                    <a:lstStyle/>
                    <a:p>
                      <a:pPr>
                        <a:buNone/>
                      </a:pPr>
                      <a:r>
                        <a:rPr lang="en-US" sz="1800" b="1"/>
                        <a:t>EndDate</a:t>
                      </a:r>
                    </a:p>
                  </a:txBody>
                  <a:tcPr anchor="ctr"/>
                </a:tc>
                <a:tc>
                  <a:txBody>
                    <a:bodyPr/>
                    <a:lstStyle/>
                    <a:p>
                      <a:pPr>
                        <a:buNone/>
                      </a:pPr>
                      <a:r>
                        <a:rPr lang="en-US" sz="1800" b="1" dirty="0" err="1"/>
                        <a:t>IsCurrent</a:t>
                      </a:r>
                      <a:endParaRPr lang="en-US" sz="1800" b="1" dirty="0"/>
                    </a:p>
                  </a:txBody>
                  <a:tcPr anchor="ctr"/>
                </a:tc>
                <a:extLst>
                  <a:ext uri="{0D108BD9-81ED-4DB2-BD59-A6C34878D82A}">
                    <a16:rowId xmlns:a16="http://schemas.microsoft.com/office/drawing/2014/main" val="4151156496"/>
                  </a:ext>
                </a:extLst>
              </a:tr>
              <a:tr h="365760">
                <a:tc>
                  <a:txBody>
                    <a:bodyPr/>
                    <a:lstStyle/>
                    <a:p>
                      <a:pPr>
                        <a:buNone/>
                      </a:pPr>
                      <a:r>
                        <a:rPr lang="en-US" sz="1800"/>
                        <a:t>101</a:t>
                      </a:r>
                    </a:p>
                  </a:txBody>
                  <a:tcPr anchor="ctr"/>
                </a:tc>
                <a:tc>
                  <a:txBody>
                    <a:bodyPr/>
                    <a:lstStyle/>
                    <a:p>
                      <a:pPr>
                        <a:buNone/>
                      </a:pPr>
                      <a:r>
                        <a:rPr lang="en-US" sz="1800"/>
                        <a:t>C001</a:t>
                      </a:r>
                    </a:p>
                  </a:txBody>
                  <a:tcPr anchor="ctr"/>
                </a:tc>
                <a:tc>
                  <a:txBody>
                    <a:bodyPr/>
                    <a:lstStyle/>
                    <a:p>
                      <a:pPr>
                        <a:buNone/>
                      </a:pPr>
                      <a:r>
                        <a:rPr lang="en-US" sz="1800"/>
                        <a:t>Mumbai</a:t>
                      </a:r>
                    </a:p>
                  </a:txBody>
                  <a:tcPr anchor="ctr"/>
                </a:tc>
                <a:tc>
                  <a:txBody>
                    <a:bodyPr/>
                    <a:lstStyle/>
                    <a:p>
                      <a:pPr>
                        <a:buNone/>
                      </a:pPr>
                      <a:r>
                        <a:rPr lang="en-US" sz="1800"/>
                        <a:t>NULL</a:t>
                      </a:r>
                    </a:p>
                  </a:txBody>
                  <a:tcPr anchor="ctr"/>
                </a:tc>
                <a:tc>
                  <a:txBody>
                    <a:bodyPr/>
                    <a:lstStyle/>
                    <a:p>
                      <a:pPr>
                        <a:buNone/>
                      </a:pPr>
                      <a:r>
                        <a:rPr lang="en-US" sz="1800"/>
                        <a:t>2019-01-01</a:t>
                      </a:r>
                    </a:p>
                  </a:txBody>
                  <a:tcPr anchor="ctr"/>
                </a:tc>
                <a:tc>
                  <a:txBody>
                    <a:bodyPr/>
                    <a:lstStyle/>
                    <a:p>
                      <a:pPr>
                        <a:buNone/>
                      </a:pPr>
                      <a:r>
                        <a:rPr lang="en-US" sz="1800"/>
                        <a:t>2021-02-01</a:t>
                      </a:r>
                    </a:p>
                  </a:txBody>
                  <a:tcPr anchor="ctr"/>
                </a:tc>
                <a:tc>
                  <a:txBody>
                    <a:bodyPr/>
                    <a:lstStyle/>
                    <a:p>
                      <a:pPr>
                        <a:buNone/>
                      </a:pPr>
                      <a:r>
                        <a:rPr lang="en-US" sz="1800"/>
                        <a:t>N</a:t>
                      </a:r>
                    </a:p>
                  </a:txBody>
                  <a:tcPr anchor="ctr"/>
                </a:tc>
                <a:extLst>
                  <a:ext uri="{0D108BD9-81ED-4DB2-BD59-A6C34878D82A}">
                    <a16:rowId xmlns:a16="http://schemas.microsoft.com/office/drawing/2014/main" val="1643478379"/>
                  </a:ext>
                </a:extLst>
              </a:tr>
              <a:tr h="365760">
                <a:tc>
                  <a:txBody>
                    <a:bodyPr/>
                    <a:lstStyle/>
                    <a:p>
                      <a:pPr>
                        <a:buNone/>
                      </a:pPr>
                      <a:r>
                        <a:rPr lang="en-US" sz="1800"/>
                        <a:t>102</a:t>
                      </a:r>
                    </a:p>
                  </a:txBody>
                  <a:tcPr anchor="ctr"/>
                </a:tc>
                <a:tc>
                  <a:txBody>
                    <a:bodyPr/>
                    <a:lstStyle/>
                    <a:p>
                      <a:pPr>
                        <a:buNone/>
                      </a:pPr>
                      <a:r>
                        <a:rPr lang="en-US" sz="1800"/>
                        <a:t>C001</a:t>
                      </a:r>
                    </a:p>
                  </a:txBody>
                  <a:tcPr anchor="ctr"/>
                </a:tc>
                <a:tc>
                  <a:txBody>
                    <a:bodyPr/>
                    <a:lstStyle/>
                    <a:p>
                      <a:pPr>
                        <a:buNone/>
                      </a:pPr>
                      <a:r>
                        <a:rPr lang="en-US" sz="1800"/>
                        <a:t>Pune</a:t>
                      </a:r>
                    </a:p>
                  </a:txBody>
                  <a:tcPr anchor="ctr"/>
                </a:tc>
                <a:tc>
                  <a:txBody>
                    <a:bodyPr/>
                    <a:lstStyle/>
                    <a:p>
                      <a:pPr>
                        <a:buNone/>
                      </a:pPr>
                      <a:r>
                        <a:rPr lang="en-US" sz="1800"/>
                        <a:t>Mumbai</a:t>
                      </a:r>
                    </a:p>
                  </a:txBody>
                  <a:tcPr anchor="ctr"/>
                </a:tc>
                <a:tc>
                  <a:txBody>
                    <a:bodyPr/>
                    <a:lstStyle/>
                    <a:p>
                      <a:pPr>
                        <a:buNone/>
                      </a:pPr>
                      <a:r>
                        <a:rPr lang="en-US" sz="1800"/>
                        <a:t>2021-02-02</a:t>
                      </a:r>
                    </a:p>
                  </a:txBody>
                  <a:tcPr anchor="ctr"/>
                </a:tc>
                <a:tc>
                  <a:txBody>
                    <a:bodyPr/>
                    <a:lstStyle/>
                    <a:p>
                      <a:pPr>
                        <a:buNone/>
                      </a:pPr>
                      <a:r>
                        <a:rPr lang="en-US" sz="1800"/>
                        <a:t>9999-12-31</a:t>
                      </a:r>
                    </a:p>
                  </a:txBody>
                  <a:tcPr anchor="ctr"/>
                </a:tc>
                <a:tc>
                  <a:txBody>
                    <a:bodyPr/>
                    <a:lstStyle/>
                    <a:p>
                      <a:pPr>
                        <a:buNone/>
                      </a:pPr>
                      <a:r>
                        <a:rPr lang="en-US" sz="1800" dirty="0"/>
                        <a:t>Y</a:t>
                      </a:r>
                    </a:p>
                  </a:txBody>
                  <a:tcPr anchor="ctr"/>
                </a:tc>
                <a:extLst>
                  <a:ext uri="{0D108BD9-81ED-4DB2-BD59-A6C34878D82A}">
                    <a16:rowId xmlns:a16="http://schemas.microsoft.com/office/drawing/2014/main" val="1610099694"/>
                  </a:ext>
                </a:extLst>
              </a:tr>
            </a:tbl>
          </a:graphicData>
        </a:graphic>
      </p:graphicFrame>
      <p:sp>
        <p:nvSpPr>
          <p:cNvPr id="5" name="Rectangle 1">
            <a:extLst>
              <a:ext uri="{FF2B5EF4-FFF2-40B4-BE49-F238E27FC236}">
                <a16:creationId xmlns:a16="http://schemas.microsoft.com/office/drawing/2014/main" id="{E1D34500-5739-35FB-EB53-9F6A1502C67C}"/>
              </a:ext>
            </a:extLst>
          </p:cNvPr>
          <p:cNvSpPr>
            <a:spLocks noChangeArrowheads="1"/>
          </p:cNvSpPr>
          <p:nvPr/>
        </p:nvSpPr>
        <p:spPr bwMode="auto">
          <a:xfrm>
            <a:off x="449225" y="1171673"/>
            <a:ext cx="998131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Combines Type 1, 2, and 3 — stores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value in same row</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(Type 1), keeps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 history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via new rows (Type 2), and may include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previous value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(Type 3).</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ETL Logic:</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new row when change happens (Type 2).</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Keep latest and previous values in columns (Type 3).</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Update current value directly (Type 1).</a:t>
            </a:r>
          </a:p>
          <a:p>
            <a:pPr marL="742950" lvl="1" indent="-285750" eaLnBrk="0" fontAlgn="base" hangingPunct="0">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to Use: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both full history and comparison of last change are required.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8625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5DBB10-2080-5746-8D95-B85AAFEC29E6}"/>
              </a:ext>
            </a:extLst>
          </p:cNvPr>
          <p:cNvSpPr>
            <a:spLocks noGrp="1"/>
          </p:cNvSpPr>
          <p:nvPr>
            <p:ph type="title"/>
          </p:nvPr>
        </p:nvSpPr>
        <p:spPr>
          <a:xfrm>
            <a:off x="2042205" y="2311375"/>
            <a:ext cx="7711756" cy="732869"/>
          </a:xfrm>
        </p:spPr>
        <p:txBody>
          <a:bodyPr>
            <a:normAutofit/>
          </a:bodyPr>
          <a:lstStyle/>
          <a:p>
            <a:pPr algn="l"/>
            <a:r>
              <a:rPr lang="en-US" dirty="0">
                <a:latin typeface="Times New Roman" panose="02020603050405020304" pitchFamily="18" charset="0"/>
                <a:cs typeface="Times New Roman" panose="02020603050405020304" pitchFamily="18" charset="0"/>
              </a:rPr>
              <a:t>Fast changing Dimensions</a:t>
            </a:r>
          </a:p>
        </p:txBody>
      </p:sp>
    </p:spTree>
    <p:extLst>
      <p:ext uri="{BB962C8B-B14F-4D97-AF65-F5344CB8AC3E}">
        <p14:creationId xmlns:p14="http://schemas.microsoft.com/office/powerpoint/2010/main" val="1695593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26373-C1C0-3151-F1A9-19E200BD4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9E485-838F-FDA1-2CF5-AEDD28BC9BB2}"/>
              </a:ext>
            </a:extLst>
          </p:cNvPr>
          <p:cNvSpPr>
            <a:spLocks noGrp="1"/>
          </p:cNvSpPr>
          <p:nvPr>
            <p:ph type="title"/>
          </p:nvPr>
        </p:nvSpPr>
        <p:spPr>
          <a:xfrm>
            <a:off x="643570" y="569181"/>
            <a:ext cx="10904859" cy="440488"/>
          </a:xfrm>
        </p:spPr>
        <p:txBody>
          <a:bodyPr/>
          <a:lstStyle/>
          <a:p>
            <a:r>
              <a:rPr lang="en-US" sz="2800" dirty="0">
                <a:latin typeface="Times New Roman" panose="02020603050405020304" pitchFamily="18" charset="0"/>
                <a:cs typeface="Times New Roman" panose="02020603050405020304" pitchFamily="18" charset="0"/>
              </a:rPr>
              <a:t>Introduction to Fast Changing Dimensions (FCD)</a:t>
            </a:r>
          </a:p>
        </p:txBody>
      </p:sp>
      <p:sp>
        <p:nvSpPr>
          <p:cNvPr id="4" name="TextBox 3">
            <a:extLst>
              <a:ext uri="{FF2B5EF4-FFF2-40B4-BE49-F238E27FC236}">
                <a16:creationId xmlns:a16="http://schemas.microsoft.com/office/drawing/2014/main" id="{9D45F9AE-445B-A502-EDFA-288431915061}"/>
              </a:ext>
            </a:extLst>
          </p:cNvPr>
          <p:cNvSpPr txBox="1"/>
          <p:nvPr/>
        </p:nvSpPr>
        <p:spPr>
          <a:xfrm>
            <a:off x="481779" y="1098102"/>
            <a:ext cx="11228439" cy="5078313"/>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Fast Changing Dimension (FCD) refers to a dimension where certain attributes change very frequently, even daily or hourly.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Applying standard Slowly Changing Dimension (SCD) techniques (like Type 2) can cause performance, storage, and maintenance issues because of too many versioned rows.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Purpose: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efficiently manage attributes that change rapidly without bloating the main dimension table.</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Customer’s credit score, loyalty points, or social media preferences can change very frequently.</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Problem with SCD Type 2:</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attribute change creates a </a:t>
            </a:r>
            <a:r>
              <a:rPr lang="en-US" b="1" dirty="0">
                <a:latin typeface="Times New Roman" panose="02020603050405020304" pitchFamily="18" charset="0"/>
                <a:cs typeface="Times New Roman" panose="02020603050405020304" pitchFamily="18" charset="0"/>
              </a:rPr>
              <a:t>new record</a:t>
            </a:r>
            <a:r>
              <a:rPr lang="en-US" dirty="0">
                <a:latin typeface="Times New Roman" panose="02020603050405020304" pitchFamily="18" charset="0"/>
                <a:cs typeface="Times New Roman" panose="02020603050405020304" pitchFamily="18" charset="0"/>
              </a:rPr>
              <a:t> in the dimension.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fast-changing data, this leads to:</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Huge table size.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Longer ETL processing times.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Slower query performance.</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Impact Example: </a:t>
            </a:r>
            <a:r>
              <a:rPr lang="en-US" dirty="0">
                <a:latin typeface="Times New Roman" panose="02020603050405020304" pitchFamily="18" charset="0"/>
                <a:cs typeface="Times New Roman" panose="02020603050405020304" pitchFamily="18" charset="0"/>
              </a:rPr>
              <a:t>If a customer’s credit score changes every week, SCD Type 2 would insert a new record every week  resulting in thousands of rows for the same customer over time.</a:t>
            </a:r>
          </a:p>
        </p:txBody>
      </p:sp>
    </p:spTree>
    <p:extLst>
      <p:ext uri="{BB962C8B-B14F-4D97-AF65-F5344CB8AC3E}">
        <p14:creationId xmlns:p14="http://schemas.microsoft.com/office/powerpoint/2010/main" val="1711713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D0A26-326E-D931-0973-08513ACA2385}"/>
              </a:ext>
            </a:extLst>
          </p:cNvPr>
          <p:cNvSpPr>
            <a:spLocks noGrp="1"/>
          </p:cNvSpPr>
          <p:nvPr>
            <p:ph type="title"/>
          </p:nvPr>
        </p:nvSpPr>
        <p:spPr>
          <a:xfrm>
            <a:off x="567963" y="714047"/>
            <a:ext cx="10807652" cy="440488"/>
          </a:xfrm>
        </p:spPr>
        <p:txBody>
          <a:bodyPr>
            <a:normAutofit fontScale="90000"/>
          </a:bodyPr>
          <a:lstStyle/>
          <a:p>
            <a:r>
              <a:rPr lang="en-US" altLang="en-US" sz="3200" dirty="0">
                <a:latin typeface="Times New Roman" panose="02020603050405020304" pitchFamily="18" charset="0"/>
                <a:cs typeface="Times New Roman" panose="02020603050405020304" pitchFamily="18" charset="0"/>
              </a:rPr>
              <a:t>Common Scenarios of Fast Changing Dimensions</a:t>
            </a:r>
            <a:br>
              <a:rPr lang="en-US" altLang="en-US" sz="32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EA0435B-1669-CEA0-D939-2DB879A33A2E}"/>
              </a:ext>
            </a:extLst>
          </p:cNvPr>
          <p:cNvGraphicFramePr>
            <a:graphicFrameLocks noGrp="1"/>
          </p:cNvGraphicFramePr>
          <p:nvPr/>
        </p:nvGraphicFramePr>
        <p:xfrm>
          <a:off x="206477" y="2029094"/>
          <a:ext cx="11749549" cy="2926080"/>
        </p:xfrm>
        <a:graphic>
          <a:graphicData uri="http://schemas.openxmlformats.org/drawingml/2006/table">
            <a:tbl>
              <a:tblPr>
                <a:tableStyleId>{3C2FFA5D-87B4-456A-9821-1D502468CF0F}</a:tableStyleId>
              </a:tblPr>
              <a:tblGrid>
                <a:gridCol w="2123768">
                  <a:extLst>
                    <a:ext uri="{9D8B030D-6E8A-4147-A177-3AD203B41FA5}">
                      <a16:colId xmlns:a16="http://schemas.microsoft.com/office/drawing/2014/main" val="185765405"/>
                    </a:ext>
                  </a:extLst>
                </a:gridCol>
                <a:gridCol w="3923071">
                  <a:extLst>
                    <a:ext uri="{9D8B030D-6E8A-4147-A177-3AD203B41FA5}">
                      <a16:colId xmlns:a16="http://schemas.microsoft.com/office/drawing/2014/main" val="234196800"/>
                    </a:ext>
                  </a:extLst>
                </a:gridCol>
                <a:gridCol w="5702710">
                  <a:extLst>
                    <a:ext uri="{9D8B030D-6E8A-4147-A177-3AD203B41FA5}">
                      <a16:colId xmlns:a16="http://schemas.microsoft.com/office/drawing/2014/main" val="3677458445"/>
                    </a:ext>
                  </a:extLst>
                </a:gridCol>
              </a:tblGrid>
              <a:tr h="0">
                <a:tc>
                  <a:txBody>
                    <a:bodyPr/>
                    <a:lstStyle/>
                    <a:p>
                      <a:pPr algn="ctr">
                        <a:buNone/>
                      </a:pPr>
                      <a:r>
                        <a:rPr lang="en-US" b="1"/>
                        <a:t>Entity</a:t>
                      </a:r>
                      <a:endParaRPr lang="en-US"/>
                    </a:p>
                  </a:txBody>
                  <a:tcPr anchor="ctr"/>
                </a:tc>
                <a:tc>
                  <a:txBody>
                    <a:bodyPr/>
                    <a:lstStyle/>
                    <a:p>
                      <a:pPr algn="ctr">
                        <a:buNone/>
                      </a:pPr>
                      <a:r>
                        <a:rPr lang="en-US" b="1" dirty="0"/>
                        <a:t>Rapidly Changing Attribute</a:t>
                      </a:r>
                      <a:endParaRPr lang="en-US" dirty="0"/>
                    </a:p>
                  </a:txBody>
                  <a:tcPr anchor="ctr"/>
                </a:tc>
                <a:tc>
                  <a:txBody>
                    <a:bodyPr/>
                    <a:lstStyle/>
                    <a:p>
                      <a:pPr algn="ctr">
                        <a:buNone/>
                      </a:pPr>
                      <a:r>
                        <a:rPr lang="en-US" b="1"/>
                        <a:t>Description</a:t>
                      </a:r>
                      <a:endParaRPr lang="en-US"/>
                    </a:p>
                  </a:txBody>
                  <a:tcPr anchor="ctr"/>
                </a:tc>
                <a:extLst>
                  <a:ext uri="{0D108BD9-81ED-4DB2-BD59-A6C34878D82A}">
                    <a16:rowId xmlns:a16="http://schemas.microsoft.com/office/drawing/2014/main" val="535158000"/>
                  </a:ext>
                </a:extLst>
              </a:tr>
              <a:tr h="0">
                <a:tc>
                  <a:txBody>
                    <a:bodyPr/>
                    <a:lstStyle/>
                    <a:p>
                      <a:pPr algn="ctr">
                        <a:buNone/>
                      </a:pPr>
                      <a:r>
                        <a:rPr lang="en-US" b="1"/>
                        <a:t>Customer</a:t>
                      </a:r>
                      <a:endParaRPr lang="en-US"/>
                    </a:p>
                  </a:txBody>
                  <a:tcPr anchor="ctr"/>
                </a:tc>
                <a:tc>
                  <a:txBody>
                    <a:bodyPr/>
                    <a:lstStyle/>
                    <a:p>
                      <a:pPr algn="ctr">
                        <a:buNone/>
                      </a:pPr>
                      <a:r>
                        <a:rPr lang="en-US"/>
                        <a:t>Credit Score, Loyalty Points</a:t>
                      </a:r>
                    </a:p>
                  </a:txBody>
                  <a:tcPr anchor="ctr"/>
                </a:tc>
                <a:tc>
                  <a:txBody>
                    <a:bodyPr/>
                    <a:lstStyle/>
                    <a:p>
                      <a:pPr algn="ctr">
                        <a:buNone/>
                      </a:pPr>
                      <a:r>
                        <a:rPr lang="en-US" dirty="0"/>
                        <a:t>These values are recalculated or updated frequently based on customer activity.</a:t>
                      </a:r>
                    </a:p>
                  </a:txBody>
                  <a:tcPr anchor="ctr"/>
                </a:tc>
                <a:extLst>
                  <a:ext uri="{0D108BD9-81ED-4DB2-BD59-A6C34878D82A}">
                    <a16:rowId xmlns:a16="http://schemas.microsoft.com/office/drawing/2014/main" val="89682300"/>
                  </a:ext>
                </a:extLst>
              </a:tr>
              <a:tr h="0">
                <a:tc>
                  <a:txBody>
                    <a:bodyPr/>
                    <a:lstStyle/>
                    <a:p>
                      <a:pPr algn="ctr">
                        <a:buNone/>
                      </a:pPr>
                      <a:r>
                        <a:rPr lang="en-US" b="1"/>
                        <a:t>Product</a:t>
                      </a:r>
                      <a:endParaRPr lang="en-US"/>
                    </a:p>
                  </a:txBody>
                  <a:tcPr anchor="ctr"/>
                </a:tc>
                <a:tc>
                  <a:txBody>
                    <a:bodyPr/>
                    <a:lstStyle/>
                    <a:p>
                      <a:pPr algn="ctr">
                        <a:buNone/>
                      </a:pPr>
                      <a:r>
                        <a:rPr lang="en-US" dirty="0"/>
                        <a:t>Price, Discount Rate</a:t>
                      </a:r>
                    </a:p>
                  </a:txBody>
                  <a:tcPr anchor="ctr"/>
                </a:tc>
                <a:tc>
                  <a:txBody>
                    <a:bodyPr/>
                    <a:lstStyle/>
                    <a:p>
                      <a:pPr algn="ctr">
                        <a:buNone/>
                      </a:pPr>
                      <a:r>
                        <a:rPr lang="en-US"/>
                        <a:t>Prices or discounts may change daily or even hourly in e-commerce platforms.</a:t>
                      </a:r>
                    </a:p>
                  </a:txBody>
                  <a:tcPr anchor="ctr"/>
                </a:tc>
                <a:extLst>
                  <a:ext uri="{0D108BD9-81ED-4DB2-BD59-A6C34878D82A}">
                    <a16:rowId xmlns:a16="http://schemas.microsoft.com/office/drawing/2014/main" val="3588061202"/>
                  </a:ext>
                </a:extLst>
              </a:tr>
              <a:tr h="0">
                <a:tc>
                  <a:txBody>
                    <a:bodyPr/>
                    <a:lstStyle/>
                    <a:p>
                      <a:pPr algn="ctr">
                        <a:buNone/>
                      </a:pPr>
                      <a:r>
                        <a:rPr lang="en-US" b="1" dirty="0"/>
                        <a:t>Employee</a:t>
                      </a:r>
                      <a:endParaRPr lang="en-US" dirty="0"/>
                    </a:p>
                  </a:txBody>
                  <a:tcPr anchor="ctr"/>
                </a:tc>
                <a:tc>
                  <a:txBody>
                    <a:bodyPr/>
                    <a:lstStyle/>
                    <a:p>
                      <a:pPr algn="ctr">
                        <a:buNone/>
                      </a:pPr>
                      <a:r>
                        <a:rPr lang="en-US" dirty="0"/>
                        <a:t>Performance Rating</a:t>
                      </a:r>
                    </a:p>
                  </a:txBody>
                  <a:tcPr anchor="ctr"/>
                </a:tc>
                <a:tc>
                  <a:txBody>
                    <a:bodyPr/>
                    <a:lstStyle/>
                    <a:p>
                      <a:pPr algn="ctr">
                        <a:buNone/>
                      </a:pPr>
                      <a:r>
                        <a:rPr lang="en-US"/>
                        <a:t>HR systems often update ratings or metrics regularly based on performance data.</a:t>
                      </a:r>
                    </a:p>
                  </a:txBody>
                  <a:tcPr anchor="ctr"/>
                </a:tc>
                <a:extLst>
                  <a:ext uri="{0D108BD9-81ED-4DB2-BD59-A6C34878D82A}">
                    <a16:rowId xmlns:a16="http://schemas.microsoft.com/office/drawing/2014/main" val="677103356"/>
                  </a:ext>
                </a:extLst>
              </a:tr>
              <a:tr h="0">
                <a:tc>
                  <a:txBody>
                    <a:bodyPr/>
                    <a:lstStyle/>
                    <a:p>
                      <a:pPr algn="ctr">
                        <a:buNone/>
                      </a:pPr>
                      <a:r>
                        <a:rPr lang="en-US" b="1"/>
                        <a:t>IoT Sensor</a:t>
                      </a:r>
                      <a:endParaRPr lang="en-US"/>
                    </a:p>
                  </a:txBody>
                  <a:tcPr anchor="ctr"/>
                </a:tc>
                <a:tc>
                  <a:txBody>
                    <a:bodyPr/>
                    <a:lstStyle/>
                    <a:p>
                      <a:pPr algn="ctr">
                        <a:buNone/>
                      </a:pPr>
                      <a:r>
                        <a:rPr lang="en-US"/>
                        <a:t>Status, Reading Level</a:t>
                      </a:r>
                    </a:p>
                  </a:txBody>
                  <a:tcPr anchor="ctr"/>
                </a:tc>
                <a:tc>
                  <a:txBody>
                    <a:bodyPr/>
                    <a:lstStyle/>
                    <a:p>
                      <a:pPr algn="ctr">
                        <a:buNone/>
                      </a:pPr>
                      <a:r>
                        <a:rPr lang="en-US" dirty="0"/>
                        <a:t>IoT devices send continuous updates that can change multiple times per minute.</a:t>
                      </a:r>
                    </a:p>
                  </a:txBody>
                  <a:tcPr anchor="ctr"/>
                </a:tc>
                <a:extLst>
                  <a:ext uri="{0D108BD9-81ED-4DB2-BD59-A6C34878D82A}">
                    <a16:rowId xmlns:a16="http://schemas.microsoft.com/office/drawing/2014/main" val="3592637341"/>
                  </a:ext>
                </a:extLst>
              </a:tr>
            </a:tbl>
          </a:graphicData>
        </a:graphic>
      </p:graphicFrame>
      <p:sp>
        <p:nvSpPr>
          <p:cNvPr id="9" name="Rectangle 5">
            <a:extLst>
              <a:ext uri="{FF2B5EF4-FFF2-40B4-BE49-F238E27FC236}">
                <a16:creationId xmlns:a16="http://schemas.microsoft.com/office/drawing/2014/main" id="{AC3ADBA5-E842-2B5A-D516-042D1A480033}"/>
              </a:ext>
            </a:extLst>
          </p:cNvPr>
          <p:cNvSpPr>
            <a:spLocks noChangeArrowheads="1"/>
          </p:cNvSpPr>
          <p:nvPr/>
        </p:nvSpPr>
        <p:spPr bwMode="auto">
          <a:xfrm>
            <a:off x="292970" y="5072627"/>
            <a:ext cx="1166305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Insight: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attributes within a dimension do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change at the same rate.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a few specific attributes tend to change rapidly  these are the ones that need special handling techniques in data modeling.</a:t>
            </a:r>
          </a:p>
        </p:txBody>
      </p:sp>
      <p:sp>
        <p:nvSpPr>
          <p:cNvPr id="11" name="TextBox 10">
            <a:extLst>
              <a:ext uri="{FF2B5EF4-FFF2-40B4-BE49-F238E27FC236}">
                <a16:creationId xmlns:a16="http://schemas.microsoft.com/office/drawing/2014/main" id="{D7834674-0732-D71D-BAA4-26DEAE811A76}"/>
              </a:ext>
            </a:extLst>
          </p:cNvPr>
          <p:cNvSpPr txBox="1"/>
          <p:nvPr/>
        </p:nvSpPr>
        <p:spPr>
          <a:xfrm>
            <a:off x="292970" y="1081774"/>
            <a:ext cx="11663056"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real-world systems, some attributes of dimension tables change very frequently. These are called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fast-changing attributes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handling them efficiently is important for maintaining accurate and optimized data models.</a:t>
            </a:r>
          </a:p>
          <a:p>
            <a:pPr lvl="0" eaLnBrk="0" fontAlgn="base" hangingPunct="0">
              <a:spcBef>
                <a:spcPct val="0"/>
              </a:spcBef>
              <a:spcAft>
                <a:spcPct val="0"/>
              </a:spcAft>
            </a:pPr>
            <a:r>
              <a:rPr lang="en-US" b="1" dirty="0">
                <a:latin typeface="Times New Roman" panose="02020603050405020304" pitchFamily="18" charset="0"/>
                <a:cs typeface="Times New Roman" panose="02020603050405020304" pitchFamily="18" charset="0"/>
              </a:rPr>
              <a:t>Typical examples:</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7564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4F5EF-0B35-71D1-E210-572E891E7578}"/>
              </a:ext>
            </a:extLst>
          </p:cNvPr>
          <p:cNvSpPr>
            <a:spLocks noGrp="1"/>
          </p:cNvSpPr>
          <p:nvPr>
            <p:ph type="title"/>
          </p:nvPr>
        </p:nvSpPr>
        <p:spPr>
          <a:xfrm>
            <a:off x="627264" y="719181"/>
            <a:ext cx="10807652" cy="440488"/>
          </a:xfrm>
        </p:spPr>
        <p:txBody>
          <a:bodyPr>
            <a:normAutofit fontScale="90000"/>
          </a:bodyPr>
          <a:lstStyle/>
          <a:p>
            <a:r>
              <a:rPr lang="en-US" dirty="0">
                <a:latin typeface="Times New Roman" panose="02020603050405020304" pitchFamily="18" charset="0"/>
                <a:cs typeface="Times New Roman" panose="02020603050405020304" pitchFamily="18" charset="0"/>
              </a:rPr>
              <a:t>Solutions for Handling Fast Changing Dimensions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E5A062D-EF04-9564-12F0-5A4920C7BEC2}"/>
              </a:ext>
            </a:extLst>
          </p:cNvPr>
          <p:cNvSpPr txBox="1"/>
          <p:nvPr/>
        </p:nvSpPr>
        <p:spPr>
          <a:xfrm>
            <a:off x="471948" y="1035717"/>
            <a:ext cx="11021654" cy="4613058"/>
          </a:xfrm>
          <a:prstGeom prst="rect">
            <a:avLst/>
          </a:prstGeom>
          <a:noFill/>
        </p:spPr>
        <p:txBody>
          <a:bodyPr wrap="square">
            <a:spAutoFit/>
          </a:bodyPr>
          <a:lstStyle/>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Split into Mini-Dimensions</a:t>
            </a:r>
            <a:endParaRPr lang="en-US"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Move rapidly changing attributes into a separate table called a </a:t>
            </a:r>
            <a:r>
              <a:rPr lang="en-US" b="1" dirty="0">
                <a:latin typeface="Times New Roman" panose="02020603050405020304" pitchFamily="18" charset="0"/>
                <a:cs typeface="Times New Roman" panose="02020603050405020304" pitchFamily="18" charset="0"/>
              </a:rPr>
              <a:t>Mini-Dimension</a:t>
            </a:r>
            <a:r>
              <a:rPr lang="en-US"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main dimension (e.g., </a:t>
            </a:r>
            <a:r>
              <a:rPr lang="en-US" dirty="0" err="1">
                <a:latin typeface="Times New Roman" panose="02020603050405020304" pitchFamily="18" charset="0"/>
                <a:cs typeface="Times New Roman" panose="02020603050405020304" pitchFamily="18" charset="0"/>
              </a:rPr>
              <a:t>Dim_Customer</a:t>
            </a:r>
            <a:r>
              <a:rPr lang="en-US" dirty="0">
                <a:latin typeface="Times New Roman" panose="02020603050405020304" pitchFamily="18" charset="0"/>
                <a:cs typeface="Times New Roman" panose="02020603050405020304" pitchFamily="18" charset="0"/>
              </a:rPr>
              <a:t>) stores stable attributes, while the mini-dimension stores fast-changing ones (e.g., </a:t>
            </a:r>
            <a:r>
              <a:rPr lang="en-US" dirty="0" err="1">
                <a:latin typeface="Times New Roman" panose="02020603050405020304" pitchFamily="18" charset="0"/>
                <a:cs typeface="Times New Roman" panose="02020603050405020304" pitchFamily="18" charset="0"/>
              </a:rPr>
              <a:t>Dim_Customer_Status</a:t>
            </a:r>
            <a:r>
              <a:rPr lang="en-US" dirty="0">
                <a:latin typeface="Times New Roman" panose="02020603050405020304" pitchFamily="18" charset="0"/>
                <a:cs typeface="Times New Roman" panose="02020603050405020304" pitchFamily="18" charset="0"/>
              </a:rPr>
              <a:t>).</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Use Surrogate Keys for Linking</a:t>
            </a:r>
            <a:endParaRPr lang="en-US"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Fact tables link to both main and mini dimensions using surrogate keys.</a:t>
            </a: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Example: 1. </a:t>
            </a:r>
            <a:r>
              <a:rPr lang="en-US" dirty="0" err="1">
                <a:latin typeface="Times New Roman" panose="02020603050405020304" pitchFamily="18" charset="0"/>
                <a:cs typeface="Times New Roman" panose="02020603050405020304" pitchFamily="18" charset="0"/>
              </a:rPr>
              <a:t>Fact_Sales</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Customer_Key</a:t>
            </a:r>
            <a:r>
              <a:rPr lang="en-US" dirty="0">
                <a:latin typeface="Times New Roman" panose="02020603050405020304" pitchFamily="18" charset="0"/>
                <a:cs typeface="Times New Roman" panose="02020603050405020304" pitchFamily="18" charset="0"/>
              </a:rPr>
              <a:t> (main)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Customer_Status_Key</a:t>
            </a:r>
            <a:r>
              <a:rPr lang="en-US" dirty="0">
                <a:latin typeface="Times New Roman" panose="02020603050405020304" pitchFamily="18" charset="0"/>
                <a:cs typeface="Times New Roman" panose="02020603050405020304" pitchFamily="18" charset="0"/>
              </a:rPr>
              <a:t> (mini)</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Aggregate or Snapshot Facts</a:t>
            </a:r>
            <a:endParaRPr lang="en-US"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high-frequency changes, maintain snapshot fact tables (e.g., daily or hourly snapshots) to record current state efficiently.</a:t>
            </a:r>
          </a:p>
        </p:txBody>
      </p:sp>
    </p:spTree>
    <p:extLst>
      <p:ext uri="{BB962C8B-B14F-4D97-AF65-F5344CB8AC3E}">
        <p14:creationId xmlns:p14="http://schemas.microsoft.com/office/powerpoint/2010/main" val="4201928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BDE24-F452-7C62-33DA-5CCCA0900C03}"/>
              </a:ext>
            </a:extLst>
          </p:cNvPr>
          <p:cNvSpPr>
            <a:spLocks noGrp="1"/>
          </p:cNvSpPr>
          <p:nvPr>
            <p:ph type="title"/>
          </p:nvPr>
        </p:nvSpPr>
        <p:spPr>
          <a:xfrm>
            <a:off x="672509" y="679852"/>
            <a:ext cx="10807652" cy="440488"/>
          </a:xfrm>
        </p:spPr>
        <p:txBody>
          <a:bodyPr>
            <a:normAutofit fontScale="90000"/>
          </a:bodyPr>
          <a:lstStyle/>
          <a:p>
            <a:r>
              <a:rPr lang="en-US" altLang="en-US" sz="3200" dirty="0">
                <a:latin typeface="Times New Roman" panose="02020603050405020304" pitchFamily="18" charset="0"/>
                <a:cs typeface="Times New Roman" panose="02020603050405020304" pitchFamily="18" charset="0"/>
              </a:rPr>
              <a:t>Example Architecture (Mini-Dimension Approach)</a:t>
            </a:r>
            <a:br>
              <a:rPr lang="en-US" altLang="en-US" sz="32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8AA591F-529B-CDFC-7220-70F5B93A11E2}"/>
              </a:ext>
            </a:extLst>
          </p:cNvPr>
          <p:cNvGraphicFramePr>
            <a:graphicFrameLocks noGrp="1"/>
          </p:cNvGraphicFramePr>
          <p:nvPr/>
        </p:nvGraphicFramePr>
        <p:xfrm>
          <a:off x="672509" y="1507003"/>
          <a:ext cx="10515600" cy="731520"/>
        </p:xfrm>
        <a:graphic>
          <a:graphicData uri="http://schemas.openxmlformats.org/drawingml/2006/table">
            <a:tbl>
              <a:tblPr>
                <a:tableStyleId>{3C2FFA5D-87B4-456A-9821-1D502468CF0F}</a:tableStyleId>
              </a:tblPr>
              <a:tblGrid>
                <a:gridCol w="2103120">
                  <a:extLst>
                    <a:ext uri="{9D8B030D-6E8A-4147-A177-3AD203B41FA5}">
                      <a16:colId xmlns:a16="http://schemas.microsoft.com/office/drawing/2014/main" val="3296360723"/>
                    </a:ext>
                  </a:extLst>
                </a:gridCol>
                <a:gridCol w="2103120">
                  <a:extLst>
                    <a:ext uri="{9D8B030D-6E8A-4147-A177-3AD203B41FA5}">
                      <a16:colId xmlns:a16="http://schemas.microsoft.com/office/drawing/2014/main" val="3246466048"/>
                    </a:ext>
                  </a:extLst>
                </a:gridCol>
                <a:gridCol w="2103120">
                  <a:extLst>
                    <a:ext uri="{9D8B030D-6E8A-4147-A177-3AD203B41FA5}">
                      <a16:colId xmlns:a16="http://schemas.microsoft.com/office/drawing/2014/main" val="1006185662"/>
                    </a:ext>
                  </a:extLst>
                </a:gridCol>
                <a:gridCol w="2103120">
                  <a:extLst>
                    <a:ext uri="{9D8B030D-6E8A-4147-A177-3AD203B41FA5}">
                      <a16:colId xmlns:a16="http://schemas.microsoft.com/office/drawing/2014/main" val="3999585160"/>
                    </a:ext>
                  </a:extLst>
                </a:gridCol>
                <a:gridCol w="2103120">
                  <a:extLst>
                    <a:ext uri="{9D8B030D-6E8A-4147-A177-3AD203B41FA5}">
                      <a16:colId xmlns:a16="http://schemas.microsoft.com/office/drawing/2014/main" val="970098110"/>
                    </a:ext>
                  </a:extLst>
                </a:gridCol>
              </a:tblGrid>
              <a:tr h="0">
                <a:tc>
                  <a:txBody>
                    <a:bodyPr/>
                    <a:lstStyle/>
                    <a:p>
                      <a:pPr>
                        <a:buNone/>
                      </a:pPr>
                      <a:r>
                        <a:rPr lang="en-US"/>
                        <a:t>Customer_Key</a:t>
                      </a:r>
                    </a:p>
                  </a:txBody>
                  <a:tcPr anchor="ctr"/>
                </a:tc>
                <a:tc>
                  <a:txBody>
                    <a:bodyPr/>
                    <a:lstStyle/>
                    <a:p>
                      <a:pPr>
                        <a:buNone/>
                      </a:pPr>
                      <a:r>
                        <a:rPr lang="en-US"/>
                        <a:t>Customer_ID</a:t>
                      </a:r>
                    </a:p>
                  </a:txBody>
                  <a:tcPr anchor="ctr"/>
                </a:tc>
                <a:tc>
                  <a:txBody>
                    <a:bodyPr/>
                    <a:lstStyle/>
                    <a:p>
                      <a:pPr>
                        <a:buNone/>
                      </a:pPr>
                      <a:r>
                        <a:rPr lang="en-US"/>
                        <a:t>Name</a:t>
                      </a:r>
                    </a:p>
                  </a:txBody>
                  <a:tcPr anchor="ctr"/>
                </a:tc>
                <a:tc>
                  <a:txBody>
                    <a:bodyPr/>
                    <a:lstStyle/>
                    <a:p>
                      <a:pPr>
                        <a:buNone/>
                      </a:pPr>
                      <a:r>
                        <a:rPr lang="en-US"/>
                        <a:t>Gender</a:t>
                      </a:r>
                    </a:p>
                  </a:txBody>
                  <a:tcPr anchor="ctr"/>
                </a:tc>
                <a:tc>
                  <a:txBody>
                    <a:bodyPr/>
                    <a:lstStyle/>
                    <a:p>
                      <a:pPr>
                        <a:buNone/>
                      </a:pPr>
                      <a:r>
                        <a:rPr lang="en-US"/>
                        <a:t>DOB</a:t>
                      </a:r>
                    </a:p>
                  </a:txBody>
                  <a:tcPr anchor="ctr"/>
                </a:tc>
                <a:extLst>
                  <a:ext uri="{0D108BD9-81ED-4DB2-BD59-A6C34878D82A}">
                    <a16:rowId xmlns:a16="http://schemas.microsoft.com/office/drawing/2014/main" val="2516116721"/>
                  </a:ext>
                </a:extLst>
              </a:tr>
              <a:tr h="0">
                <a:tc>
                  <a:txBody>
                    <a:bodyPr/>
                    <a:lstStyle/>
                    <a:p>
                      <a:pPr>
                        <a:buNone/>
                      </a:pPr>
                      <a:r>
                        <a:rPr lang="en-US"/>
                        <a:t>1001</a:t>
                      </a:r>
                    </a:p>
                  </a:txBody>
                  <a:tcPr anchor="ctr"/>
                </a:tc>
                <a:tc>
                  <a:txBody>
                    <a:bodyPr/>
                    <a:lstStyle/>
                    <a:p>
                      <a:pPr>
                        <a:buNone/>
                      </a:pPr>
                      <a:r>
                        <a:rPr lang="en-US"/>
                        <a:t>C001</a:t>
                      </a:r>
                    </a:p>
                  </a:txBody>
                  <a:tcPr anchor="ctr"/>
                </a:tc>
                <a:tc>
                  <a:txBody>
                    <a:bodyPr/>
                    <a:lstStyle/>
                    <a:p>
                      <a:pPr>
                        <a:buNone/>
                      </a:pPr>
                      <a:r>
                        <a:rPr lang="en-US"/>
                        <a:t>Riya</a:t>
                      </a:r>
                    </a:p>
                  </a:txBody>
                  <a:tcPr anchor="ctr"/>
                </a:tc>
                <a:tc>
                  <a:txBody>
                    <a:bodyPr/>
                    <a:lstStyle/>
                    <a:p>
                      <a:pPr>
                        <a:buNone/>
                      </a:pPr>
                      <a:r>
                        <a:rPr lang="en-US" dirty="0"/>
                        <a:t>F</a:t>
                      </a:r>
                    </a:p>
                  </a:txBody>
                  <a:tcPr anchor="ctr"/>
                </a:tc>
                <a:tc>
                  <a:txBody>
                    <a:bodyPr/>
                    <a:lstStyle/>
                    <a:p>
                      <a:pPr>
                        <a:buNone/>
                      </a:pPr>
                      <a:r>
                        <a:rPr lang="en-US" dirty="0"/>
                        <a:t>1990-03-10</a:t>
                      </a:r>
                    </a:p>
                  </a:txBody>
                  <a:tcPr anchor="ctr"/>
                </a:tc>
                <a:extLst>
                  <a:ext uri="{0D108BD9-81ED-4DB2-BD59-A6C34878D82A}">
                    <a16:rowId xmlns:a16="http://schemas.microsoft.com/office/drawing/2014/main" val="3477183693"/>
                  </a:ext>
                </a:extLst>
              </a:tr>
            </a:tbl>
          </a:graphicData>
        </a:graphic>
      </p:graphicFrame>
      <p:graphicFrame>
        <p:nvGraphicFramePr>
          <p:cNvPr id="5" name="Table 4">
            <a:extLst>
              <a:ext uri="{FF2B5EF4-FFF2-40B4-BE49-F238E27FC236}">
                <a16:creationId xmlns:a16="http://schemas.microsoft.com/office/drawing/2014/main" id="{204DDEE8-0690-B1F0-87CC-5F47BB96FF74}"/>
              </a:ext>
            </a:extLst>
          </p:cNvPr>
          <p:cNvGraphicFramePr>
            <a:graphicFrameLocks noGrp="1"/>
          </p:cNvGraphicFramePr>
          <p:nvPr/>
        </p:nvGraphicFramePr>
        <p:xfrm>
          <a:off x="672509" y="2671339"/>
          <a:ext cx="10515600" cy="1097280"/>
        </p:xfrm>
        <a:graphic>
          <a:graphicData uri="http://schemas.openxmlformats.org/drawingml/2006/table">
            <a:tbl>
              <a:tblPr>
                <a:tableStyleId>{3C2FFA5D-87B4-456A-9821-1D502468CF0F}</a:tableStyleId>
              </a:tblPr>
              <a:tblGrid>
                <a:gridCol w="2103120">
                  <a:extLst>
                    <a:ext uri="{9D8B030D-6E8A-4147-A177-3AD203B41FA5}">
                      <a16:colId xmlns:a16="http://schemas.microsoft.com/office/drawing/2014/main" val="3200944869"/>
                    </a:ext>
                  </a:extLst>
                </a:gridCol>
                <a:gridCol w="2103120">
                  <a:extLst>
                    <a:ext uri="{9D8B030D-6E8A-4147-A177-3AD203B41FA5}">
                      <a16:colId xmlns:a16="http://schemas.microsoft.com/office/drawing/2014/main" val="1899052254"/>
                    </a:ext>
                  </a:extLst>
                </a:gridCol>
                <a:gridCol w="2103120">
                  <a:extLst>
                    <a:ext uri="{9D8B030D-6E8A-4147-A177-3AD203B41FA5}">
                      <a16:colId xmlns:a16="http://schemas.microsoft.com/office/drawing/2014/main" val="432147226"/>
                    </a:ext>
                  </a:extLst>
                </a:gridCol>
                <a:gridCol w="2103120">
                  <a:extLst>
                    <a:ext uri="{9D8B030D-6E8A-4147-A177-3AD203B41FA5}">
                      <a16:colId xmlns:a16="http://schemas.microsoft.com/office/drawing/2014/main" val="3136415778"/>
                    </a:ext>
                  </a:extLst>
                </a:gridCol>
                <a:gridCol w="2103120">
                  <a:extLst>
                    <a:ext uri="{9D8B030D-6E8A-4147-A177-3AD203B41FA5}">
                      <a16:colId xmlns:a16="http://schemas.microsoft.com/office/drawing/2014/main" val="2118613271"/>
                    </a:ext>
                  </a:extLst>
                </a:gridCol>
              </a:tblGrid>
              <a:tr h="0">
                <a:tc>
                  <a:txBody>
                    <a:bodyPr/>
                    <a:lstStyle/>
                    <a:p>
                      <a:pPr>
                        <a:buNone/>
                      </a:pPr>
                      <a:r>
                        <a:rPr lang="en-US"/>
                        <a:t>Status_Key</a:t>
                      </a:r>
                    </a:p>
                  </a:txBody>
                  <a:tcPr anchor="ctr"/>
                </a:tc>
                <a:tc>
                  <a:txBody>
                    <a:bodyPr/>
                    <a:lstStyle/>
                    <a:p>
                      <a:pPr>
                        <a:buNone/>
                      </a:pPr>
                      <a:r>
                        <a:rPr lang="en-US"/>
                        <a:t>CreditScore</a:t>
                      </a:r>
                    </a:p>
                  </a:txBody>
                  <a:tcPr anchor="ctr"/>
                </a:tc>
                <a:tc>
                  <a:txBody>
                    <a:bodyPr/>
                    <a:lstStyle/>
                    <a:p>
                      <a:pPr>
                        <a:buNone/>
                      </a:pPr>
                      <a:r>
                        <a:rPr lang="en-US"/>
                        <a:t>RiskRating</a:t>
                      </a:r>
                    </a:p>
                  </a:txBody>
                  <a:tcPr anchor="ctr"/>
                </a:tc>
                <a:tc>
                  <a:txBody>
                    <a:bodyPr/>
                    <a:lstStyle/>
                    <a:p>
                      <a:pPr>
                        <a:buNone/>
                      </a:pPr>
                      <a:r>
                        <a:rPr lang="en-US" dirty="0" err="1"/>
                        <a:t>LoyaltyPoints</a:t>
                      </a:r>
                      <a:endParaRPr lang="en-US" dirty="0"/>
                    </a:p>
                  </a:txBody>
                  <a:tcPr anchor="ctr"/>
                </a:tc>
                <a:tc>
                  <a:txBody>
                    <a:bodyPr/>
                    <a:lstStyle/>
                    <a:p>
                      <a:pPr>
                        <a:buNone/>
                      </a:pPr>
                      <a:r>
                        <a:rPr lang="en-US" dirty="0" err="1"/>
                        <a:t>EffectiveDate</a:t>
                      </a:r>
                      <a:endParaRPr lang="en-US" dirty="0"/>
                    </a:p>
                  </a:txBody>
                  <a:tcPr anchor="ctr"/>
                </a:tc>
                <a:extLst>
                  <a:ext uri="{0D108BD9-81ED-4DB2-BD59-A6C34878D82A}">
                    <a16:rowId xmlns:a16="http://schemas.microsoft.com/office/drawing/2014/main" val="4029729031"/>
                  </a:ext>
                </a:extLst>
              </a:tr>
              <a:tr h="0">
                <a:tc>
                  <a:txBody>
                    <a:bodyPr/>
                    <a:lstStyle/>
                    <a:p>
                      <a:pPr>
                        <a:buNone/>
                      </a:pPr>
                      <a:r>
                        <a:rPr lang="en-US"/>
                        <a:t>5001</a:t>
                      </a:r>
                    </a:p>
                  </a:txBody>
                  <a:tcPr anchor="ctr"/>
                </a:tc>
                <a:tc>
                  <a:txBody>
                    <a:bodyPr/>
                    <a:lstStyle/>
                    <a:p>
                      <a:pPr>
                        <a:buNone/>
                      </a:pPr>
                      <a:r>
                        <a:rPr lang="en-US"/>
                        <a:t>720</a:t>
                      </a:r>
                    </a:p>
                  </a:txBody>
                  <a:tcPr anchor="ctr"/>
                </a:tc>
                <a:tc>
                  <a:txBody>
                    <a:bodyPr/>
                    <a:lstStyle/>
                    <a:p>
                      <a:pPr>
                        <a:buNone/>
                      </a:pPr>
                      <a:r>
                        <a:rPr lang="en-US" dirty="0"/>
                        <a:t>Low</a:t>
                      </a:r>
                    </a:p>
                  </a:txBody>
                  <a:tcPr anchor="ctr"/>
                </a:tc>
                <a:tc>
                  <a:txBody>
                    <a:bodyPr/>
                    <a:lstStyle/>
                    <a:p>
                      <a:pPr>
                        <a:buNone/>
                      </a:pPr>
                      <a:r>
                        <a:rPr lang="en-US"/>
                        <a:t>230</a:t>
                      </a:r>
                    </a:p>
                  </a:txBody>
                  <a:tcPr anchor="ctr"/>
                </a:tc>
                <a:tc>
                  <a:txBody>
                    <a:bodyPr/>
                    <a:lstStyle/>
                    <a:p>
                      <a:pPr>
                        <a:buNone/>
                      </a:pPr>
                      <a:r>
                        <a:rPr lang="en-US" dirty="0"/>
                        <a:t>2024-01-01</a:t>
                      </a:r>
                    </a:p>
                  </a:txBody>
                  <a:tcPr anchor="ctr"/>
                </a:tc>
                <a:extLst>
                  <a:ext uri="{0D108BD9-81ED-4DB2-BD59-A6C34878D82A}">
                    <a16:rowId xmlns:a16="http://schemas.microsoft.com/office/drawing/2014/main" val="721741845"/>
                  </a:ext>
                </a:extLst>
              </a:tr>
              <a:tr h="0">
                <a:tc>
                  <a:txBody>
                    <a:bodyPr/>
                    <a:lstStyle/>
                    <a:p>
                      <a:pPr>
                        <a:buNone/>
                      </a:pPr>
                      <a:r>
                        <a:rPr lang="en-US"/>
                        <a:t>5002</a:t>
                      </a:r>
                    </a:p>
                  </a:txBody>
                  <a:tcPr anchor="ctr"/>
                </a:tc>
                <a:tc>
                  <a:txBody>
                    <a:bodyPr/>
                    <a:lstStyle/>
                    <a:p>
                      <a:pPr>
                        <a:buNone/>
                      </a:pPr>
                      <a:r>
                        <a:rPr lang="en-US"/>
                        <a:t>650</a:t>
                      </a:r>
                    </a:p>
                  </a:txBody>
                  <a:tcPr anchor="ctr"/>
                </a:tc>
                <a:tc>
                  <a:txBody>
                    <a:bodyPr/>
                    <a:lstStyle/>
                    <a:p>
                      <a:pPr>
                        <a:buNone/>
                      </a:pPr>
                      <a:r>
                        <a:rPr lang="en-US"/>
                        <a:t>Medium</a:t>
                      </a:r>
                    </a:p>
                  </a:txBody>
                  <a:tcPr anchor="ctr"/>
                </a:tc>
                <a:tc>
                  <a:txBody>
                    <a:bodyPr/>
                    <a:lstStyle/>
                    <a:p>
                      <a:pPr>
                        <a:buNone/>
                      </a:pPr>
                      <a:r>
                        <a:rPr lang="en-US"/>
                        <a:t>220</a:t>
                      </a:r>
                    </a:p>
                  </a:txBody>
                  <a:tcPr anchor="ctr"/>
                </a:tc>
                <a:tc>
                  <a:txBody>
                    <a:bodyPr/>
                    <a:lstStyle/>
                    <a:p>
                      <a:pPr>
                        <a:buNone/>
                      </a:pPr>
                      <a:r>
                        <a:rPr lang="en-US" dirty="0"/>
                        <a:t>2024-02-01</a:t>
                      </a:r>
                    </a:p>
                  </a:txBody>
                  <a:tcPr anchor="ctr"/>
                </a:tc>
                <a:extLst>
                  <a:ext uri="{0D108BD9-81ED-4DB2-BD59-A6C34878D82A}">
                    <a16:rowId xmlns:a16="http://schemas.microsoft.com/office/drawing/2014/main" val="1563644509"/>
                  </a:ext>
                </a:extLst>
              </a:tr>
            </a:tbl>
          </a:graphicData>
        </a:graphic>
      </p:graphicFrame>
      <p:graphicFrame>
        <p:nvGraphicFramePr>
          <p:cNvPr id="6" name="Table 5">
            <a:extLst>
              <a:ext uri="{FF2B5EF4-FFF2-40B4-BE49-F238E27FC236}">
                <a16:creationId xmlns:a16="http://schemas.microsoft.com/office/drawing/2014/main" id="{2C32A24C-8110-91A8-F1D9-E7C0F97546B6}"/>
              </a:ext>
            </a:extLst>
          </p:cNvPr>
          <p:cNvGraphicFramePr>
            <a:graphicFrameLocks noGrp="1"/>
          </p:cNvGraphicFramePr>
          <p:nvPr/>
        </p:nvGraphicFramePr>
        <p:xfrm>
          <a:off x="672509" y="4253717"/>
          <a:ext cx="10515600" cy="1097280"/>
        </p:xfrm>
        <a:graphic>
          <a:graphicData uri="http://schemas.openxmlformats.org/drawingml/2006/table">
            <a:tbl>
              <a:tblPr>
                <a:tableStyleId>{3C2FFA5D-87B4-456A-9821-1D502468CF0F}</a:tableStyleId>
              </a:tblPr>
              <a:tblGrid>
                <a:gridCol w="2628900">
                  <a:extLst>
                    <a:ext uri="{9D8B030D-6E8A-4147-A177-3AD203B41FA5}">
                      <a16:colId xmlns:a16="http://schemas.microsoft.com/office/drawing/2014/main" val="716599721"/>
                    </a:ext>
                  </a:extLst>
                </a:gridCol>
                <a:gridCol w="2628900">
                  <a:extLst>
                    <a:ext uri="{9D8B030D-6E8A-4147-A177-3AD203B41FA5}">
                      <a16:colId xmlns:a16="http://schemas.microsoft.com/office/drawing/2014/main" val="839801996"/>
                    </a:ext>
                  </a:extLst>
                </a:gridCol>
                <a:gridCol w="2628900">
                  <a:extLst>
                    <a:ext uri="{9D8B030D-6E8A-4147-A177-3AD203B41FA5}">
                      <a16:colId xmlns:a16="http://schemas.microsoft.com/office/drawing/2014/main" val="29797941"/>
                    </a:ext>
                  </a:extLst>
                </a:gridCol>
                <a:gridCol w="2628900">
                  <a:extLst>
                    <a:ext uri="{9D8B030D-6E8A-4147-A177-3AD203B41FA5}">
                      <a16:colId xmlns:a16="http://schemas.microsoft.com/office/drawing/2014/main" val="4077961376"/>
                    </a:ext>
                  </a:extLst>
                </a:gridCol>
              </a:tblGrid>
              <a:tr h="0">
                <a:tc>
                  <a:txBody>
                    <a:bodyPr/>
                    <a:lstStyle/>
                    <a:p>
                      <a:pPr>
                        <a:buNone/>
                      </a:pPr>
                      <a:r>
                        <a:rPr lang="en-US"/>
                        <a:t>Fact_ID</a:t>
                      </a:r>
                    </a:p>
                  </a:txBody>
                  <a:tcPr anchor="ctr"/>
                </a:tc>
                <a:tc>
                  <a:txBody>
                    <a:bodyPr/>
                    <a:lstStyle/>
                    <a:p>
                      <a:pPr>
                        <a:buNone/>
                      </a:pPr>
                      <a:r>
                        <a:rPr lang="en-US"/>
                        <a:t>Customer_Key</a:t>
                      </a:r>
                    </a:p>
                  </a:txBody>
                  <a:tcPr anchor="ctr"/>
                </a:tc>
                <a:tc>
                  <a:txBody>
                    <a:bodyPr/>
                    <a:lstStyle/>
                    <a:p>
                      <a:pPr>
                        <a:buNone/>
                      </a:pPr>
                      <a:r>
                        <a:rPr lang="en-US"/>
                        <a:t>Status_Key</a:t>
                      </a:r>
                    </a:p>
                  </a:txBody>
                  <a:tcPr anchor="ctr"/>
                </a:tc>
                <a:tc>
                  <a:txBody>
                    <a:bodyPr/>
                    <a:lstStyle/>
                    <a:p>
                      <a:pPr>
                        <a:buNone/>
                      </a:pPr>
                      <a:r>
                        <a:rPr lang="en-US"/>
                        <a:t>Transaction_Amount</a:t>
                      </a:r>
                    </a:p>
                  </a:txBody>
                  <a:tcPr anchor="ctr"/>
                </a:tc>
                <a:extLst>
                  <a:ext uri="{0D108BD9-81ED-4DB2-BD59-A6C34878D82A}">
                    <a16:rowId xmlns:a16="http://schemas.microsoft.com/office/drawing/2014/main" val="19052781"/>
                  </a:ext>
                </a:extLst>
              </a:tr>
              <a:tr h="0">
                <a:tc>
                  <a:txBody>
                    <a:bodyPr/>
                    <a:lstStyle/>
                    <a:p>
                      <a:pPr>
                        <a:buNone/>
                      </a:pPr>
                      <a:r>
                        <a:rPr lang="en-US"/>
                        <a:t>9001</a:t>
                      </a:r>
                    </a:p>
                  </a:txBody>
                  <a:tcPr anchor="ctr"/>
                </a:tc>
                <a:tc>
                  <a:txBody>
                    <a:bodyPr/>
                    <a:lstStyle/>
                    <a:p>
                      <a:pPr>
                        <a:buNone/>
                      </a:pPr>
                      <a:r>
                        <a:rPr lang="en-US"/>
                        <a:t>1001</a:t>
                      </a:r>
                    </a:p>
                  </a:txBody>
                  <a:tcPr anchor="ctr"/>
                </a:tc>
                <a:tc>
                  <a:txBody>
                    <a:bodyPr/>
                    <a:lstStyle/>
                    <a:p>
                      <a:pPr>
                        <a:buNone/>
                      </a:pPr>
                      <a:r>
                        <a:rPr lang="en-US" dirty="0"/>
                        <a:t>5001</a:t>
                      </a:r>
                    </a:p>
                  </a:txBody>
                  <a:tcPr anchor="ctr"/>
                </a:tc>
                <a:tc>
                  <a:txBody>
                    <a:bodyPr/>
                    <a:lstStyle/>
                    <a:p>
                      <a:pPr>
                        <a:buNone/>
                      </a:pPr>
                      <a:r>
                        <a:rPr lang="en-US" dirty="0"/>
                        <a:t>1200</a:t>
                      </a:r>
                    </a:p>
                  </a:txBody>
                  <a:tcPr anchor="ctr"/>
                </a:tc>
                <a:extLst>
                  <a:ext uri="{0D108BD9-81ED-4DB2-BD59-A6C34878D82A}">
                    <a16:rowId xmlns:a16="http://schemas.microsoft.com/office/drawing/2014/main" val="71349480"/>
                  </a:ext>
                </a:extLst>
              </a:tr>
              <a:tr h="0">
                <a:tc>
                  <a:txBody>
                    <a:bodyPr/>
                    <a:lstStyle/>
                    <a:p>
                      <a:pPr>
                        <a:buNone/>
                      </a:pPr>
                      <a:r>
                        <a:rPr lang="en-US"/>
                        <a:t>9002</a:t>
                      </a:r>
                    </a:p>
                  </a:txBody>
                  <a:tcPr anchor="ctr"/>
                </a:tc>
                <a:tc>
                  <a:txBody>
                    <a:bodyPr/>
                    <a:lstStyle/>
                    <a:p>
                      <a:pPr>
                        <a:buNone/>
                      </a:pPr>
                      <a:r>
                        <a:rPr lang="en-US"/>
                        <a:t>1001</a:t>
                      </a:r>
                    </a:p>
                  </a:txBody>
                  <a:tcPr anchor="ctr"/>
                </a:tc>
                <a:tc>
                  <a:txBody>
                    <a:bodyPr/>
                    <a:lstStyle/>
                    <a:p>
                      <a:pPr>
                        <a:buNone/>
                      </a:pPr>
                      <a:r>
                        <a:rPr lang="en-US"/>
                        <a:t>5002</a:t>
                      </a:r>
                    </a:p>
                  </a:txBody>
                  <a:tcPr anchor="ctr"/>
                </a:tc>
                <a:tc>
                  <a:txBody>
                    <a:bodyPr/>
                    <a:lstStyle/>
                    <a:p>
                      <a:pPr>
                        <a:buNone/>
                      </a:pPr>
                      <a:r>
                        <a:rPr lang="en-US" dirty="0"/>
                        <a:t>1500</a:t>
                      </a:r>
                    </a:p>
                  </a:txBody>
                  <a:tcPr anchor="ctr"/>
                </a:tc>
                <a:extLst>
                  <a:ext uri="{0D108BD9-81ED-4DB2-BD59-A6C34878D82A}">
                    <a16:rowId xmlns:a16="http://schemas.microsoft.com/office/drawing/2014/main" val="2698707814"/>
                  </a:ext>
                </a:extLst>
              </a:tr>
            </a:tbl>
          </a:graphicData>
        </a:graphic>
      </p:graphicFrame>
      <p:sp>
        <p:nvSpPr>
          <p:cNvPr id="7" name="Rectangle 1">
            <a:extLst>
              <a:ext uri="{FF2B5EF4-FFF2-40B4-BE49-F238E27FC236}">
                <a16:creationId xmlns:a16="http://schemas.microsoft.com/office/drawing/2014/main" id="{16EB8FC7-8570-55C3-1D99-4A0280D9B723}"/>
              </a:ext>
            </a:extLst>
          </p:cNvPr>
          <p:cNvSpPr>
            <a:spLocks noChangeArrowheads="1"/>
          </p:cNvSpPr>
          <p:nvPr/>
        </p:nvSpPr>
        <p:spPr bwMode="auto">
          <a:xfrm>
            <a:off x="603683" y="813964"/>
            <a:ext cx="7694743"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 Dimension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Dim_Customer</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Mini-Dimension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Dim_Customer_Status</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Fact Table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Fact_Transaction</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main dimension stays small and stable.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Rapidly changing attributes are isolated in a mini-dimension.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8482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E5845-9EBD-C4D7-8576-CD4A1DFE36E6}"/>
              </a:ext>
            </a:extLst>
          </p:cNvPr>
          <p:cNvSpPr>
            <a:spLocks noGrp="1"/>
          </p:cNvSpPr>
          <p:nvPr>
            <p:ph type="title"/>
          </p:nvPr>
        </p:nvSpPr>
        <p:spPr>
          <a:xfrm>
            <a:off x="692174" y="704641"/>
            <a:ext cx="10807652" cy="440488"/>
          </a:xfrm>
        </p:spPr>
        <p:txBody>
          <a:bodyPr>
            <a:normAutofit fontScale="90000"/>
          </a:bodyPr>
          <a:lstStyle/>
          <a:p>
            <a:r>
              <a:rPr lang="en-US" dirty="0">
                <a:latin typeface="Times New Roman" panose="02020603050405020304" pitchFamily="18" charset="0"/>
                <a:cs typeface="Times New Roman" panose="02020603050405020304" pitchFamily="18" charset="0"/>
              </a:rPr>
              <a:t>Advantages And Limitations / Considerations Of FCD Design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CD3F366-8D8D-8368-7CF9-A79225CC4F1D}"/>
              </a:ext>
            </a:extLst>
          </p:cNvPr>
          <p:cNvSpPr txBox="1"/>
          <p:nvPr/>
        </p:nvSpPr>
        <p:spPr>
          <a:xfrm>
            <a:off x="525026" y="964867"/>
            <a:ext cx="9090922" cy="550920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Advantages:</a:t>
            </a:r>
          </a:p>
          <a:p>
            <a:pPr marL="800100" lvl="1" indent="-342900">
              <a:buFont typeface="+mj-lt"/>
              <a:buAutoNum type="arabicPeriod"/>
            </a:pPr>
            <a:r>
              <a:rPr lang="en-US" b="1" dirty="0">
                <a:latin typeface="Times New Roman" panose="02020603050405020304" pitchFamily="18" charset="0"/>
                <a:cs typeface="Times New Roman" panose="02020603050405020304" pitchFamily="18" charset="0"/>
              </a:rPr>
              <a:t>Performance Benefits:</a:t>
            </a:r>
            <a:endParaRPr lang="en-US"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Smaller main dimension size.</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Faster ETL load and query times.</a:t>
            </a:r>
          </a:p>
          <a:p>
            <a:pPr marL="800100" lvl="1" indent="-342900">
              <a:buFont typeface="+mj-lt"/>
              <a:buAutoNum type="arabicPeriod"/>
            </a:pPr>
            <a:r>
              <a:rPr lang="en-US" b="1" dirty="0">
                <a:latin typeface="Times New Roman" panose="02020603050405020304" pitchFamily="18" charset="0"/>
                <a:cs typeface="Times New Roman" panose="02020603050405020304" pitchFamily="18" charset="0"/>
              </a:rPr>
              <a:t>Design Flexibility:</a:t>
            </a:r>
            <a:endParaRPr lang="en-US"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to track changes for only relevant attributes.</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Maintain historical accuracy via mini-dimension keys.</a:t>
            </a:r>
          </a:p>
          <a:p>
            <a:pPr marL="800100" lvl="1" indent="-342900">
              <a:buFont typeface="+mj-lt"/>
              <a:buAutoNum type="arabicPeriod"/>
            </a:pPr>
            <a:r>
              <a:rPr lang="en-US" b="1" dirty="0">
                <a:latin typeface="Times New Roman" panose="02020603050405020304" pitchFamily="18" charset="0"/>
                <a:cs typeface="Times New Roman" panose="02020603050405020304" pitchFamily="18" charset="0"/>
              </a:rPr>
              <a:t>Data Integrity:</a:t>
            </a:r>
            <a:endParaRPr lang="en-US"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Avoids duplication and unnecessary versioning.</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Keeps consistent joins with fact tables.</a:t>
            </a:r>
          </a:p>
          <a:p>
            <a:pPr marL="1200150" lvl="2"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Challenges:</a:t>
            </a:r>
            <a:endParaRPr lang="en-US" sz="2000" dirty="0">
              <a:latin typeface="Times New Roman" panose="02020603050405020304" pitchFamily="18" charset="0"/>
              <a:cs typeface="Times New Roman" panose="02020603050405020304" pitchFamily="18" charset="0"/>
            </a:endParaRP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Slightly more complex joins (main + mini dimension).</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Additional ETL logic to manage mini-dim insertions.</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Need consistent surrogate key mapping to fact tables.</a:t>
            </a:r>
          </a:p>
          <a:p>
            <a:pPr lvl="1"/>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Best Practice:</a:t>
            </a:r>
            <a:endParaRPr lang="en-US" sz="2000" dirty="0">
              <a:latin typeface="Times New Roman" panose="02020603050405020304" pitchFamily="18" charset="0"/>
              <a:cs typeface="Times New Roman" panose="02020603050405020304" pitchFamily="18" charset="0"/>
            </a:endParaRP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Identify high-change attributes carefully.</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Use FCD design only where change frequency is significantly higher than normal.</a:t>
            </a:r>
          </a:p>
        </p:txBody>
      </p:sp>
    </p:spTree>
    <p:extLst>
      <p:ext uri="{BB962C8B-B14F-4D97-AF65-F5344CB8AC3E}">
        <p14:creationId xmlns:p14="http://schemas.microsoft.com/office/powerpoint/2010/main" val="4012444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E059C6-85BA-4084-1DF2-45B8E4F56CF2}"/>
              </a:ext>
            </a:extLst>
          </p:cNvPr>
          <p:cNvSpPr>
            <a:spLocks noGrp="1"/>
          </p:cNvSpPr>
          <p:nvPr>
            <p:ph type="title"/>
          </p:nvPr>
        </p:nvSpPr>
        <p:spPr>
          <a:xfrm>
            <a:off x="658478" y="1912409"/>
            <a:ext cx="10532918" cy="1292678"/>
          </a:xfrm>
        </p:spPr>
        <p:txBody>
          <a:bodyPr>
            <a:normAutofit/>
          </a:bodyPr>
          <a:lstStyle/>
          <a:p>
            <a:r>
              <a:rPr lang="en-US" dirty="0">
                <a:latin typeface="Times New Roman" panose="02020603050405020304" pitchFamily="18" charset="0"/>
                <a:cs typeface="Times New Roman" panose="02020603050405020304" pitchFamily="18" charset="0"/>
              </a:rPr>
              <a:t>Business Process Modeling for DW</a:t>
            </a:r>
          </a:p>
        </p:txBody>
      </p:sp>
    </p:spTree>
    <p:extLst>
      <p:ext uri="{BB962C8B-B14F-4D97-AF65-F5344CB8AC3E}">
        <p14:creationId xmlns:p14="http://schemas.microsoft.com/office/powerpoint/2010/main" val="2545166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8B9A-5321-64EE-E38E-94B4DCFAF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9DC04-8740-8404-A7C0-372D3B8AA28F}"/>
              </a:ext>
            </a:extLst>
          </p:cNvPr>
          <p:cNvSpPr>
            <a:spLocks noGrp="1"/>
          </p:cNvSpPr>
          <p:nvPr>
            <p:ph type="title"/>
          </p:nvPr>
        </p:nvSpPr>
        <p:spPr>
          <a:xfrm>
            <a:off x="518494" y="571698"/>
            <a:ext cx="11378230" cy="440488"/>
          </a:xfrm>
        </p:spPr>
        <p:txBody>
          <a:bodyPr>
            <a:normAutofit/>
          </a:bodyPr>
          <a:lstStyle/>
          <a:p>
            <a:r>
              <a:rPr lang="en-US" dirty="0">
                <a:latin typeface="Times New Roman" panose="02020603050405020304" pitchFamily="18" charset="0"/>
                <a:cs typeface="Times New Roman" panose="02020603050405020304" pitchFamily="18" charset="0"/>
              </a:rPr>
              <a:t>Introduction to Business Process Modeling (BPM) in Data Warehousing</a:t>
            </a:r>
          </a:p>
        </p:txBody>
      </p:sp>
      <p:sp>
        <p:nvSpPr>
          <p:cNvPr id="5" name="TextBox 4">
            <a:extLst>
              <a:ext uri="{FF2B5EF4-FFF2-40B4-BE49-F238E27FC236}">
                <a16:creationId xmlns:a16="http://schemas.microsoft.com/office/drawing/2014/main" id="{CC345C26-AC68-8745-D03A-7190A79F8A22}"/>
              </a:ext>
            </a:extLst>
          </p:cNvPr>
          <p:cNvSpPr txBox="1"/>
          <p:nvPr/>
        </p:nvSpPr>
        <p:spPr>
          <a:xfrm>
            <a:off x="361332" y="1122471"/>
            <a:ext cx="10807652" cy="4613058"/>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Definition:</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Business Process Modeling (BPM) in Data Warehousing is the activity of identifying, analyzing, and documenting key business processes that generate measurable events (facts).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processes define what data to collect, how it flows, and how it supports analytics.</a:t>
            </a:r>
          </a:p>
          <a:p>
            <a:pPr>
              <a:lnSpc>
                <a:spcPct val="150000"/>
              </a:lnSpc>
              <a:buNone/>
            </a:pPr>
            <a:r>
              <a:rPr lang="en-US" b="1" dirty="0">
                <a:latin typeface="Times New Roman" panose="02020603050405020304" pitchFamily="18" charset="0"/>
                <a:cs typeface="Times New Roman" panose="02020603050405020304" pitchFamily="18" charset="0"/>
              </a:rPr>
              <a:t>Purpose:</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convert real-world business operations into a structured data model.</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alignment between business goals and data warehouse design.</a:t>
            </a:r>
          </a:p>
          <a:p>
            <a:pPr>
              <a:lnSpc>
                <a:spcPct val="150000"/>
              </a:lnSpc>
              <a:buNone/>
            </a:pPr>
            <a:r>
              <a:rPr lang="en-US" b="1"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Business Process: “Order to Cash”</a:t>
            </a:r>
          </a:p>
          <a:p>
            <a:pPr marL="1200150" lvl="2"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Involves orders, shipments, and payments.</a:t>
            </a:r>
          </a:p>
          <a:p>
            <a:pPr marL="1200150" lvl="2"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Becomes fact tables like: </a:t>
            </a:r>
            <a:r>
              <a:rPr lang="en-US" b="1" dirty="0" err="1">
                <a:latin typeface="Times New Roman" panose="02020603050405020304" pitchFamily="18" charset="0"/>
                <a:cs typeface="Times New Roman" panose="02020603050405020304" pitchFamily="18" charset="0"/>
              </a:rPr>
              <a:t>Fact_Sales</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Fact_Shipment</a:t>
            </a:r>
            <a:r>
              <a:rPr lang="en-US" dirty="0">
                <a:latin typeface="Times New Roman" panose="02020603050405020304" pitchFamily="18" charset="0"/>
                <a:cs typeface="Times New Roman" panose="02020603050405020304" pitchFamily="18" charset="0"/>
              </a:rPr>
              <a:t>, and </a:t>
            </a:r>
            <a:r>
              <a:rPr lang="en-US" b="1" dirty="0" err="1">
                <a:latin typeface="Times New Roman" panose="02020603050405020304" pitchFamily="18" charset="0"/>
                <a:cs typeface="Times New Roman" panose="02020603050405020304" pitchFamily="18" charset="0"/>
              </a:rPr>
              <a:t>Fact_Payment</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33251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92554-9D41-9DF5-C190-0C27E4F4DB70}"/>
              </a:ext>
            </a:extLst>
          </p:cNvPr>
          <p:cNvSpPr>
            <a:spLocks noGrp="1"/>
          </p:cNvSpPr>
          <p:nvPr>
            <p:ph type="title"/>
          </p:nvPr>
        </p:nvSpPr>
        <p:spPr>
          <a:xfrm>
            <a:off x="692174" y="738845"/>
            <a:ext cx="10807652" cy="440488"/>
          </a:xfrm>
        </p:spPr>
        <p:txBody>
          <a:bodyPr>
            <a:normAutofit fontScale="90000"/>
          </a:bodyPr>
          <a:lstStyle/>
          <a:p>
            <a:r>
              <a:rPr lang="en-US" altLang="en-US" sz="3200" dirty="0">
                <a:latin typeface="Times New Roman" panose="02020603050405020304" pitchFamily="18" charset="0"/>
                <a:cs typeface="Times New Roman" panose="02020603050405020304" pitchFamily="18" charset="0"/>
              </a:rPr>
              <a:t>Importance of Business Process Modeling in DW</a:t>
            </a:r>
            <a:br>
              <a:rPr lang="en-US" altLang="en-US" sz="32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222D0EC6-E799-E2D6-3F0C-4B7154015894}"/>
              </a:ext>
            </a:extLst>
          </p:cNvPr>
          <p:cNvGraphicFramePr>
            <a:graphicFrameLocks noGrp="1"/>
          </p:cNvGraphicFramePr>
          <p:nvPr/>
        </p:nvGraphicFramePr>
        <p:xfrm>
          <a:off x="593953" y="1362808"/>
          <a:ext cx="10515600" cy="329184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2932066635"/>
                    </a:ext>
                  </a:extLst>
                </a:gridCol>
                <a:gridCol w="5257800">
                  <a:extLst>
                    <a:ext uri="{9D8B030D-6E8A-4147-A177-3AD203B41FA5}">
                      <a16:colId xmlns:a16="http://schemas.microsoft.com/office/drawing/2014/main" val="2755449888"/>
                    </a:ext>
                  </a:extLst>
                </a:gridCol>
              </a:tblGrid>
              <a:tr h="0">
                <a:tc>
                  <a:txBody>
                    <a:bodyPr/>
                    <a:lstStyle/>
                    <a:p>
                      <a:pPr>
                        <a:buNone/>
                      </a:pPr>
                      <a:r>
                        <a:rPr lang="en-US" b="1" dirty="0">
                          <a:latin typeface="Times New Roman" panose="02020603050405020304" pitchFamily="18" charset="0"/>
                          <a:cs typeface="Times New Roman" panose="02020603050405020304" pitchFamily="18" charset="0"/>
                        </a:rPr>
                        <a:t>Aspect</a:t>
                      </a:r>
                    </a:p>
                  </a:txBody>
                  <a:tcPr anchor="ctr"/>
                </a:tc>
                <a:tc>
                  <a:txBody>
                    <a:bodyPr/>
                    <a:lstStyle/>
                    <a:p>
                      <a:pPr>
                        <a:buNone/>
                      </a:pPr>
                      <a:r>
                        <a:rPr lang="en-US" b="1" dirty="0">
                          <a:latin typeface="Times New Roman" panose="02020603050405020304" pitchFamily="18" charset="0"/>
                          <a:cs typeface="Times New Roman" panose="02020603050405020304" pitchFamily="18" charset="0"/>
                        </a:rPr>
                        <a:t>Why It Matters</a:t>
                      </a:r>
                    </a:p>
                  </a:txBody>
                  <a:tcPr anchor="ctr"/>
                </a:tc>
                <a:extLst>
                  <a:ext uri="{0D108BD9-81ED-4DB2-BD59-A6C34878D82A}">
                    <a16:rowId xmlns:a16="http://schemas.microsoft.com/office/drawing/2014/main" val="463481074"/>
                  </a:ext>
                </a:extLst>
              </a:tr>
              <a:tr h="0">
                <a:tc>
                  <a:txBody>
                    <a:bodyPr/>
                    <a:lstStyle/>
                    <a:p>
                      <a:pPr>
                        <a:buNone/>
                      </a:pPr>
                      <a:r>
                        <a:rPr lang="en-US" b="0">
                          <a:latin typeface="Times New Roman" panose="02020603050405020304" pitchFamily="18" charset="0"/>
                          <a:cs typeface="Times New Roman" panose="02020603050405020304" pitchFamily="18" charset="0"/>
                        </a:rPr>
                        <a:t>Process Understanding</a:t>
                      </a:r>
                    </a:p>
                  </a:txBody>
                  <a:tcPr anchor="ctr"/>
                </a:tc>
                <a:tc>
                  <a:txBody>
                    <a:bodyPr/>
                    <a:lstStyle/>
                    <a:p>
                      <a:pPr>
                        <a:buNone/>
                      </a:pPr>
                      <a:r>
                        <a:rPr lang="en-US" b="0">
                          <a:latin typeface="Times New Roman" panose="02020603050405020304" pitchFamily="18" charset="0"/>
                          <a:cs typeface="Times New Roman" panose="02020603050405020304" pitchFamily="18" charset="0"/>
                        </a:rPr>
                        <a:t>Helps identify what events need to be measured (e.g., sales, returns, claims).</a:t>
                      </a:r>
                    </a:p>
                  </a:txBody>
                  <a:tcPr anchor="ctr"/>
                </a:tc>
                <a:extLst>
                  <a:ext uri="{0D108BD9-81ED-4DB2-BD59-A6C34878D82A}">
                    <a16:rowId xmlns:a16="http://schemas.microsoft.com/office/drawing/2014/main" val="2708344661"/>
                  </a:ext>
                </a:extLst>
              </a:tr>
              <a:tr h="0">
                <a:tc>
                  <a:txBody>
                    <a:bodyPr/>
                    <a:lstStyle/>
                    <a:p>
                      <a:pPr>
                        <a:buNone/>
                      </a:pPr>
                      <a:r>
                        <a:rPr lang="en-US" b="0" dirty="0">
                          <a:latin typeface="Times New Roman" panose="02020603050405020304" pitchFamily="18" charset="0"/>
                          <a:cs typeface="Times New Roman" panose="02020603050405020304" pitchFamily="18" charset="0"/>
                        </a:rPr>
                        <a:t>Data Source Mapping</a:t>
                      </a:r>
                    </a:p>
                  </a:txBody>
                  <a:tcPr anchor="ctr"/>
                </a:tc>
                <a:tc>
                  <a:txBody>
                    <a:bodyPr/>
                    <a:lstStyle/>
                    <a:p>
                      <a:pPr>
                        <a:buNone/>
                      </a:pPr>
                      <a:r>
                        <a:rPr lang="en-US" b="0" dirty="0">
                          <a:latin typeface="Times New Roman" panose="02020603050405020304" pitchFamily="18" charset="0"/>
                          <a:cs typeface="Times New Roman" panose="02020603050405020304" pitchFamily="18" charset="0"/>
                        </a:rPr>
                        <a:t>Defines where data originates from (ERP, CRM, external APIs).</a:t>
                      </a:r>
                    </a:p>
                  </a:txBody>
                  <a:tcPr anchor="ctr"/>
                </a:tc>
                <a:extLst>
                  <a:ext uri="{0D108BD9-81ED-4DB2-BD59-A6C34878D82A}">
                    <a16:rowId xmlns:a16="http://schemas.microsoft.com/office/drawing/2014/main" val="1324853322"/>
                  </a:ext>
                </a:extLst>
              </a:tr>
              <a:tr h="0">
                <a:tc>
                  <a:txBody>
                    <a:bodyPr/>
                    <a:lstStyle/>
                    <a:p>
                      <a:pPr>
                        <a:buNone/>
                      </a:pPr>
                      <a:r>
                        <a:rPr lang="en-US" b="0">
                          <a:latin typeface="Times New Roman" panose="02020603050405020304" pitchFamily="18" charset="0"/>
                          <a:cs typeface="Times New Roman" panose="02020603050405020304" pitchFamily="18" charset="0"/>
                        </a:rPr>
                        <a:t>Fact Table Design</a:t>
                      </a:r>
                    </a:p>
                  </a:txBody>
                  <a:tcPr anchor="ctr"/>
                </a:tc>
                <a:tc>
                  <a:txBody>
                    <a:bodyPr/>
                    <a:lstStyle/>
                    <a:p>
                      <a:pPr>
                        <a:buNone/>
                      </a:pPr>
                      <a:r>
                        <a:rPr lang="en-US" b="0">
                          <a:latin typeface="Times New Roman" panose="02020603050405020304" pitchFamily="18" charset="0"/>
                          <a:cs typeface="Times New Roman" panose="02020603050405020304" pitchFamily="18" charset="0"/>
                        </a:rPr>
                        <a:t>Guides creation of fact tables for each business event.</a:t>
                      </a:r>
                    </a:p>
                  </a:txBody>
                  <a:tcPr anchor="ctr"/>
                </a:tc>
                <a:extLst>
                  <a:ext uri="{0D108BD9-81ED-4DB2-BD59-A6C34878D82A}">
                    <a16:rowId xmlns:a16="http://schemas.microsoft.com/office/drawing/2014/main" val="3806182008"/>
                  </a:ext>
                </a:extLst>
              </a:tr>
              <a:tr h="0">
                <a:tc>
                  <a:txBody>
                    <a:bodyPr/>
                    <a:lstStyle/>
                    <a:p>
                      <a:pPr>
                        <a:buNone/>
                      </a:pPr>
                      <a:r>
                        <a:rPr lang="en-US" b="0" dirty="0">
                          <a:latin typeface="Times New Roman" panose="02020603050405020304" pitchFamily="18" charset="0"/>
                          <a:cs typeface="Times New Roman" panose="02020603050405020304" pitchFamily="18" charset="0"/>
                        </a:rPr>
                        <a:t>Dimension Identification</a:t>
                      </a:r>
                    </a:p>
                  </a:txBody>
                  <a:tcPr anchor="ctr"/>
                </a:tc>
                <a:tc>
                  <a:txBody>
                    <a:bodyPr/>
                    <a:lstStyle/>
                    <a:p>
                      <a:pPr>
                        <a:buNone/>
                      </a:pPr>
                      <a:r>
                        <a:rPr lang="en-US" b="0">
                          <a:latin typeface="Times New Roman" panose="02020603050405020304" pitchFamily="18" charset="0"/>
                          <a:cs typeface="Times New Roman" panose="02020603050405020304" pitchFamily="18" charset="0"/>
                        </a:rPr>
                        <a:t>Helps define who, what, when, where, how for every fact.</a:t>
                      </a:r>
                    </a:p>
                  </a:txBody>
                  <a:tcPr anchor="ctr"/>
                </a:tc>
                <a:extLst>
                  <a:ext uri="{0D108BD9-81ED-4DB2-BD59-A6C34878D82A}">
                    <a16:rowId xmlns:a16="http://schemas.microsoft.com/office/drawing/2014/main" val="3489622698"/>
                  </a:ext>
                </a:extLst>
              </a:tr>
              <a:tr h="0">
                <a:tc>
                  <a:txBody>
                    <a:bodyPr/>
                    <a:lstStyle/>
                    <a:p>
                      <a:pPr>
                        <a:buNone/>
                      </a:pPr>
                      <a:r>
                        <a:rPr lang="en-US" b="0">
                          <a:latin typeface="Times New Roman" panose="02020603050405020304" pitchFamily="18" charset="0"/>
                          <a:cs typeface="Times New Roman" panose="02020603050405020304" pitchFamily="18" charset="0"/>
                        </a:rPr>
                        <a:t>Data Consistency</a:t>
                      </a:r>
                    </a:p>
                  </a:txBody>
                  <a:tcPr anchor="ctr"/>
                </a:tc>
                <a:tc>
                  <a:txBody>
                    <a:bodyPr/>
                    <a:lstStyle/>
                    <a:p>
                      <a:pPr>
                        <a:buNone/>
                      </a:pPr>
                      <a:r>
                        <a:rPr lang="en-US" b="0" dirty="0">
                          <a:latin typeface="Times New Roman" panose="02020603050405020304" pitchFamily="18" charset="0"/>
                          <a:cs typeface="Times New Roman" panose="02020603050405020304" pitchFamily="18" charset="0"/>
                        </a:rPr>
                        <a:t>Ensures consistent logic across reports and departments.</a:t>
                      </a:r>
                    </a:p>
                  </a:txBody>
                  <a:tcPr anchor="ctr"/>
                </a:tc>
                <a:extLst>
                  <a:ext uri="{0D108BD9-81ED-4DB2-BD59-A6C34878D82A}">
                    <a16:rowId xmlns:a16="http://schemas.microsoft.com/office/drawing/2014/main" val="1617114411"/>
                  </a:ext>
                </a:extLst>
              </a:tr>
            </a:tbl>
          </a:graphicData>
        </a:graphic>
      </p:graphicFrame>
      <p:sp>
        <p:nvSpPr>
          <p:cNvPr id="5" name="Rectangle 1">
            <a:extLst>
              <a:ext uri="{FF2B5EF4-FFF2-40B4-BE49-F238E27FC236}">
                <a16:creationId xmlns:a16="http://schemas.microsoft.com/office/drawing/2014/main" id="{5A39A242-4376-1A5C-D419-F1DAB2C20247}"/>
              </a:ext>
            </a:extLst>
          </p:cNvPr>
          <p:cNvSpPr>
            <a:spLocks noChangeArrowheads="1"/>
          </p:cNvSpPr>
          <p:nvPr/>
        </p:nvSpPr>
        <p:spPr bwMode="auto">
          <a:xfrm>
            <a:off x="525127" y="5125860"/>
            <a:ext cx="1017458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BPM provides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blueprint of how the business runs, which becomes the foundation of the data warehouse.</a:t>
            </a:r>
          </a:p>
        </p:txBody>
      </p:sp>
    </p:spTree>
    <p:extLst>
      <p:ext uri="{BB962C8B-B14F-4D97-AF65-F5344CB8AC3E}">
        <p14:creationId xmlns:p14="http://schemas.microsoft.com/office/powerpoint/2010/main" val="258822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3B90E-DEC3-3749-3AD7-FFEFB6A93C20}"/>
              </a:ext>
            </a:extLst>
          </p:cNvPr>
          <p:cNvSpPr>
            <a:spLocks noGrp="1"/>
          </p:cNvSpPr>
          <p:nvPr>
            <p:ph type="title"/>
          </p:nvPr>
        </p:nvSpPr>
        <p:spPr>
          <a:xfrm>
            <a:off x="587628" y="719180"/>
            <a:ext cx="10807652" cy="440488"/>
          </a:xfrm>
        </p:spPr>
        <p:txBody>
          <a:bodyPr>
            <a:normAutofit fontScale="90000"/>
          </a:bodyPr>
          <a:lstStyle/>
          <a:p>
            <a:r>
              <a:rPr lang="en-US" dirty="0">
                <a:latin typeface="Times New Roman" panose="02020603050405020304" pitchFamily="18" charset="0"/>
                <a:cs typeface="Times New Roman" panose="02020603050405020304" pitchFamily="18" charset="0"/>
              </a:rPr>
              <a:t>Steps in Business Process Modeling for Data Warehouse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755304E-F64F-7B9A-5567-75B0740ADF5F}"/>
              </a:ext>
            </a:extLst>
          </p:cNvPr>
          <p:cNvSpPr txBox="1"/>
          <p:nvPr/>
        </p:nvSpPr>
        <p:spPr>
          <a:xfrm>
            <a:off x="347738" y="1060507"/>
            <a:ext cx="7645888" cy="5355312"/>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Step 1: Identify Core Business Processes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Examples: Sales, Inventory, Procurement, Claims, HR Operations.</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2: Define the Business Events (Facts)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Events like “Order Placed”, “Shipment Sent”, “Payment Received”.</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3: Determine the Grain (Level of Detail)</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Define what each record in the fact table represents.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Example: </a:t>
            </a:r>
            <a:r>
              <a:rPr lang="en-US" i="1" dirty="0">
                <a:latin typeface="Times New Roman" panose="02020603050405020304" pitchFamily="18" charset="0"/>
                <a:cs typeface="Times New Roman" panose="02020603050405020304" pitchFamily="18" charset="0"/>
              </a:rPr>
              <a:t>One row per order</a:t>
            </a:r>
            <a:r>
              <a:rPr lang="en-US" dirty="0">
                <a:latin typeface="Times New Roman" panose="02020603050405020304" pitchFamily="18" charset="0"/>
                <a:cs typeface="Times New Roman" panose="02020603050405020304" pitchFamily="18" charset="0"/>
              </a:rPr>
              <a:t>, or </a:t>
            </a:r>
            <a:r>
              <a:rPr lang="en-US" i="1" dirty="0">
                <a:latin typeface="Times New Roman" panose="02020603050405020304" pitchFamily="18" charset="0"/>
                <a:cs typeface="Times New Roman" panose="02020603050405020304" pitchFamily="18" charset="0"/>
              </a:rPr>
              <a:t>one row per product per order</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4: Identify Dimensions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Dimensions provide descriptive context: Customer, Product, Date, Region, etc.</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5: Map Source Systems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Connect each process to its data sources (e.g., ERP tables, CRM exports).</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6: Validate with Stakeholders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Review process flows and measures with business users to ensure accuracy.</a:t>
            </a:r>
          </a:p>
        </p:txBody>
      </p:sp>
      <p:pic>
        <p:nvPicPr>
          <p:cNvPr id="7" name="Picture 6">
            <a:extLst>
              <a:ext uri="{FF2B5EF4-FFF2-40B4-BE49-F238E27FC236}">
                <a16:creationId xmlns:a16="http://schemas.microsoft.com/office/drawing/2014/main" id="{75D50876-9117-6EDD-FDC4-C1AAD6A1E0CA}"/>
              </a:ext>
            </a:extLst>
          </p:cNvPr>
          <p:cNvPicPr>
            <a:picLocks noChangeAspect="1"/>
          </p:cNvPicPr>
          <p:nvPr/>
        </p:nvPicPr>
        <p:blipFill>
          <a:blip r:embed="rId2"/>
          <a:stretch>
            <a:fillRect/>
          </a:stretch>
        </p:blipFill>
        <p:spPr>
          <a:xfrm>
            <a:off x="7993626" y="1091949"/>
            <a:ext cx="4060722" cy="5267141"/>
          </a:xfrm>
          <a:prstGeom prst="rect">
            <a:avLst/>
          </a:prstGeom>
        </p:spPr>
      </p:pic>
    </p:spTree>
    <p:extLst>
      <p:ext uri="{BB962C8B-B14F-4D97-AF65-F5344CB8AC3E}">
        <p14:creationId xmlns:p14="http://schemas.microsoft.com/office/powerpoint/2010/main" val="17152560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B2CC1-EB3E-87AA-3EFD-647E675A016B}"/>
              </a:ext>
            </a:extLst>
          </p:cNvPr>
          <p:cNvSpPr>
            <a:spLocks noGrp="1"/>
          </p:cNvSpPr>
          <p:nvPr>
            <p:ph type="title"/>
          </p:nvPr>
        </p:nvSpPr>
        <p:spPr>
          <a:xfrm>
            <a:off x="538466" y="709349"/>
            <a:ext cx="10807652" cy="440488"/>
          </a:xfrm>
        </p:spPr>
        <p:txBody>
          <a:bodyPr>
            <a:normAutofit fontScale="90000"/>
          </a:bodyPr>
          <a:lstStyle/>
          <a:p>
            <a:r>
              <a:rPr lang="en-US" altLang="en-US" sz="3200" dirty="0">
                <a:latin typeface="Times New Roman" panose="02020603050405020304" pitchFamily="18" charset="0"/>
                <a:cs typeface="Times New Roman" panose="02020603050405020304" pitchFamily="18" charset="0"/>
              </a:rPr>
              <a:t>Example – Order Management Process</a:t>
            </a:r>
            <a:br>
              <a:rPr lang="en-US" altLang="en-US" sz="32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2143A8B-3A19-236D-5FC9-B5CFDD979F4E}"/>
              </a:ext>
            </a:extLst>
          </p:cNvPr>
          <p:cNvGraphicFramePr>
            <a:graphicFrameLocks noGrp="1"/>
          </p:cNvGraphicFramePr>
          <p:nvPr/>
        </p:nvGraphicFramePr>
        <p:xfrm>
          <a:off x="459808" y="2079030"/>
          <a:ext cx="9097146" cy="2011680"/>
        </p:xfrm>
        <a:graphic>
          <a:graphicData uri="http://schemas.openxmlformats.org/drawingml/2006/table">
            <a:tbl>
              <a:tblPr>
                <a:tableStyleId>{3C2FFA5D-87B4-456A-9821-1D502468CF0F}</a:tableStyleId>
              </a:tblPr>
              <a:tblGrid>
                <a:gridCol w="2147620">
                  <a:extLst>
                    <a:ext uri="{9D8B030D-6E8A-4147-A177-3AD203B41FA5}">
                      <a16:colId xmlns:a16="http://schemas.microsoft.com/office/drawing/2014/main" val="2036793416"/>
                    </a:ext>
                  </a:extLst>
                </a:gridCol>
                <a:gridCol w="2320156">
                  <a:extLst>
                    <a:ext uri="{9D8B030D-6E8A-4147-A177-3AD203B41FA5}">
                      <a16:colId xmlns:a16="http://schemas.microsoft.com/office/drawing/2014/main" val="1172820697"/>
                    </a:ext>
                  </a:extLst>
                </a:gridCol>
                <a:gridCol w="4629370">
                  <a:extLst>
                    <a:ext uri="{9D8B030D-6E8A-4147-A177-3AD203B41FA5}">
                      <a16:colId xmlns:a16="http://schemas.microsoft.com/office/drawing/2014/main" val="753803290"/>
                    </a:ext>
                  </a:extLst>
                </a:gridCol>
              </a:tblGrid>
              <a:tr h="0">
                <a:tc>
                  <a:txBody>
                    <a:bodyPr/>
                    <a:lstStyle/>
                    <a:p>
                      <a:pPr algn="ctr">
                        <a:buNone/>
                      </a:pPr>
                      <a:r>
                        <a:rPr lang="en-US" b="1"/>
                        <a:t>Fact Table</a:t>
                      </a:r>
                    </a:p>
                  </a:txBody>
                  <a:tcPr anchor="ctr"/>
                </a:tc>
                <a:tc>
                  <a:txBody>
                    <a:bodyPr/>
                    <a:lstStyle/>
                    <a:p>
                      <a:pPr algn="ctr">
                        <a:buNone/>
                      </a:pPr>
                      <a:r>
                        <a:rPr lang="en-US" b="1"/>
                        <a:t>Description</a:t>
                      </a:r>
                    </a:p>
                  </a:txBody>
                  <a:tcPr anchor="ctr"/>
                </a:tc>
                <a:tc>
                  <a:txBody>
                    <a:bodyPr/>
                    <a:lstStyle/>
                    <a:p>
                      <a:pPr algn="ctr">
                        <a:buNone/>
                      </a:pPr>
                      <a:r>
                        <a:rPr lang="en-US" b="1" dirty="0"/>
                        <a:t>Example Measures</a:t>
                      </a:r>
                    </a:p>
                  </a:txBody>
                  <a:tcPr anchor="ctr"/>
                </a:tc>
                <a:extLst>
                  <a:ext uri="{0D108BD9-81ED-4DB2-BD59-A6C34878D82A}">
                    <a16:rowId xmlns:a16="http://schemas.microsoft.com/office/drawing/2014/main" val="2599025406"/>
                  </a:ext>
                </a:extLst>
              </a:tr>
              <a:tr h="0">
                <a:tc>
                  <a:txBody>
                    <a:bodyPr/>
                    <a:lstStyle/>
                    <a:p>
                      <a:pPr algn="ctr">
                        <a:buNone/>
                      </a:pPr>
                      <a:r>
                        <a:rPr lang="en-US" b="0" dirty="0" err="1"/>
                        <a:t>Fact_Order</a:t>
                      </a:r>
                      <a:endParaRPr lang="en-US" b="0" dirty="0"/>
                    </a:p>
                  </a:txBody>
                  <a:tcPr anchor="ctr"/>
                </a:tc>
                <a:tc>
                  <a:txBody>
                    <a:bodyPr/>
                    <a:lstStyle/>
                    <a:p>
                      <a:pPr algn="ctr">
                        <a:buNone/>
                      </a:pPr>
                      <a:r>
                        <a:rPr lang="en-US" dirty="0"/>
                        <a:t>Records each order placed</a:t>
                      </a:r>
                    </a:p>
                  </a:txBody>
                  <a:tcPr anchor="ctr"/>
                </a:tc>
                <a:tc>
                  <a:txBody>
                    <a:bodyPr/>
                    <a:lstStyle/>
                    <a:p>
                      <a:pPr algn="ctr">
                        <a:buNone/>
                      </a:pPr>
                      <a:r>
                        <a:rPr lang="en-US" dirty="0"/>
                        <a:t>Order Amount, Quantity</a:t>
                      </a:r>
                    </a:p>
                  </a:txBody>
                  <a:tcPr anchor="ctr"/>
                </a:tc>
                <a:extLst>
                  <a:ext uri="{0D108BD9-81ED-4DB2-BD59-A6C34878D82A}">
                    <a16:rowId xmlns:a16="http://schemas.microsoft.com/office/drawing/2014/main" val="2994668589"/>
                  </a:ext>
                </a:extLst>
              </a:tr>
              <a:tr h="0">
                <a:tc>
                  <a:txBody>
                    <a:bodyPr/>
                    <a:lstStyle/>
                    <a:p>
                      <a:pPr algn="ctr">
                        <a:buNone/>
                      </a:pPr>
                      <a:r>
                        <a:rPr lang="en-US" b="0" dirty="0" err="1"/>
                        <a:t>Fact_Shipment</a:t>
                      </a:r>
                      <a:endParaRPr lang="en-US" b="0" dirty="0"/>
                    </a:p>
                  </a:txBody>
                  <a:tcPr anchor="ctr"/>
                </a:tc>
                <a:tc>
                  <a:txBody>
                    <a:bodyPr/>
                    <a:lstStyle/>
                    <a:p>
                      <a:pPr algn="ctr">
                        <a:buNone/>
                      </a:pPr>
                      <a:r>
                        <a:rPr lang="en-US" dirty="0"/>
                        <a:t>Tracks shipments</a:t>
                      </a:r>
                    </a:p>
                  </a:txBody>
                  <a:tcPr anchor="ctr"/>
                </a:tc>
                <a:tc>
                  <a:txBody>
                    <a:bodyPr/>
                    <a:lstStyle/>
                    <a:p>
                      <a:pPr algn="ctr">
                        <a:buNone/>
                      </a:pPr>
                      <a:r>
                        <a:rPr lang="en-US" dirty="0"/>
                        <a:t>Shipped Quantity, Delivery Days</a:t>
                      </a:r>
                    </a:p>
                  </a:txBody>
                  <a:tcPr anchor="ctr"/>
                </a:tc>
                <a:extLst>
                  <a:ext uri="{0D108BD9-81ED-4DB2-BD59-A6C34878D82A}">
                    <a16:rowId xmlns:a16="http://schemas.microsoft.com/office/drawing/2014/main" val="740255563"/>
                  </a:ext>
                </a:extLst>
              </a:tr>
              <a:tr h="0">
                <a:tc>
                  <a:txBody>
                    <a:bodyPr/>
                    <a:lstStyle/>
                    <a:p>
                      <a:pPr algn="ctr">
                        <a:buNone/>
                      </a:pPr>
                      <a:r>
                        <a:rPr lang="en-US" b="0" dirty="0" err="1"/>
                        <a:t>Fact_Payment</a:t>
                      </a:r>
                      <a:endParaRPr lang="en-US" b="0" dirty="0"/>
                    </a:p>
                  </a:txBody>
                  <a:tcPr anchor="ctr"/>
                </a:tc>
                <a:tc>
                  <a:txBody>
                    <a:bodyPr/>
                    <a:lstStyle/>
                    <a:p>
                      <a:pPr algn="ctr">
                        <a:buNone/>
                      </a:pPr>
                      <a:r>
                        <a:rPr lang="en-US"/>
                        <a:t>Records payments received</a:t>
                      </a:r>
                    </a:p>
                  </a:txBody>
                  <a:tcPr anchor="ctr"/>
                </a:tc>
                <a:tc>
                  <a:txBody>
                    <a:bodyPr/>
                    <a:lstStyle/>
                    <a:p>
                      <a:pPr algn="ctr">
                        <a:buNone/>
                      </a:pPr>
                      <a:r>
                        <a:rPr lang="en-US" dirty="0"/>
                        <a:t>Payment Amount, Discount</a:t>
                      </a:r>
                    </a:p>
                  </a:txBody>
                  <a:tcPr anchor="ctr"/>
                </a:tc>
                <a:extLst>
                  <a:ext uri="{0D108BD9-81ED-4DB2-BD59-A6C34878D82A}">
                    <a16:rowId xmlns:a16="http://schemas.microsoft.com/office/drawing/2014/main" val="3693925398"/>
                  </a:ext>
                </a:extLst>
              </a:tr>
            </a:tbl>
          </a:graphicData>
        </a:graphic>
      </p:graphicFrame>
      <p:sp>
        <p:nvSpPr>
          <p:cNvPr id="5" name="Rectangle 1">
            <a:extLst>
              <a:ext uri="{FF2B5EF4-FFF2-40B4-BE49-F238E27FC236}">
                <a16:creationId xmlns:a16="http://schemas.microsoft.com/office/drawing/2014/main" id="{02A9DF16-BC46-8BEF-F3A5-42355B1F1B44}"/>
              </a:ext>
            </a:extLst>
          </p:cNvPr>
          <p:cNvSpPr>
            <a:spLocks noChangeArrowheads="1"/>
          </p:cNvSpPr>
          <p:nvPr/>
        </p:nvSpPr>
        <p:spPr bwMode="auto">
          <a:xfrm>
            <a:off x="336754" y="1068092"/>
            <a:ext cx="858110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Process:</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places an order → Product is shipped → Payment is received.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Fact Tables: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Dimension Tables: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Dim_Customer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(Who)</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Dim_Product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(What)</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Dim_Date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Dim_Region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Grain Example: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Fact_Order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One row per order line item.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823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E059C6-85BA-4084-1DF2-45B8E4F56CF2}"/>
              </a:ext>
            </a:extLst>
          </p:cNvPr>
          <p:cNvSpPr>
            <a:spLocks noGrp="1"/>
          </p:cNvSpPr>
          <p:nvPr>
            <p:ph type="title"/>
          </p:nvPr>
        </p:nvSpPr>
        <p:spPr>
          <a:xfrm>
            <a:off x="658478" y="1912409"/>
            <a:ext cx="10532918" cy="1292678"/>
          </a:xfrm>
        </p:spPr>
        <p:txBody>
          <a:bodyPr>
            <a:normAutofit fontScale="90000"/>
          </a:bodyPr>
          <a:lstStyle/>
          <a:p>
            <a:r>
              <a:rPr lang="en-US" dirty="0">
                <a:latin typeface="Times New Roman" panose="02020603050405020304" pitchFamily="18" charset="0"/>
                <a:cs typeface="Times New Roman" panose="02020603050405020304" pitchFamily="18" charset="0"/>
              </a:rPr>
              <a:t>Data Modeling Levels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(Conceptual, Logical, Physical)</a:t>
            </a:r>
          </a:p>
        </p:txBody>
      </p:sp>
    </p:spTree>
    <p:extLst>
      <p:ext uri="{BB962C8B-B14F-4D97-AF65-F5344CB8AC3E}">
        <p14:creationId xmlns:p14="http://schemas.microsoft.com/office/powerpoint/2010/main" val="298863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8B9A-5321-64EE-E38E-94B4DCFAF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9DC04-8740-8404-A7C0-372D3B8AA28F}"/>
              </a:ext>
            </a:extLst>
          </p:cNvPr>
          <p:cNvSpPr>
            <a:spLocks noGrp="1"/>
          </p:cNvSpPr>
          <p:nvPr>
            <p:ph type="title"/>
          </p:nvPr>
        </p:nvSpPr>
        <p:spPr>
          <a:xfrm>
            <a:off x="518494" y="581530"/>
            <a:ext cx="11378230" cy="440488"/>
          </a:xfrm>
        </p:spPr>
        <p:txBody>
          <a:bodyPr>
            <a:normAutofit/>
          </a:bodyPr>
          <a:lstStyle/>
          <a:p>
            <a:r>
              <a:rPr lang="en-US" dirty="0">
                <a:latin typeface="Times New Roman" panose="02020603050405020304" pitchFamily="18" charset="0"/>
                <a:cs typeface="Times New Roman" panose="02020603050405020304" pitchFamily="18" charset="0"/>
              </a:rPr>
              <a:t>Data Modeling &amp; Levels in Data Warehousing</a:t>
            </a:r>
          </a:p>
        </p:txBody>
      </p:sp>
      <p:sp>
        <p:nvSpPr>
          <p:cNvPr id="5" name="TextBox 4">
            <a:extLst>
              <a:ext uri="{FF2B5EF4-FFF2-40B4-BE49-F238E27FC236}">
                <a16:creationId xmlns:a16="http://schemas.microsoft.com/office/drawing/2014/main" id="{CC345C26-AC68-8745-D03A-7190A79F8A22}"/>
              </a:ext>
            </a:extLst>
          </p:cNvPr>
          <p:cNvSpPr txBox="1"/>
          <p:nvPr/>
        </p:nvSpPr>
        <p:spPr>
          <a:xfrm>
            <a:off x="361332" y="1122471"/>
            <a:ext cx="11230900" cy="5078313"/>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What is Data Modeling?</a:t>
            </a:r>
          </a:p>
          <a:p>
            <a:r>
              <a:rPr lang="en-US" dirty="0">
                <a:latin typeface="Times New Roman" panose="02020603050405020304" pitchFamily="18" charset="0"/>
                <a:cs typeface="Times New Roman" panose="02020603050405020304" pitchFamily="18" charset="0"/>
              </a:rPr>
              <a:t>Data modeling is the process of visually representing how data is stored, connected, and processed within a system.</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Purpose: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 blueprint for designing databases.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bridge business understanding and technical implementation.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data consistency, accuracy, and reusability.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Objective: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understand how data models evolve from high-level business</a:t>
            </a:r>
          </a:p>
          <a:p>
            <a:r>
              <a:rPr lang="en-US" dirty="0">
                <a:latin typeface="Times New Roman" panose="02020603050405020304" pitchFamily="18" charset="0"/>
                <a:cs typeface="Times New Roman" panose="02020603050405020304" pitchFamily="18" charset="0"/>
              </a:rPr>
              <a:t> understanding to actual database implementation.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Main Levels:</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Conceptual Data Model</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Logical Data Model</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Physical Data Model</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BEABB94-DCCB-C8A6-5499-FEE474A9FAAF}"/>
              </a:ext>
            </a:extLst>
          </p:cNvPr>
          <p:cNvPicPr>
            <a:picLocks noChangeAspect="1"/>
          </p:cNvPicPr>
          <p:nvPr/>
        </p:nvPicPr>
        <p:blipFill>
          <a:blip r:embed="rId3"/>
          <a:stretch>
            <a:fillRect/>
          </a:stretch>
        </p:blipFill>
        <p:spPr>
          <a:xfrm>
            <a:off x="6673490" y="3071512"/>
            <a:ext cx="5157178" cy="2945830"/>
          </a:xfrm>
          <a:prstGeom prst="rect">
            <a:avLst/>
          </a:prstGeom>
        </p:spPr>
      </p:pic>
    </p:spTree>
    <p:extLst>
      <p:ext uri="{BB962C8B-B14F-4D97-AF65-F5344CB8AC3E}">
        <p14:creationId xmlns:p14="http://schemas.microsoft.com/office/powerpoint/2010/main" val="3765115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787E-61FE-0749-3356-A1B5EA9D6642}"/>
              </a:ext>
            </a:extLst>
          </p:cNvPr>
          <p:cNvSpPr>
            <a:spLocks noGrp="1"/>
          </p:cNvSpPr>
          <p:nvPr>
            <p:ph type="title"/>
          </p:nvPr>
        </p:nvSpPr>
        <p:spPr>
          <a:xfrm>
            <a:off x="692174" y="689684"/>
            <a:ext cx="10807652" cy="440488"/>
          </a:xfrm>
        </p:spPr>
        <p:txBody>
          <a:bodyPr>
            <a:normAutofit fontScale="90000"/>
          </a:bodyPr>
          <a:lstStyle/>
          <a:p>
            <a:r>
              <a:rPr lang="en-US" dirty="0">
                <a:latin typeface="Times New Roman" panose="02020603050405020304" pitchFamily="18" charset="0"/>
                <a:cs typeface="Times New Roman" panose="02020603050405020304" pitchFamily="18" charset="0"/>
              </a:rPr>
              <a:t>Conceptual Data Model (Business View)</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15467F6-307C-221E-B13D-60125CB2B6D1}"/>
              </a:ext>
            </a:extLst>
          </p:cNvPr>
          <p:cNvSpPr txBox="1"/>
          <p:nvPr/>
        </p:nvSpPr>
        <p:spPr>
          <a:xfrm>
            <a:off x="540775" y="1048092"/>
            <a:ext cx="4945625" cy="4247317"/>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High-level business understanding of data — </a:t>
            </a:r>
            <a:r>
              <a:rPr lang="en-US" i="1" dirty="0">
                <a:latin typeface="Times New Roman" panose="02020603050405020304" pitchFamily="18" charset="0"/>
                <a:cs typeface="Times New Roman" panose="02020603050405020304" pitchFamily="18" charset="0"/>
              </a:rPr>
              <a:t>“What data do we need?”</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Key Points: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Represents main entities (Customer, Product, Order, etc.) and their relationships.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technical details — purely business-oriented.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for discussions between business users and analysts</a:t>
            </a:r>
            <a:r>
              <a:rPr lang="en-US" b="1"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Entities: Customer, Order, Product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Relationships: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Customer places many Orders.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Order contains multiple Products.</a:t>
            </a:r>
          </a:p>
        </p:txBody>
      </p:sp>
      <p:pic>
        <p:nvPicPr>
          <p:cNvPr id="7" name="Picture 6">
            <a:extLst>
              <a:ext uri="{FF2B5EF4-FFF2-40B4-BE49-F238E27FC236}">
                <a16:creationId xmlns:a16="http://schemas.microsoft.com/office/drawing/2014/main" id="{E32B8AE9-06BD-4023-E072-71D9C5A9C6B0}"/>
              </a:ext>
            </a:extLst>
          </p:cNvPr>
          <p:cNvPicPr>
            <a:picLocks noChangeAspect="1"/>
          </p:cNvPicPr>
          <p:nvPr/>
        </p:nvPicPr>
        <p:blipFill>
          <a:blip r:embed="rId2"/>
          <a:stretch>
            <a:fillRect/>
          </a:stretch>
        </p:blipFill>
        <p:spPr>
          <a:xfrm>
            <a:off x="5840109" y="1130172"/>
            <a:ext cx="6224072" cy="4051428"/>
          </a:xfrm>
          <a:prstGeom prst="rect">
            <a:avLst/>
          </a:prstGeom>
        </p:spPr>
      </p:pic>
    </p:spTree>
    <p:extLst>
      <p:ext uri="{BB962C8B-B14F-4D97-AF65-F5344CB8AC3E}">
        <p14:creationId xmlns:p14="http://schemas.microsoft.com/office/powerpoint/2010/main" val="2551827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7AF30-3D69-7AC6-2463-2C3ECDFCF206}"/>
              </a:ext>
            </a:extLst>
          </p:cNvPr>
          <p:cNvSpPr>
            <a:spLocks noGrp="1"/>
          </p:cNvSpPr>
          <p:nvPr>
            <p:ph type="title"/>
          </p:nvPr>
        </p:nvSpPr>
        <p:spPr>
          <a:xfrm>
            <a:off x="569118" y="670020"/>
            <a:ext cx="10807652" cy="440488"/>
          </a:xfrm>
        </p:spPr>
        <p:txBody>
          <a:bodyPr>
            <a:normAutofit fontScale="90000"/>
          </a:bodyPr>
          <a:lstStyle/>
          <a:p>
            <a:r>
              <a:rPr lang="en-US" dirty="0">
                <a:latin typeface="Times New Roman" panose="02020603050405020304" pitchFamily="18" charset="0"/>
                <a:cs typeface="Times New Roman" panose="02020603050405020304" pitchFamily="18" charset="0"/>
              </a:rPr>
              <a:t>Logical Data Model (Detailed Design View)</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81C993C-F5D8-EE1C-DA20-A945EBF7C34E}"/>
              </a:ext>
            </a:extLst>
          </p:cNvPr>
          <p:cNvSpPr>
            <a:spLocks noGrp="1"/>
          </p:cNvSpPr>
          <p:nvPr>
            <p:ph type="body" sz="quarter" idx="10"/>
          </p:nvPr>
        </p:nvSpPr>
        <p:spPr>
          <a:xfrm>
            <a:off x="451083" y="1110508"/>
            <a:ext cx="5212298" cy="2800351"/>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Adds more detail to conceptual model — </a:t>
            </a:r>
            <a:r>
              <a:rPr lang="en-US" sz="1800" i="1" dirty="0">
                <a:latin typeface="Times New Roman" panose="02020603050405020304" pitchFamily="18" charset="0"/>
                <a:cs typeface="Times New Roman" panose="02020603050405020304" pitchFamily="18" charset="0"/>
              </a:rPr>
              <a:t>“How is data logically organized?”</a:t>
            </a: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Key Points:</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Defines attributes for each entity (e.g., Customer → Name, Email, City).</a:t>
            </a:r>
          </a:p>
          <a:p>
            <a:r>
              <a:rPr lang="en-US" sz="1800" dirty="0">
                <a:latin typeface="Times New Roman" panose="02020603050405020304" pitchFamily="18" charset="0"/>
                <a:cs typeface="Times New Roman" panose="02020603050405020304" pitchFamily="18" charset="0"/>
              </a:rPr>
              <a:t>Specifies primary keys (PK) and foreign keys (FK).</a:t>
            </a:r>
          </a:p>
          <a:p>
            <a:r>
              <a:rPr lang="en-US" sz="1800" dirty="0">
                <a:latin typeface="Times New Roman" panose="02020603050405020304" pitchFamily="18" charset="0"/>
                <a:cs typeface="Times New Roman" panose="02020603050405020304" pitchFamily="18" charset="0"/>
              </a:rPr>
              <a:t>Still independent of any specific database system (e.g., SQL Server, Oracle).</a:t>
            </a:r>
          </a:p>
          <a:p>
            <a:r>
              <a:rPr lang="en-US" sz="1800" dirty="0">
                <a:latin typeface="Times New Roman" panose="02020603050405020304" pitchFamily="18" charset="0"/>
                <a:cs typeface="Times New Roman" panose="02020603050405020304" pitchFamily="18" charset="0"/>
              </a:rPr>
              <a:t>Ensures data normalization and data integrity.</a:t>
            </a:r>
          </a:p>
          <a:p>
            <a:pPr marL="0" indent="0">
              <a:buNone/>
            </a:pPr>
            <a:r>
              <a:rPr lang="en-US" sz="1800" b="1" dirty="0">
                <a:latin typeface="Times New Roman" panose="02020603050405020304" pitchFamily="18" charset="0"/>
                <a:cs typeface="Times New Roman" panose="02020603050405020304" pitchFamily="18" charset="0"/>
              </a:rPr>
              <a:t>Example:</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Table: Customer</a:t>
            </a:r>
          </a:p>
          <a:p>
            <a:pPr lvl="1"/>
            <a:r>
              <a:rPr lang="en-US" sz="1800" dirty="0">
                <a:latin typeface="Times New Roman" panose="02020603050405020304" pitchFamily="18" charset="0"/>
                <a:cs typeface="Times New Roman" panose="02020603050405020304" pitchFamily="18" charset="0"/>
              </a:rPr>
              <a:t>PK: </a:t>
            </a:r>
            <a:r>
              <a:rPr lang="en-US" sz="1800" dirty="0" err="1">
                <a:latin typeface="Times New Roman" panose="02020603050405020304" pitchFamily="18" charset="0"/>
                <a:cs typeface="Times New Roman" panose="02020603050405020304" pitchFamily="18" charset="0"/>
              </a:rPr>
              <a:t>Customer_ID</a:t>
            </a:r>
            <a:endParaRPr lang="en-US" sz="18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Attributes: Name, Email, City</a:t>
            </a:r>
          </a:p>
        </p:txBody>
      </p:sp>
      <p:pic>
        <p:nvPicPr>
          <p:cNvPr id="5" name="Picture 4">
            <a:extLst>
              <a:ext uri="{FF2B5EF4-FFF2-40B4-BE49-F238E27FC236}">
                <a16:creationId xmlns:a16="http://schemas.microsoft.com/office/drawing/2014/main" id="{9EA514FE-0013-2C02-8405-C8818A393CBA}"/>
              </a:ext>
            </a:extLst>
          </p:cNvPr>
          <p:cNvPicPr>
            <a:picLocks noChangeAspect="1"/>
          </p:cNvPicPr>
          <p:nvPr/>
        </p:nvPicPr>
        <p:blipFill>
          <a:blip r:embed="rId2"/>
          <a:stretch>
            <a:fillRect/>
          </a:stretch>
        </p:blipFill>
        <p:spPr>
          <a:xfrm>
            <a:off x="5972944" y="1034438"/>
            <a:ext cx="5631075" cy="4176659"/>
          </a:xfrm>
          <a:prstGeom prst="rect">
            <a:avLst/>
          </a:prstGeom>
        </p:spPr>
      </p:pic>
    </p:spTree>
    <p:extLst>
      <p:ext uri="{BB962C8B-B14F-4D97-AF65-F5344CB8AC3E}">
        <p14:creationId xmlns:p14="http://schemas.microsoft.com/office/powerpoint/2010/main" val="3654483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18D8F-3894-34C1-19BD-B1CA6EA96BA8}"/>
              </a:ext>
            </a:extLst>
          </p:cNvPr>
          <p:cNvSpPr>
            <a:spLocks noGrp="1"/>
          </p:cNvSpPr>
          <p:nvPr>
            <p:ph type="title"/>
          </p:nvPr>
        </p:nvSpPr>
        <p:spPr>
          <a:xfrm>
            <a:off x="692174" y="689684"/>
            <a:ext cx="10807652" cy="440488"/>
          </a:xfrm>
        </p:spPr>
        <p:txBody>
          <a:bodyPr>
            <a:normAutofit fontScale="90000"/>
          </a:bodyPr>
          <a:lstStyle/>
          <a:p>
            <a:r>
              <a:rPr lang="en-US" dirty="0">
                <a:latin typeface="Times New Roman" panose="02020603050405020304" pitchFamily="18" charset="0"/>
                <a:cs typeface="Times New Roman" panose="02020603050405020304" pitchFamily="18" charset="0"/>
              </a:rPr>
              <a:t>Physical Data Model (Implementation View)</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8696CC9-5719-7B1F-7F23-C3E1995A8A5E}"/>
              </a:ext>
            </a:extLst>
          </p:cNvPr>
          <p:cNvSpPr txBox="1"/>
          <p:nvPr/>
        </p:nvSpPr>
        <p:spPr>
          <a:xfrm>
            <a:off x="501445" y="1109970"/>
            <a:ext cx="8126361" cy="397031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Focus:</a:t>
            </a:r>
            <a:r>
              <a:rPr lang="en-US" dirty="0">
                <a:latin typeface="Times New Roman" panose="02020603050405020304" pitchFamily="18" charset="0"/>
                <a:cs typeface="Times New Roman" panose="02020603050405020304" pitchFamily="18" charset="0"/>
              </a:rPr>
              <a:t> Actual database implementation — </a:t>
            </a:r>
            <a:r>
              <a:rPr lang="en-US" i="1" dirty="0">
                <a:latin typeface="Times New Roman" panose="02020603050405020304" pitchFamily="18" charset="0"/>
                <a:cs typeface="Times New Roman" panose="02020603050405020304" pitchFamily="18" charset="0"/>
              </a:rPr>
              <a:t>“How is data stored physically?”</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Key Points: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logical model into database tables, columns, indexes, and constraints.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data types (VARCHAR, INT, DATE, etc.).</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Optimized for performance, storage, and query efficiency.</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Reflects naming conventions, partitioning, and indexing strategies.</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Table: </a:t>
            </a:r>
            <a:r>
              <a:rPr lang="en-US" dirty="0" err="1">
                <a:latin typeface="Times New Roman" panose="02020603050405020304" pitchFamily="18" charset="0"/>
                <a:cs typeface="Times New Roman" panose="02020603050405020304" pitchFamily="18" charset="0"/>
              </a:rPr>
              <a:t>dim_customer</a:t>
            </a:r>
            <a:endParaRPr lang="en-US"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customer_id</a:t>
            </a:r>
            <a:r>
              <a:rPr lang="en-US" dirty="0">
                <a:latin typeface="Times New Roman" panose="02020603050405020304" pitchFamily="18" charset="0"/>
                <a:cs typeface="Times New Roman" panose="02020603050405020304" pitchFamily="18" charset="0"/>
              </a:rPr>
              <a:t> INT PRIMARY KEY</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name VARCHAR(100)</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city VARCHAR(50)</a:t>
            </a:r>
          </a:p>
        </p:txBody>
      </p:sp>
    </p:spTree>
    <p:extLst>
      <p:ext uri="{BB962C8B-B14F-4D97-AF65-F5344CB8AC3E}">
        <p14:creationId xmlns:p14="http://schemas.microsoft.com/office/powerpoint/2010/main" val="3770663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AAB1-0B6B-DD8C-6796-ED3B8FC1E2CE}"/>
              </a:ext>
            </a:extLst>
          </p:cNvPr>
          <p:cNvSpPr>
            <a:spLocks noGrp="1"/>
          </p:cNvSpPr>
          <p:nvPr>
            <p:ph type="title"/>
          </p:nvPr>
        </p:nvSpPr>
        <p:spPr>
          <a:xfrm>
            <a:off x="562897" y="758211"/>
            <a:ext cx="11338902" cy="440488"/>
          </a:xfrm>
        </p:spPr>
        <p:txBody>
          <a:bodyPr>
            <a:noAutofit/>
          </a:bodyPr>
          <a:lstStyle/>
          <a:p>
            <a:pPr eaLnBrk="0" fontAlgn="base" hangingPunct="0">
              <a:lnSpc>
                <a:spcPct val="100000"/>
              </a:lnSpc>
              <a:spcAft>
                <a:spcPct val="0"/>
              </a:spcAft>
            </a:pPr>
            <a:r>
              <a:rPr lang="en-US" sz="2800" dirty="0">
                <a:latin typeface="Times New Roman" panose="02020603050405020304" pitchFamily="18" charset="0"/>
                <a:cs typeface="Times New Roman" panose="02020603050405020304" pitchFamily="18" charset="0"/>
              </a:rPr>
              <a:t>Comparison of Conceptual, Logical, and Physical Data Models</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4F6AFC6-6CAA-897B-75E6-0CF1B881C813}"/>
              </a:ext>
            </a:extLst>
          </p:cNvPr>
          <p:cNvGraphicFramePr>
            <a:graphicFrameLocks noGrp="1"/>
          </p:cNvGraphicFramePr>
          <p:nvPr/>
        </p:nvGraphicFramePr>
        <p:xfrm>
          <a:off x="562897" y="1198699"/>
          <a:ext cx="10515600" cy="2194560"/>
        </p:xfrm>
        <a:graphic>
          <a:graphicData uri="http://schemas.openxmlformats.org/drawingml/2006/table">
            <a:tbl>
              <a:tblPr>
                <a:tableStyleId>{3C2FFA5D-87B4-456A-9821-1D502468CF0F}</a:tableStyleId>
              </a:tblPr>
              <a:tblGrid>
                <a:gridCol w="2628900">
                  <a:extLst>
                    <a:ext uri="{9D8B030D-6E8A-4147-A177-3AD203B41FA5}">
                      <a16:colId xmlns:a16="http://schemas.microsoft.com/office/drawing/2014/main" val="772026887"/>
                    </a:ext>
                  </a:extLst>
                </a:gridCol>
                <a:gridCol w="2628900">
                  <a:extLst>
                    <a:ext uri="{9D8B030D-6E8A-4147-A177-3AD203B41FA5}">
                      <a16:colId xmlns:a16="http://schemas.microsoft.com/office/drawing/2014/main" val="2004027513"/>
                    </a:ext>
                  </a:extLst>
                </a:gridCol>
                <a:gridCol w="2628900">
                  <a:extLst>
                    <a:ext uri="{9D8B030D-6E8A-4147-A177-3AD203B41FA5}">
                      <a16:colId xmlns:a16="http://schemas.microsoft.com/office/drawing/2014/main" val="4138209051"/>
                    </a:ext>
                  </a:extLst>
                </a:gridCol>
                <a:gridCol w="2628900">
                  <a:extLst>
                    <a:ext uri="{9D8B030D-6E8A-4147-A177-3AD203B41FA5}">
                      <a16:colId xmlns:a16="http://schemas.microsoft.com/office/drawing/2014/main" val="2181118618"/>
                    </a:ext>
                  </a:extLst>
                </a:gridCol>
              </a:tblGrid>
              <a:tr h="0">
                <a:tc>
                  <a:txBody>
                    <a:bodyPr/>
                    <a:lstStyle/>
                    <a:p>
                      <a:pPr>
                        <a:buNone/>
                      </a:pPr>
                      <a:r>
                        <a:rPr lang="en-US" b="1">
                          <a:latin typeface="Times New Roman" panose="02020603050405020304" pitchFamily="18" charset="0"/>
                          <a:cs typeface="Times New Roman" panose="02020603050405020304" pitchFamily="18" charset="0"/>
                        </a:rPr>
                        <a:t>Aspect</a:t>
                      </a:r>
                    </a:p>
                  </a:txBody>
                  <a:tcPr anchor="ctr"/>
                </a:tc>
                <a:tc>
                  <a:txBody>
                    <a:bodyPr/>
                    <a:lstStyle/>
                    <a:p>
                      <a:pPr>
                        <a:buNone/>
                      </a:pPr>
                      <a:r>
                        <a:rPr lang="en-US" b="1">
                          <a:latin typeface="Times New Roman" panose="02020603050405020304" pitchFamily="18" charset="0"/>
                          <a:cs typeface="Times New Roman" panose="02020603050405020304" pitchFamily="18" charset="0"/>
                        </a:rPr>
                        <a:t>Conceptual</a:t>
                      </a:r>
                    </a:p>
                  </a:txBody>
                  <a:tcPr anchor="ctr"/>
                </a:tc>
                <a:tc>
                  <a:txBody>
                    <a:bodyPr/>
                    <a:lstStyle/>
                    <a:p>
                      <a:pPr>
                        <a:buNone/>
                      </a:pPr>
                      <a:r>
                        <a:rPr lang="en-US" b="1">
                          <a:latin typeface="Times New Roman" panose="02020603050405020304" pitchFamily="18" charset="0"/>
                          <a:cs typeface="Times New Roman" panose="02020603050405020304" pitchFamily="18" charset="0"/>
                        </a:rPr>
                        <a:t>Logical</a:t>
                      </a:r>
                    </a:p>
                  </a:txBody>
                  <a:tcPr anchor="ctr"/>
                </a:tc>
                <a:tc>
                  <a:txBody>
                    <a:bodyPr/>
                    <a:lstStyle/>
                    <a:p>
                      <a:pPr>
                        <a:buNone/>
                      </a:pPr>
                      <a:r>
                        <a:rPr lang="en-US" b="1" dirty="0">
                          <a:latin typeface="Times New Roman" panose="02020603050405020304" pitchFamily="18" charset="0"/>
                          <a:cs typeface="Times New Roman" panose="02020603050405020304" pitchFamily="18" charset="0"/>
                        </a:rPr>
                        <a:t>Physical</a:t>
                      </a:r>
                    </a:p>
                  </a:txBody>
                  <a:tcPr anchor="ctr"/>
                </a:tc>
                <a:extLst>
                  <a:ext uri="{0D108BD9-81ED-4DB2-BD59-A6C34878D82A}">
                    <a16:rowId xmlns:a16="http://schemas.microsoft.com/office/drawing/2014/main" val="208230522"/>
                  </a:ext>
                </a:extLst>
              </a:tr>
              <a:tr h="0">
                <a:tc>
                  <a:txBody>
                    <a:bodyPr/>
                    <a:lstStyle/>
                    <a:p>
                      <a:pPr>
                        <a:buNone/>
                      </a:pPr>
                      <a:r>
                        <a:rPr lang="en-US" b="1">
                          <a:latin typeface="Times New Roman" panose="02020603050405020304" pitchFamily="18" charset="0"/>
                          <a:cs typeface="Times New Roman" panose="02020603050405020304" pitchFamily="18" charset="0"/>
                        </a:rPr>
                        <a:t>Purpose</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Define business concepts</a:t>
                      </a:r>
                    </a:p>
                  </a:txBody>
                  <a:tcPr anchor="ctr"/>
                </a:tc>
                <a:tc>
                  <a:txBody>
                    <a:bodyPr/>
                    <a:lstStyle/>
                    <a:p>
                      <a:pPr>
                        <a:buNone/>
                      </a:pPr>
                      <a:r>
                        <a:rPr lang="en-US">
                          <a:latin typeface="Times New Roman" panose="02020603050405020304" pitchFamily="18" charset="0"/>
                          <a:cs typeface="Times New Roman" panose="02020603050405020304" pitchFamily="18" charset="0"/>
                        </a:rPr>
                        <a:t>Define data structure</a:t>
                      </a:r>
                    </a:p>
                  </a:txBody>
                  <a:tcPr anchor="ctr"/>
                </a:tc>
                <a:tc>
                  <a:txBody>
                    <a:bodyPr/>
                    <a:lstStyle/>
                    <a:p>
                      <a:pPr>
                        <a:buNone/>
                      </a:pPr>
                      <a:r>
                        <a:rPr lang="en-US">
                          <a:latin typeface="Times New Roman" panose="02020603050405020304" pitchFamily="18" charset="0"/>
                          <a:cs typeface="Times New Roman" panose="02020603050405020304" pitchFamily="18" charset="0"/>
                        </a:rPr>
                        <a:t>Implement database</a:t>
                      </a:r>
                    </a:p>
                  </a:txBody>
                  <a:tcPr anchor="ctr"/>
                </a:tc>
                <a:extLst>
                  <a:ext uri="{0D108BD9-81ED-4DB2-BD59-A6C34878D82A}">
                    <a16:rowId xmlns:a16="http://schemas.microsoft.com/office/drawing/2014/main" val="1082340743"/>
                  </a:ext>
                </a:extLst>
              </a:tr>
              <a:tr h="0">
                <a:tc>
                  <a:txBody>
                    <a:bodyPr/>
                    <a:lstStyle/>
                    <a:p>
                      <a:pPr>
                        <a:buNone/>
                      </a:pPr>
                      <a:r>
                        <a:rPr lang="en-US" b="1" dirty="0">
                          <a:latin typeface="Times New Roman" panose="02020603050405020304" pitchFamily="18" charset="0"/>
                          <a:cs typeface="Times New Roman" panose="02020603050405020304" pitchFamily="18" charset="0"/>
                        </a:rPr>
                        <a:t>Audience</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Business users</a:t>
                      </a:r>
                    </a:p>
                  </a:txBody>
                  <a:tcPr anchor="ctr"/>
                </a:tc>
                <a:tc>
                  <a:txBody>
                    <a:bodyPr/>
                    <a:lstStyle/>
                    <a:p>
                      <a:pPr>
                        <a:buNone/>
                      </a:pPr>
                      <a:r>
                        <a:rPr lang="en-US">
                          <a:latin typeface="Times New Roman" panose="02020603050405020304" pitchFamily="18" charset="0"/>
                          <a:cs typeface="Times New Roman" panose="02020603050405020304" pitchFamily="18" charset="0"/>
                        </a:rPr>
                        <a:t>Data architects</a:t>
                      </a:r>
                    </a:p>
                  </a:txBody>
                  <a:tcPr anchor="ctr"/>
                </a:tc>
                <a:tc>
                  <a:txBody>
                    <a:bodyPr/>
                    <a:lstStyle/>
                    <a:p>
                      <a:pPr>
                        <a:buNone/>
                      </a:pPr>
                      <a:r>
                        <a:rPr lang="en-US">
                          <a:latin typeface="Times New Roman" panose="02020603050405020304" pitchFamily="18" charset="0"/>
                          <a:cs typeface="Times New Roman" panose="02020603050405020304" pitchFamily="18" charset="0"/>
                        </a:rPr>
                        <a:t>DBAs &amp; developers</a:t>
                      </a:r>
                    </a:p>
                  </a:txBody>
                  <a:tcPr anchor="ctr"/>
                </a:tc>
                <a:extLst>
                  <a:ext uri="{0D108BD9-81ED-4DB2-BD59-A6C34878D82A}">
                    <a16:rowId xmlns:a16="http://schemas.microsoft.com/office/drawing/2014/main" val="1777749189"/>
                  </a:ext>
                </a:extLst>
              </a:tr>
              <a:tr h="0">
                <a:tc>
                  <a:txBody>
                    <a:bodyPr/>
                    <a:lstStyle/>
                    <a:p>
                      <a:pPr>
                        <a:buNone/>
                      </a:pPr>
                      <a:r>
                        <a:rPr lang="en-US" b="1">
                          <a:latin typeface="Times New Roman" panose="02020603050405020304" pitchFamily="18" charset="0"/>
                          <a:cs typeface="Times New Roman" panose="02020603050405020304" pitchFamily="18" charset="0"/>
                        </a:rPr>
                        <a:t>Detail Level</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High-level</a:t>
                      </a:r>
                    </a:p>
                  </a:txBody>
                  <a:tcPr anchor="ctr"/>
                </a:tc>
                <a:tc>
                  <a:txBody>
                    <a:bodyPr/>
                    <a:lstStyle/>
                    <a:p>
                      <a:pPr>
                        <a:buNone/>
                      </a:pPr>
                      <a:r>
                        <a:rPr lang="en-US">
                          <a:latin typeface="Times New Roman" panose="02020603050405020304" pitchFamily="18" charset="0"/>
                          <a:cs typeface="Times New Roman" panose="02020603050405020304" pitchFamily="18" charset="0"/>
                        </a:rPr>
                        <a:t>Medium</a:t>
                      </a:r>
                    </a:p>
                  </a:txBody>
                  <a:tcPr anchor="ctr"/>
                </a:tc>
                <a:tc>
                  <a:txBody>
                    <a:bodyPr/>
                    <a:lstStyle/>
                    <a:p>
                      <a:pPr>
                        <a:buNone/>
                      </a:pPr>
                      <a:r>
                        <a:rPr lang="en-US" dirty="0">
                          <a:latin typeface="Times New Roman" panose="02020603050405020304" pitchFamily="18" charset="0"/>
                          <a:cs typeface="Times New Roman" panose="02020603050405020304" pitchFamily="18" charset="0"/>
                        </a:rPr>
                        <a:t>Low-level / technical</a:t>
                      </a:r>
                    </a:p>
                  </a:txBody>
                  <a:tcPr anchor="ctr"/>
                </a:tc>
                <a:extLst>
                  <a:ext uri="{0D108BD9-81ED-4DB2-BD59-A6C34878D82A}">
                    <a16:rowId xmlns:a16="http://schemas.microsoft.com/office/drawing/2014/main" val="4029334251"/>
                  </a:ext>
                </a:extLst>
              </a:tr>
              <a:tr h="0">
                <a:tc>
                  <a:txBody>
                    <a:bodyPr/>
                    <a:lstStyle/>
                    <a:p>
                      <a:pPr>
                        <a:buNone/>
                      </a:pPr>
                      <a:r>
                        <a:rPr lang="en-US" b="1">
                          <a:latin typeface="Times New Roman" panose="02020603050405020304" pitchFamily="18" charset="0"/>
                          <a:cs typeface="Times New Roman" panose="02020603050405020304" pitchFamily="18" charset="0"/>
                        </a:rPr>
                        <a:t>Focus</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Entities &amp; relationships</a:t>
                      </a:r>
                    </a:p>
                  </a:txBody>
                  <a:tcPr anchor="ctr"/>
                </a:tc>
                <a:tc>
                  <a:txBody>
                    <a:bodyPr/>
                    <a:lstStyle/>
                    <a:p>
                      <a:pPr>
                        <a:buNone/>
                      </a:pPr>
                      <a:r>
                        <a:rPr lang="en-US">
                          <a:latin typeface="Times New Roman" panose="02020603050405020304" pitchFamily="18" charset="0"/>
                          <a:cs typeface="Times New Roman" panose="02020603050405020304" pitchFamily="18" charset="0"/>
                        </a:rPr>
                        <a:t>Attributes, keys</a:t>
                      </a:r>
                    </a:p>
                  </a:txBody>
                  <a:tcPr anchor="ctr"/>
                </a:tc>
                <a:tc>
                  <a:txBody>
                    <a:bodyPr/>
                    <a:lstStyle/>
                    <a:p>
                      <a:pPr>
                        <a:buNone/>
                      </a:pPr>
                      <a:r>
                        <a:rPr lang="en-US">
                          <a:latin typeface="Times New Roman" panose="02020603050405020304" pitchFamily="18" charset="0"/>
                          <a:cs typeface="Times New Roman" panose="02020603050405020304" pitchFamily="18" charset="0"/>
                        </a:rPr>
                        <a:t>Columns, data types</a:t>
                      </a:r>
                    </a:p>
                  </a:txBody>
                  <a:tcPr anchor="ctr"/>
                </a:tc>
                <a:extLst>
                  <a:ext uri="{0D108BD9-81ED-4DB2-BD59-A6C34878D82A}">
                    <a16:rowId xmlns:a16="http://schemas.microsoft.com/office/drawing/2014/main" val="655739095"/>
                  </a:ext>
                </a:extLst>
              </a:tr>
              <a:tr h="0">
                <a:tc>
                  <a:txBody>
                    <a:bodyPr/>
                    <a:lstStyle/>
                    <a:p>
                      <a:pPr>
                        <a:buNone/>
                      </a:pPr>
                      <a:r>
                        <a:rPr lang="en-US" b="1">
                          <a:latin typeface="Times New Roman" panose="02020603050405020304" pitchFamily="18" charset="0"/>
                          <a:cs typeface="Times New Roman" panose="02020603050405020304" pitchFamily="18" charset="0"/>
                        </a:rPr>
                        <a:t>Tool Example</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ERD tools (Lucidchart)</a:t>
                      </a:r>
                    </a:p>
                  </a:txBody>
                  <a:tcPr anchor="ctr"/>
                </a:tc>
                <a:tc>
                  <a:txBody>
                    <a:bodyPr/>
                    <a:lstStyle/>
                    <a:p>
                      <a:pPr>
                        <a:buNone/>
                      </a:pPr>
                      <a:r>
                        <a:rPr lang="en-US">
                          <a:latin typeface="Times New Roman" panose="02020603050405020304" pitchFamily="18" charset="0"/>
                          <a:cs typeface="Times New Roman" panose="02020603050405020304" pitchFamily="18" charset="0"/>
                        </a:rPr>
                        <a:t>ERWin, Draw.io</a:t>
                      </a:r>
                    </a:p>
                  </a:txBody>
                  <a:tcPr anchor="ctr"/>
                </a:tc>
                <a:tc>
                  <a:txBody>
                    <a:bodyPr/>
                    <a:lstStyle/>
                    <a:p>
                      <a:pPr>
                        <a:buNone/>
                      </a:pPr>
                      <a:r>
                        <a:rPr lang="en-US" dirty="0">
                          <a:latin typeface="Times New Roman" panose="02020603050405020304" pitchFamily="18" charset="0"/>
                          <a:cs typeface="Times New Roman" panose="02020603050405020304" pitchFamily="18" charset="0"/>
                        </a:rPr>
                        <a:t>SQL DDL, </a:t>
                      </a:r>
                      <a:r>
                        <a:rPr lang="en-US" dirty="0" err="1">
                          <a:latin typeface="Times New Roman" panose="02020603050405020304" pitchFamily="18" charset="0"/>
                          <a:cs typeface="Times New Roman" panose="02020603050405020304" pitchFamily="18" charset="0"/>
                        </a:rPr>
                        <a:t>ERStudio</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29155358"/>
                  </a:ext>
                </a:extLst>
              </a:tr>
            </a:tbl>
          </a:graphicData>
        </a:graphic>
      </p:graphicFrame>
      <p:sp>
        <p:nvSpPr>
          <p:cNvPr id="7" name="Rectangle 3">
            <a:extLst>
              <a:ext uri="{FF2B5EF4-FFF2-40B4-BE49-F238E27FC236}">
                <a16:creationId xmlns:a16="http://schemas.microsoft.com/office/drawing/2014/main" id="{2A51DDF3-1908-C10A-402E-5EB37170C181}"/>
              </a:ext>
            </a:extLst>
          </p:cNvPr>
          <p:cNvSpPr>
            <a:spLocks noChangeArrowheads="1"/>
          </p:cNvSpPr>
          <p:nvPr/>
        </p:nvSpPr>
        <p:spPr bwMode="auto">
          <a:xfrm>
            <a:off x="474407" y="3568629"/>
            <a:ext cx="981377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Example</a:t>
            </a:r>
            <a:r>
              <a:rPr lang="en-US" altLang="en-US" b="1" i="1" dirty="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Flow From Concept to Implementation Business Requirement —</a:t>
            </a:r>
            <a:r>
              <a:rPr kumimoji="0" lang="en-US" altLang="en-US" sz="1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customer orders and payments.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Conceptual Model:</a:t>
            </a: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 Order — Payment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Logical Model: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details:</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(ID, Name, Email)</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Order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OrderID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Date, Amount,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CustomerID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Payment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PaymentID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OrderID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 Amount)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Physical Model:</a:t>
            </a: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 into actual SQL tables with data types, constraints, and indexes.</a:t>
            </a:r>
          </a:p>
        </p:txBody>
      </p:sp>
    </p:spTree>
    <p:extLst>
      <p:ext uri="{BB962C8B-B14F-4D97-AF65-F5344CB8AC3E}">
        <p14:creationId xmlns:p14="http://schemas.microsoft.com/office/powerpoint/2010/main" val="4242980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E059C6-85BA-4084-1DF2-45B8E4F56CF2}"/>
              </a:ext>
            </a:extLst>
          </p:cNvPr>
          <p:cNvSpPr>
            <a:spLocks noGrp="1"/>
          </p:cNvSpPr>
          <p:nvPr>
            <p:ph type="title"/>
          </p:nvPr>
        </p:nvSpPr>
        <p:spPr>
          <a:xfrm>
            <a:off x="658478" y="1912409"/>
            <a:ext cx="10532918" cy="1292678"/>
          </a:xfrm>
        </p:spPr>
        <p:txBody>
          <a:bodyPr>
            <a:normAutofit fontScale="90000"/>
          </a:bodyPr>
          <a:lstStyle/>
          <a:p>
            <a:r>
              <a:rPr lang="en-US" dirty="0">
                <a:latin typeface="Times New Roman" panose="02020603050405020304" pitchFamily="18" charset="0"/>
                <a:cs typeface="Times New Roman" panose="02020603050405020304" pitchFamily="18" charset="0"/>
              </a:rPr>
              <a:t>Fact Table Design Process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(Steps to define the measure grain)</a:t>
            </a:r>
          </a:p>
        </p:txBody>
      </p:sp>
    </p:spTree>
    <p:extLst>
      <p:ext uri="{BB962C8B-B14F-4D97-AF65-F5344CB8AC3E}">
        <p14:creationId xmlns:p14="http://schemas.microsoft.com/office/powerpoint/2010/main" val="20523275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8B9A-5321-64EE-E38E-94B4DCFAF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9DC04-8740-8404-A7C0-372D3B8AA28F}"/>
              </a:ext>
            </a:extLst>
          </p:cNvPr>
          <p:cNvSpPr>
            <a:spLocks noGrp="1"/>
          </p:cNvSpPr>
          <p:nvPr>
            <p:ph type="title"/>
          </p:nvPr>
        </p:nvSpPr>
        <p:spPr>
          <a:xfrm>
            <a:off x="518494" y="571698"/>
            <a:ext cx="11378230" cy="440488"/>
          </a:xfrm>
        </p:spPr>
        <p:txBody>
          <a:bodyPr>
            <a:normAutofit/>
          </a:bodyPr>
          <a:lstStyle/>
          <a:p>
            <a:r>
              <a:rPr lang="en-US" dirty="0">
                <a:latin typeface="Times New Roman" panose="02020603050405020304" pitchFamily="18" charset="0"/>
                <a:cs typeface="Times New Roman" panose="02020603050405020304" pitchFamily="18" charset="0"/>
              </a:rPr>
              <a:t>Fact Table Design Process </a:t>
            </a:r>
          </a:p>
        </p:txBody>
      </p:sp>
      <p:sp>
        <p:nvSpPr>
          <p:cNvPr id="6" name="TextBox 5">
            <a:extLst>
              <a:ext uri="{FF2B5EF4-FFF2-40B4-BE49-F238E27FC236}">
                <a16:creationId xmlns:a16="http://schemas.microsoft.com/office/drawing/2014/main" id="{DA3A6DF9-5D02-9D16-9B66-61919B51F406}"/>
              </a:ext>
            </a:extLst>
          </p:cNvPr>
          <p:cNvSpPr txBox="1"/>
          <p:nvPr/>
        </p:nvSpPr>
        <p:spPr>
          <a:xfrm>
            <a:off x="406885" y="1090844"/>
            <a:ext cx="11378230" cy="5416868"/>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What is a Fact Table?</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 table in a star schema that stores quantitative business measures.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Represents events or transactions occurring in the business.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fact is associated with multiple dimension keys for context.</a:t>
            </a:r>
          </a:p>
          <a:p>
            <a:pPr>
              <a:buNone/>
            </a:pPr>
            <a:r>
              <a:rPr lang="en-US" b="1"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Fact Table → captures revenue, quantity, and discount per transaction.</a:t>
            </a:r>
          </a:p>
          <a:p>
            <a:pPr>
              <a:buNone/>
            </a:pPr>
            <a:r>
              <a:rPr lang="en-US" b="1" dirty="0">
                <a:latin typeface="Times New Roman" panose="02020603050405020304" pitchFamily="18" charset="0"/>
                <a:cs typeface="Times New Roman" panose="02020603050405020304" pitchFamily="18" charset="0"/>
              </a:rPr>
              <a:t>Key Purpose: </a:t>
            </a:r>
            <a:r>
              <a:rPr lang="en-US" dirty="0">
                <a:latin typeface="Times New Roman" panose="02020603050405020304" pitchFamily="18" charset="0"/>
                <a:cs typeface="Times New Roman" panose="02020603050405020304" pitchFamily="18" charset="0"/>
              </a:rPr>
              <a:t>To store </a:t>
            </a:r>
            <a:r>
              <a:rPr lang="en-US" i="1" dirty="0">
                <a:latin typeface="Times New Roman" panose="02020603050405020304" pitchFamily="18" charset="0"/>
                <a:cs typeface="Times New Roman" panose="02020603050405020304" pitchFamily="18" charset="0"/>
              </a:rPr>
              <a:t>measurable, numeric data</a:t>
            </a:r>
            <a:r>
              <a:rPr lang="en-US" dirty="0">
                <a:latin typeface="Times New Roman" panose="02020603050405020304" pitchFamily="18" charset="0"/>
                <a:cs typeface="Times New Roman" panose="02020603050405020304" pitchFamily="18" charset="0"/>
              </a:rPr>
              <a:t> for analysis and reporting.</a:t>
            </a:r>
          </a:p>
          <a:p>
            <a:pPr>
              <a:buNone/>
            </a:pPr>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What is “Grain”?</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Grain defines the level of detail for each record in a fact table.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answers: “What does one row in this fact table represent?”</a:t>
            </a:r>
          </a:p>
          <a:p>
            <a:pPr>
              <a:buNone/>
            </a:pPr>
            <a:r>
              <a:rPr lang="en-US" b="1" dirty="0">
                <a:latin typeface="Times New Roman" panose="02020603050405020304" pitchFamily="18" charset="0"/>
                <a:cs typeface="Times New Roman" panose="02020603050405020304" pitchFamily="18" charset="0"/>
              </a:rPr>
              <a:t>Examples: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row per sales transaction.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row per customer per month.</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row per product per store per day.</a:t>
            </a:r>
          </a:p>
          <a:p>
            <a:pPr>
              <a:buNone/>
            </a:pPr>
            <a:r>
              <a:rPr lang="en-US" b="1" dirty="0">
                <a:latin typeface="Times New Roman" panose="02020603050405020304" pitchFamily="18" charset="0"/>
                <a:cs typeface="Times New Roman" panose="02020603050405020304" pitchFamily="18" charset="0"/>
              </a:rPr>
              <a:t>Why it’s Important: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consistency between facts and dimensions.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Prevents aggregation or duplication errors.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Determines data volume and performance.</a:t>
            </a:r>
          </a:p>
        </p:txBody>
      </p:sp>
    </p:spTree>
    <p:extLst>
      <p:ext uri="{BB962C8B-B14F-4D97-AF65-F5344CB8AC3E}">
        <p14:creationId xmlns:p14="http://schemas.microsoft.com/office/powerpoint/2010/main" val="3125576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EA4ED-B471-E8A0-3E2B-2E009AB99C5F}"/>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Fact Table Design Process – Step-by-Step</a:t>
            </a:r>
          </a:p>
        </p:txBody>
      </p:sp>
      <p:sp>
        <p:nvSpPr>
          <p:cNvPr id="5" name="TextBox 4">
            <a:extLst>
              <a:ext uri="{FF2B5EF4-FFF2-40B4-BE49-F238E27FC236}">
                <a16:creationId xmlns:a16="http://schemas.microsoft.com/office/drawing/2014/main" id="{76CB26FB-0748-EA4A-2F86-A042B12310E4}"/>
              </a:ext>
            </a:extLst>
          </p:cNvPr>
          <p:cNvSpPr txBox="1"/>
          <p:nvPr/>
        </p:nvSpPr>
        <p:spPr>
          <a:xfrm>
            <a:off x="530941" y="1594840"/>
            <a:ext cx="5970488" cy="507831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Step 1: Identify the Business Process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Understand what business activity you are measuring.</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 Sales, Payments, Shipments, Claims, Orders)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2: Declare the Grain (Level of Detail)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Define exactly what one row represents.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 One row per product per order per day)</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3: Choose the Dimensions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 who, what, where, when, and how aspects of the event.</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(Customer, Product, Store, Time, Channel, etc.)</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4: Identify the Facts (Measures)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Determine numeric or quantitative values that are measured.</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(Sales Amount, Quantity Sold, Revenue, Discount, etc.)</a:t>
            </a: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5E74CBF-E031-61C9-4E64-0D3564F9CD5E}"/>
              </a:ext>
            </a:extLst>
          </p:cNvPr>
          <p:cNvSpPr txBox="1"/>
          <p:nvPr/>
        </p:nvSpPr>
        <p:spPr>
          <a:xfrm>
            <a:off x="6501429" y="1594840"/>
            <a:ext cx="5439546" cy="369331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Step 5: Validate Grain Consistency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 every dimension and fact aligns with the declared grain.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Avoid mixing data of different granularities.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6: Add Degenerate Dimensions (if needed)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 transactional identifiers like Invoice ID or Order Number directly to the fact table.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Step 7: Review Aggregation &amp; Summarization Needs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Consider how data will roll up </a:t>
            </a:r>
          </a:p>
          <a:p>
            <a:r>
              <a:rPr lang="en-US" dirty="0">
                <a:latin typeface="Times New Roman" panose="02020603050405020304" pitchFamily="18" charset="0"/>
                <a:cs typeface="Times New Roman" panose="02020603050405020304" pitchFamily="18" charset="0"/>
              </a:rPr>
              <a:t>     (daily → monthly → yearly).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Plan for aggregate fact tables if performance requires.</a:t>
            </a:r>
          </a:p>
        </p:txBody>
      </p:sp>
      <p:sp>
        <p:nvSpPr>
          <p:cNvPr id="8" name="TextBox 7">
            <a:extLst>
              <a:ext uri="{FF2B5EF4-FFF2-40B4-BE49-F238E27FC236}">
                <a16:creationId xmlns:a16="http://schemas.microsoft.com/office/drawing/2014/main" id="{CC1E4ED7-035A-3412-F3A0-6D5C3995C4DE}"/>
              </a:ext>
            </a:extLst>
          </p:cNvPr>
          <p:cNvSpPr txBox="1"/>
          <p:nvPr/>
        </p:nvSpPr>
        <p:spPr>
          <a:xfrm>
            <a:off x="530941" y="1065677"/>
            <a:ext cx="9955161" cy="369332"/>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To design a consistent, efficient fact table that accurately represents business events.</a:t>
            </a:r>
          </a:p>
        </p:txBody>
      </p:sp>
    </p:spTree>
    <p:extLst>
      <p:ext uri="{BB962C8B-B14F-4D97-AF65-F5344CB8AC3E}">
        <p14:creationId xmlns:p14="http://schemas.microsoft.com/office/powerpoint/2010/main" val="32417513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03C86-9B12-6B22-C537-E7B545699967}"/>
              </a:ext>
            </a:extLst>
          </p:cNvPr>
          <p:cNvSpPr>
            <a:spLocks noGrp="1"/>
          </p:cNvSpPr>
          <p:nvPr>
            <p:ph type="title"/>
          </p:nvPr>
        </p:nvSpPr>
        <p:spPr/>
        <p:txBody>
          <a:bodyPr>
            <a:normAutofit/>
          </a:bodyPr>
          <a:lstStyle/>
          <a:p>
            <a:r>
              <a:rPr lang="en-US" altLang="en-US" sz="3200" dirty="0">
                <a:latin typeface="Times New Roman" panose="02020603050405020304" pitchFamily="18" charset="0"/>
                <a:cs typeface="Times New Roman" panose="02020603050405020304" pitchFamily="18" charset="0"/>
              </a:rPr>
              <a:t>Example &amp; Considerations in Fact Table Design</a:t>
            </a: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ECF575F-DD04-F239-999B-1A62B2B9FF6B}"/>
              </a:ext>
            </a:extLst>
          </p:cNvPr>
          <p:cNvGraphicFramePr>
            <a:graphicFrameLocks noGrp="1"/>
          </p:cNvGraphicFramePr>
          <p:nvPr/>
        </p:nvGraphicFramePr>
        <p:xfrm>
          <a:off x="612059" y="1759539"/>
          <a:ext cx="10515600" cy="182880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201913299"/>
                    </a:ext>
                  </a:extLst>
                </a:gridCol>
                <a:gridCol w="5257800">
                  <a:extLst>
                    <a:ext uri="{9D8B030D-6E8A-4147-A177-3AD203B41FA5}">
                      <a16:colId xmlns:a16="http://schemas.microsoft.com/office/drawing/2014/main" val="658227876"/>
                    </a:ext>
                  </a:extLst>
                </a:gridCol>
              </a:tblGrid>
              <a:tr h="0">
                <a:tc>
                  <a:txBody>
                    <a:bodyPr/>
                    <a:lstStyle/>
                    <a:p>
                      <a:pPr>
                        <a:buNone/>
                      </a:pPr>
                      <a:r>
                        <a:rPr lang="en-US" b="1">
                          <a:latin typeface="Times New Roman" panose="02020603050405020304" pitchFamily="18" charset="0"/>
                          <a:cs typeface="Times New Roman" panose="02020603050405020304" pitchFamily="18" charset="0"/>
                        </a:rPr>
                        <a:t>Aspect</a:t>
                      </a:r>
                    </a:p>
                  </a:txBody>
                  <a:tcPr anchor="ctr"/>
                </a:tc>
                <a:tc>
                  <a:txBody>
                    <a:bodyPr/>
                    <a:lstStyle/>
                    <a:p>
                      <a:pPr>
                        <a:buNone/>
                      </a:pPr>
                      <a:r>
                        <a:rPr lang="en-US" b="1" dirty="0">
                          <a:latin typeface="Times New Roman" panose="02020603050405020304" pitchFamily="18" charset="0"/>
                          <a:cs typeface="Times New Roman" panose="02020603050405020304" pitchFamily="18" charset="0"/>
                        </a:rPr>
                        <a:t>Example</a:t>
                      </a:r>
                    </a:p>
                  </a:txBody>
                  <a:tcPr anchor="ctr"/>
                </a:tc>
                <a:extLst>
                  <a:ext uri="{0D108BD9-81ED-4DB2-BD59-A6C34878D82A}">
                    <a16:rowId xmlns:a16="http://schemas.microsoft.com/office/drawing/2014/main" val="3721220430"/>
                  </a:ext>
                </a:extLst>
              </a:tr>
              <a:tr h="0">
                <a:tc>
                  <a:txBody>
                    <a:bodyPr/>
                    <a:lstStyle/>
                    <a:p>
                      <a:pPr>
                        <a:buNone/>
                      </a:pPr>
                      <a:r>
                        <a:rPr lang="en-US" b="1">
                          <a:latin typeface="Times New Roman" panose="02020603050405020304" pitchFamily="18" charset="0"/>
                          <a:cs typeface="Times New Roman" panose="02020603050405020304" pitchFamily="18" charset="0"/>
                        </a:rPr>
                        <a:t>Declared Grain</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One row per Product per Customer per Day</a:t>
                      </a:r>
                    </a:p>
                  </a:txBody>
                  <a:tcPr anchor="ctr"/>
                </a:tc>
                <a:extLst>
                  <a:ext uri="{0D108BD9-81ED-4DB2-BD59-A6C34878D82A}">
                    <a16:rowId xmlns:a16="http://schemas.microsoft.com/office/drawing/2014/main" val="250924458"/>
                  </a:ext>
                </a:extLst>
              </a:tr>
              <a:tr h="0">
                <a:tc>
                  <a:txBody>
                    <a:bodyPr/>
                    <a:lstStyle/>
                    <a:p>
                      <a:pPr>
                        <a:buNone/>
                      </a:pPr>
                      <a:r>
                        <a:rPr lang="en-US" b="1">
                          <a:latin typeface="Times New Roman" panose="02020603050405020304" pitchFamily="18" charset="0"/>
                          <a:cs typeface="Times New Roman" panose="02020603050405020304" pitchFamily="18" charset="0"/>
                        </a:rPr>
                        <a:t>Dimensions</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Product, Customer, Store, Date, Salesperson</a:t>
                      </a:r>
                    </a:p>
                  </a:txBody>
                  <a:tcPr anchor="ctr"/>
                </a:tc>
                <a:extLst>
                  <a:ext uri="{0D108BD9-81ED-4DB2-BD59-A6C34878D82A}">
                    <a16:rowId xmlns:a16="http://schemas.microsoft.com/office/drawing/2014/main" val="3924920323"/>
                  </a:ext>
                </a:extLst>
              </a:tr>
              <a:tr h="0">
                <a:tc>
                  <a:txBody>
                    <a:bodyPr/>
                    <a:lstStyle/>
                    <a:p>
                      <a:pPr>
                        <a:buNone/>
                      </a:pPr>
                      <a:r>
                        <a:rPr lang="en-US" b="1">
                          <a:latin typeface="Times New Roman" panose="02020603050405020304" pitchFamily="18" charset="0"/>
                          <a:cs typeface="Times New Roman" panose="02020603050405020304" pitchFamily="18" charset="0"/>
                        </a:rPr>
                        <a:t>Facts</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Quantity Sold, Total Amount, Discount, Tax</a:t>
                      </a:r>
                    </a:p>
                  </a:txBody>
                  <a:tcPr anchor="ctr"/>
                </a:tc>
                <a:extLst>
                  <a:ext uri="{0D108BD9-81ED-4DB2-BD59-A6C34878D82A}">
                    <a16:rowId xmlns:a16="http://schemas.microsoft.com/office/drawing/2014/main" val="3974592271"/>
                  </a:ext>
                </a:extLst>
              </a:tr>
              <a:tr h="0">
                <a:tc>
                  <a:txBody>
                    <a:bodyPr/>
                    <a:lstStyle/>
                    <a:p>
                      <a:pPr>
                        <a:buNone/>
                      </a:pPr>
                      <a:r>
                        <a:rPr lang="en-US" b="1">
                          <a:latin typeface="Times New Roman" panose="02020603050405020304" pitchFamily="18" charset="0"/>
                          <a:cs typeface="Times New Roman" panose="02020603050405020304" pitchFamily="18" charset="0"/>
                        </a:rPr>
                        <a:t>Degenerate Dim.</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Invoice Number, Order ID</a:t>
                      </a:r>
                    </a:p>
                  </a:txBody>
                  <a:tcPr anchor="ctr"/>
                </a:tc>
                <a:extLst>
                  <a:ext uri="{0D108BD9-81ED-4DB2-BD59-A6C34878D82A}">
                    <a16:rowId xmlns:a16="http://schemas.microsoft.com/office/drawing/2014/main" val="3837285690"/>
                  </a:ext>
                </a:extLst>
              </a:tr>
            </a:tbl>
          </a:graphicData>
        </a:graphic>
      </p:graphicFrame>
      <p:sp>
        <p:nvSpPr>
          <p:cNvPr id="5" name="Rectangle 1">
            <a:extLst>
              <a:ext uri="{FF2B5EF4-FFF2-40B4-BE49-F238E27FC236}">
                <a16:creationId xmlns:a16="http://schemas.microsoft.com/office/drawing/2014/main" id="{260A1EB6-353C-16CF-840C-F3C845CC275E}"/>
              </a:ext>
            </a:extLst>
          </p:cNvPr>
          <p:cNvSpPr>
            <a:spLocks noChangeArrowheads="1"/>
          </p:cNvSpPr>
          <p:nvPr/>
        </p:nvSpPr>
        <p:spPr bwMode="auto">
          <a:xfrm>
            <a:off x="543233" y="1012185"/>
            <a:ext cx="525656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 Defining the Grain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Process: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Sales Transactions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facts and dimensions match the defined grain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accurate aggregation and time-based reporting</a:t>
            </a:r>
          </a:p>
        </p:txBody>
      </p:sp>
      <p:sp>
        <p:nvSpPr>
          <p:cNvPr id="7" name="Rectangle 3">
            <a:extLst>
              <a:ext uri="{FF2B5EF4-FFF2-40B4-BE49-F238E27FC236}">
                <a16:creationId xmlns:a16="http://schemas.microsoft.com/office/drawing/2014/main" id="{AFDE98C9-06DC-8EDD-05B0-807DD4D328AD}"/>
              </a:ext>
            </a:extLst>
          </p:cNvPr>
          <p:cNvSpPr>
            <a:spLocks noChangeArrowheads="1"/>
          </p:cNvSpPr>
          <p:nvPr/>
        </p:nvSpPr>
        <p:spPr bwMode="auto">
          <a:xfrm>
            <a:off x="612059" y="4450076"/>
            <a:ext cx="742389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Key Considerations in Fact Table Design:</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Keep fact tables narrow and numeric — focus on measurable data.</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Dimensions hold descriptive text; facts hold numeric values.</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additive, semi-additive, or non-additive nature of facts is clear.</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surrogate keys for all dimensions for easy joins.</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Avoid nulls  use defaults for missing facts.</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Plan data retention and archiving for large fact tables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27591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9A048-E6CD-3EAF-E82F-B6C19316E97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Common Pitfalls &amp; Key Takeaways in Fact Table Design</a:t>
            </a:r>
          </a:p>
        </p:txBody>
      </p:sp>
      <p:sp>
        <p:nvSpPr>
          <p:cNvPr id="5" name="TextBox 4">
            <a:extLst>
              <a:ext uri="{FF2B5EF4-FFF2-40B4-BE49-F238E27FC236}">
                <a16:creationId xmlns:a16="http://schemas.microsoft.com/office/drawing/2014/main" id="{562762A4-B5E3-8948-6017-D13979BC9C09}"/>
              </a:ext>
            </a:extLst>
          </p:cNvPr>
          <p:cNvSpPr txBox="1"/>
          <p:nvPr/>
        </p:nvSpPr>
        <p:spPr>
          <a:xfrm>
            <a:off x="555522" y="1252027"/>
            <a:ext cx="8489847" cy="397031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Pitfalls to Avoid</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Mixing multiple grains in a single fact table.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Storing descriptive attributes inside the fact table.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Missing or inconsistent dimension references.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Not validating facts after ETL transformations.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Ignoring the volume impact of fine-grained facts.</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Key Takeaways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grain defines the foundation of your fact table.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facts and dimensions must match that grain.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Start design with business process → grain → dimensions → facts.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Consistent grain ensures reliable analytics, performance, and scalability.</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“Define the grain first. Everything else in your fact table design follows from it.”</a:t>
            </a:r>
          </a:p>
        </p:txBody>
      </p:sp>
    </p:spTree>
    <p:extLst>
      <p:ext uri="{BB962C8B-B14F-4D97-AF65-F5344CB8AC3E}">
        <p14:creationId xmlns:p14="http://schemas.microsoft.com/office/powerpoint/2010/main" val="1757442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E059C6-85BA-4084-1DF2-45B8E4F56CF2}"/>
              </a:ext>
            </a:extLst>
          </p:cNvPr>
          <p:cNvSpPr>
            <a:spLocks noGrp="1"/>
          </p:cNvSpPr>
          <p:nvPr>
            <p:ph type="title"/>
          </p:nvPr>
        </p:nvSpPr>
        <p:spPr>
          <a:xfrm>
            <a:off x="658478" y="1912409"/>
            <a:ext cx="10532918" cy="1292678"/>
          </a:xfrm>
        </p:spPr>
        <p:txBody>
          <a:bodyPr>
            <a:normAutofit fontScale="90000"/>
          </a:bodyPr>
          <a:lstStyle/>
          <a:p>
            <a:r>
              <a:rPr lang="en-US" dirty="0">
                <a:latin typeface="Times New Roman" panose="02020603050405020304" pitchFamily="18" charset="0"/>
                <a:cs typeface="Times New Roman" panose="02020603050405020304" pitchFamily="18" charset="0"/>
              </a:rPr>
              <a:t>Dimension Table Design Process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(attributes, keys, history)</a:t>
            </a:r>
          </a:p>
        </p:txBody>
      </p:sp>
    </p:spTree>
    <p:extLst>
      <p:ext uri="{BB962C8B-B14F-4D97-AF65-F5344CB8AC3E}">
        <p14:creationId xmlns:p14="http://schemas.microsoft.com/office/powerpoint/2010/main" val="35565707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8B9A-5321-64EE-E38E-94B4DCFAF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9DC04-8740-8404-A7C0-372D3B8AA28F}"/>
              </a:ext>
            </a:extLst>
          </p:cNvPr>
          <p:cNvSpPr>
            <a:spLocks noGrp="1"/>
          </p:cNvSpPr>
          <p:nvPr>
            <p:ph type="title"/>
          </p:nvPr>
        </p:nvSpPr>
        <p:spPr>
          <a:xfrm>
            <a:off x="518494" y="571698"/>
            <a:ext cx="11378230" cy="440488"/>
          </a:xfrm>
        </p:spPr>
        <p:txBody>
          <a:bodyPr>
            <a:normAutofit/>
          </a:bodyPr>
          <a:lstStyle/>
          <a:p>
            <a:r>
              <a:rPr lang="en-US" dirty="0">
                <a:latin typeface="Times New Roman" panose="02020603050405020304" pitchFamily="18" charset="0"/>
                <a:cs typeface="Times New Roman" panose="02020603050405020304" pitchFamily="18" charset="0"/>
              </a:rPr>
              <a:t>The Dimension Table Design Process</a:t>
            </a:r>
          </a:p>
        </p:txBody>
      </p:sp>
      <p:sp>
        <p:nvSpPr>
          <p:cNvPr id="4" name="TextBox 3">
            <a:extLst>
              <a:ext uri="{FF2B5EF4-FFF2-40B4-BE49-F238E27FC236}">
                <a16:creationId xmlns:a16="http://schemas.microsoft.com/office/drawing/2014/main" id="{115440BA-3C0D-8AD8-77E0-C22CA8A62649}"/>
              </a:ext>
            </a:extLst>
          </p:cNvPr>
          <p:cNvSpPr txBox="1"/>
          <p:nvPr/>
        </p:nvSpPr>
        <p:spPr>
          <a:xfrm>
            <a:off x="334297" y="1166842"/>
            <a:ext cx="11179277" cy="5078313"/>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 dimension table contains the descriptive, textual, and categorical details that describe the business entities giving meaning to facts.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Key Features of Dimension Tables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Contain textual attributes (not numeric measures).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Usually denormalized for faster analytical queries.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surrogate keys as primary identifiers.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 hierarchies (e.g., Product → Category → Brand).</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Usually smaller than fact tables.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for read performance, not frequent updates.</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6 Major Steps Of Dimension Table Design Process :</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Identify the Business Entity</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Define Attributes</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Define Keys</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Handle Historical Changes</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Establish Relationships with Facts</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Optimize for Query Performance</a:t>
            </a:r>
          </a:p>
        </p:txBody>
      </p:sp>
    </p:spTree>
    <p:extLst>
      <p:ext uri="{BB962C8B-B14F-4D97-AF65-F5344CB8AC3E}">
        <p14:creationId xmlns:p14="http://schemas.microsoft.com/office/powerpoint/2010/main" val="3193400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F1703-D7A0-9441-F7B7-BEBA86B5C41A}"/>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Step 1 – Identify the Business Entity</a:t>
            </a:r>
          </a:p>
        </p:txBody>
      </p:sp>
      <p:sp>
        <p:nvSpPr>
          <p:cNvPr id="5" name="TextBox 4">
            <a:extLst>
              <a:ext uri="{FF2B5EF4-FFF2-40B4-BE49-F238E27FC236}">
                <a16:creationId xmlns:a16="http://schemas.microsoft.com/office/drawing/2014/main" id="{075D75F9-00C3-5127-CFCD-8A5FF179E062}"/>
              </a:ext>
            </a:extLst>
          </p:cNvPr>
          <p:cNvSpPr txBox="1"/>
          <p:nvPr/>
        </p:nvSpPr>
        <p:spPr>
          <a:xfrm>
            <a:off x="570271" y="1166842"/>
            <a:ext cx="11326761" cy="4524315"/>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Determine what real-world entity the dimension represents.</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Examples: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Customer Dimension</a:t>
            </a:r>
            <a:r>
              <a:rPr lang="en-US" dirty="0">
                <a:latin typeface="Times New Roman" panose="02020603050405020304" pitchFamily="18" charset="0"/>
                <a:cs typeface="Times New Roman" panose="02020603050405020304" pitchFamily="18" charset="0"/>
              </a:rPr>
              <a:t> → Describes each customer.</a:t>
            </a:r>
          </a:p>
          <a:p>
            <a:pPr marL="742950" lvl="1" indent="-285750">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Product Dimension</a:t>
            </a:r>
            <a:r>
              <a:rPr lang="en-US" dirty="0">
                <a:latin typeface="Times New Roman" panose="02020603050405020304" pitchFamily="18" charset="0"/>
                <a:cs typeface="Times New Roman" panose="02020603050405020304" pitchFamily="18" charset="0"/>
              </a:rPr>
              <a:t> → Describes each product.</a:t>
            </a:r>
          </a:p>
          <a:p>
            <a:pPr marL="742950" lvl="1" indent="-285750">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Time Dimension</a:t>
            </a:r>
            <a:r>
              <a:rPr lang="en-US" dirty="0">
                <a:latin typeface="Times New Roman" panose="02020603050405020304" pitchFamily="18" charset="0"/>
                <a:cs typeface="Times New Roman" panose="02020603050405020304" pitchFamily="18" charset="0"/>
              </a:rPr>
              <a:t> → Describes each date or period.</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Key Questions: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What business process uses this entity?</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Which facts depend on it?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What data sources provide it?</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Note:</a:t>
            </a:r>
          </a:p>
          <a:p>
            <a:pPr>
              <a:buNone/>
            </a:pPr>
            <a:r>
              <a:rPr lang="en-US" dirty="0">
                <a:latin typeface="Times New Roman" panose="02020603050405020304" pitchFamily="18" charset="0"/>
                <a:cs typeface="Times New Roman" panose="02020603050405020304" pitchFamily="18" charset="0"/>
              </a:rPr>
              <a:t>Always align your entity with a business process, not just a data source.</a:t>
            </a:r>
          </a:p>
          <a:p>
            <a:pPr>
              <a:buNone/>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“Customer” in sales, not “User” from CRM.</a:t>
            </a:r>
          </a:p>
        </p:txBody>
      </p:sp>
    </p:spTree>
    <p:extLst>
      <p:ext uri="{BB962C8B-B14F-4D97-AF65-F5344CB8AC3E}">
        <p14:creationId xmlns:p14="http://schemas.microsoft.com/office/powerpoint/2010/main" val="769067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D115B-5F12-278F-0858-07B606597337}"/>
              </a:ext>
            </a:extLst>
          </p:cNvPr>
          <p:cNvSpPr>
            <a:spLocks noGrp="1"/>
          </p:cNvSpPr>
          <p:nvPr>
            <p:ph type="title"/>
          </p:nvPr>
        </p:nvSpPr>
        <p:spPr/>
        <p:txBody>
          <a:bodyPr>
            <a:normAutofit/>
          </a:bodyPr>
          <a:lstStyle/>
          <a:p>
            <a:r>
              <a:rPr lang="en-US" altLang="en-US" sz="3200" dirty="0">
                <a:latin typeface="Times New Roman" panose="02020603050405020304" pitchFamily="18" charset="0"/>
                <a:cs typeface="Times New Roman" panose="02020603050405020304" pitchFamily="18" charset="0"/>
              </a:rPr>
              <a:t>Step 2 – Define Attributes</a:t>
            </a: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AD4CCC2-8E22-1A6E-9E54-1D7B01FD5959}"/>
              </a:ext>
            </a:extLst>
          </p:cNvPr>
          <p:cNvGraphicFramePr>
            <a:graphicFrameLocks noGrp="1"/>
          </p:cNvGraphicFramePr>
          <p:nvPr/>
        </p:nvGraphicFramePr>
        <p:xfrm>
          <a:off x="831976" y="2809567"/>
          <a:ext cx="10515600" cy="182880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3334357462"/>
                    </a:ext>
                  </a:extLst>
                </a:gridCol>
                <a:gridCol w="5257800">
                  <a:extLst>
                    <a:ext uri="{9D8B030D-6E8A-4147-A177-3AD203B41FA5}">
                      <a16:colId xmlns:a16="http://schemas.microsoft.com/office/drawing/2014/main" val="3391512392"/>
                    </a:ext>
                  </a:extLst>
                </a:gridCol>
              </a:tblGrid>
              <a:tr h="0">
                <a:tc>
                  <a:txBody>
                    <a:bodyPr/>
                    <a:lstStyle/>
                    <a:p>
                      <a:pPr>
                        <a:buNone/>
                      </a:pPr>
                      <a:r>
                        <a:rPr lang="en-US" b="1">
                          <a:latin typeface="Times New Roman" panose="02020603050405020304" pitchFamily="18" charset="0"/>
                          <a:cs typeface="Times New Roman" panose="02020603050405020304" pitchFamily="18" charset="0"/>
                        </a:rPr>
                        <a:t>Attribute</a:t>
                      </a:r>
                    </a:p>
                  </a:txBody>
                  <a:tcPr anchor="ctr"/>
                </a:tc>
                <a:tc>
                  <a:txBody>
                    <a:bodyPr/>
                    <a:lstStyle/>
                    <a:p>
                      <a:pPr>
                        <a:buNone/>
                      </a:pPr>
                      <a:r>
                        <a:rPr lang="en-US" b="1" dirty="0">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3162080882"/>
                  </a:ext>
                </a:extLst>
              </a:tr>
              <a:tr h="0">
                <a:tc>
                  <a:txBody>
                    <a:bodyPr/>
                    <a:lstStyle/>
                    <a:p>
                      <a:pPr>
                        <a:buNone/>
                      </a:pPr>
                      <a:r>
                        <a:rPr lang="en-US">
                          <a:latin typeface="Times New Roman" panose="02020603050405020304" pitchFamily="18" charset="0"/>
                          <a:cs typeface="Times New Roman" panose="02020603050405020304" pitchFamily="18" charset="0"/>
                        </a:rPr>
                        <a:t>Name</a:t>
                      </a:r>
                    </a:p>
                  </a:txBody>
                  <a:tcPr anchor="ctr"/>
                </a:tc>
                <a:tc>
                  <a:txBody>
                    <a:bodyPr/>
                    <a:lstStyle/>
                    <a:p>
                      <a:pPr>
                        <a:buNone/>
                      </a:pPr>
                      <a:r>
                        <a:rPr lang="en-US" dirty="0">
                          <a:latin typeface="Times New Roman" panose="02020603050405020304" pitchFamily="18" charset="0"/>
                          <a:cs typeface="Times New Roman" panose="02020603050405020304" pitchFamily="18" charset="0"/>
                        </a:rPr>
                        <a:t>Customer Full Name</a:t>
                      </a:r>
                    </a:p>
                  </a:txBody>
                  <a:tcPr anchor="ctr"/>
                </a:tc>
                <a:extLst>
                  <a:ext uri="{0D108BD9-81ED-4DB2-BD59-A6C34878D82A}">
                    <a16:rowId xmlns:a16="http://schemas.microsoft.com/office/drawing/2014/main" val="3788039962"/>
                  </a:ext>
                </a:extLst>
              </a:tr>
              <a:tr h="0">
                <a:tc>
                  <a:txBody>
                    <a:bodyPr/>
                    <a:lstStyle/>
                    <a:p>
                      <a:pPr>
                        <a:buNone/>
                      </a:pPr>
                      <a:r>
                        <a:rPr lang="en-US">
                          <a:latin typeface="Times New Roman" panose="02020603050405020304" pitchFamily="18" charset="0"/>
                          <a:cs typeface="Times New Roman" panose="02020603050405020304" pitchFamily="18" charset="0"/>
                        </a:rPr>
                        <a:t>Gender</a:t>
                      </a:r>
                    </a:p>
                  </a:txBody>
                  <a:tcPr anchor="ctr"/>
                </a:tc>
                <a:tc>
                  <a:txBody>
                    <a:bodyPr/>
                    <a:lstStyle/>
                    <a:p>
                      <a:pPr>
                        <a:buNone/>
                      </a:pPr>
                      <a:r>
                        <a:rPr lang="en-US" dirty="0">
                          <a:latin typeface="Times New Roman" panose="02020603050405020304" pitchFamily="18" charset="0"/>
                          <a:cs typeface="Times New Roman" panose="02020603050405020304" pitchFamily="18" charset="0"/>
                        </a:rPr>
                        <a:t>Male/Female</a:t>
                      </a:r>
                    </a:p>
                  </a:txBody>
                  <a:tcPr anchor="ctr"/>
                </a:tc>
                <a:extLst>
                  <a:ext uri="{0D108BD9-81ED-4DB2-BD59-A6C34878D82A}">
                    <a16:rowId xmlns:a16="http://schemas.microsoft.com/office/drawing/2014/main" val="3079854902"/>
                  </a:ext>
                </a:extLst>
              </a:tr>
              <a:tr h="0">
                <a:tc>
                  <a:txBody>
                    <a:bodyPr/>
                    <a:lstStyle/>
                    <a:p>
                      <a:pPr>
                        <a:buNone/>
                      </a:pPr>
                      <a:r>
                        <a:rPr lang="en-US">
                          <a:latin typeface="Times New Roman" panose="02020603050405020304" pitchFamily="18" charset="0"/>
                          <a:cs typeface="Times New Roman" panose="02020603050405020304" pitchFamily="18" charset="0"/>
                        </a:rPr>
                        <a:t>City</a:t>
                      </a:r>
                    </a:p>
                  </a:txBody>
                  <a:tcPr anchor="ctr"/>
                </a:tc>
                <a:tc>
                  <a:txBody>
                    <a:bodyPr/>
                    <a:lstStyle/>
                    <a:p>
                      <a:pPr>
                        <a:buNone/>
                      </a:pPr>
                      <a:r>
                        <a:rPr lang="en-US">
                          <a:latin typeface="Times New Roman" panose="02020603050405020304" pitchFamily="18" charset="0"/>
                          <a:cs typeface="Times New Roman" panose="02020603050405020304" pitchFamily="18" charset="0"/>
                        </a:rPr>
                        <a:t>Customer City</a:t>
                      </a:r>
                    </a:p>
                  </a:txBody>
                  <a:tcPr anchor="ctr"/>
                </a:tc>
                <a:extLst>
                  <a:ext uri="{0D108BD9-81ED-4DB2-BD59-A6C34878D82A}">
                    <a16:rowId xmlns:a16="http://schemas.microsoft.com/office/drawing/2014/main" val="838785277"/>
                  </a:ext>
                </a:extLst>
              </a:tr>
              <a:tr h="0">
                <a:tc>
                  <a:txBody>
                    <a:bodyPr/>
                    <a:lstStyle/>
                    <a:p>
                      <a:pPr>
                        <a:buNone/>
                      </a:pPr>
                      <a:r>
                        <a:rPr lang="en-US">
                          <a:latin typeface="Times New Roman" panose="02020603050405020304" pitchFamily="18" charset="0"/>
                          <a:cs typeface="Times New Roman" panose="02020603050405020304" pitchFamily="18" charset="0"/>
                        </a:rPr>
                        <a:t>Loyalty_Status</a:t>
                      </a:r>
                    </a:p>
                  </a:txBody>
                  <a:tcPr anchor="ctr"/>
                </a:tc>
                <a:tc>
                  <a:txBody>
                    <a:bodyPr/>
                    <a:lstStyle/>
                    <a:p>
                      <a:pPr>
                        <a:buNone/>
                      </a:pPr>
                      <a:r>
                        <a:rPr lang="en-US" dirty="0">
                          <a:latin typeface="Times New Roman" panose="02020603050405020304" pitchFamily="18" charset="0"/>
                          <a:cs typeface="Times New Roman" panose="02020603050405020304" pitchFamily="18" charset="0"/>
                        </a:rPr>
                        <a:t>Gold / Silver / Platinum</a:t>
                      </a:r>
                    </a:p>
                  </a:txBody>
                  <a:tcPr anchor="ctr"/>
                </a:tc>
                <a:extLst>
                  <a:ext uri="{0D108BD9-81ED-4DB2-BD59-A6C34878D82A}">
                    <a16:rowId xmlns:a16="http://schemas.microsoft.com/office/drawing/2014/main" val="1524635172"/>
                  </a:ext>
                </a:extLst>
              </a:tr>
            </a:tbl>
          </a:graphicData>
        </a:graphic>
      </p:graphicFrame>
      <p:sp>
        <p:nvSpPr>
          <p:cNvPr id="5" name="Rectangle 1">
            <a:extLst>
              <a:ext uri="{FF2B5EF4-FFF2-40B4-BE49-F238E27FC236}">
                <a16:creationId xmlns:a16="http://schemas.microsoft.com/office/drawing/2014/main" id="{00068D19-5220-F501-9E0E-D99AEA34C622}"/>
              </a:ext>
            </a:extLst>
          </p:cNvPr>
          <p:cNvSpPr>
            <a:spLocks noChangeArrowheads="1"/>
          </p:cNvSpPr>
          <p:nvPr/>
        </p:nvSpPr>
        <p:spPr bwMode="auto">
          <a:xfrm>
            <a:off x="685950" y="1046311"/>
            <a:ext cx="729307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List all descriptive details that help in analysis and reporting.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Types of Attributes: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Descriptive: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Name, Brand, Category, City</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Hierarchical: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Country → State → City</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Derived: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Age Group, Price Range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(Customer Dimension):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Tips:</a:t>
            </a: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clear business names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Avoid unnecessary technical fields.</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hierarchies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support drill-down reports.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Note :</a:t>
            </a:r>
            <a:r>
              <a:rPr lang="en-US" altLang="en-US"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Choose attributes that add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analytical value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just raw data.</a:t>
            </a:r>
          </a:p>
        </p:txBody>
      </p:sp>
    </p:spTree>
    <p:extLst>
      <p:ext uri="{BB962C8B-B14F-4D97-AF65-F5344CB8AC3E}">
        <p14:creationId xmlns:p14="http://schemas.microsoft.com/office/powerpoint/2010/main" val="1602901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5847-07F3-B10F-291B-1ED01E7AA5CC}"/>
              </a:ext>
            </a:extLst>
          </p:cNvPr>
          <p:cNvSpPr>
            <a:spLocks noGrp="1"/>
          </p:cNvSpPr>
          <p:nvPr>
            <p:ph type="title"/>
          </p:nvPr>
        </p:nvSpPr>
        <p:spPr/>
        <p:txBody>
          <a:bodyPr>
            <a:normAutofit/>
          </a:bodyPr>
          <a:lstStyle/>
          <a:p>
            <a:r>
              <a:rPr lang="en-US" altLang="en-US" sz="3200" dirty="0">
                <a:latin typeface="Times New Roman" panose="02020603050405020304" pitchFamily="18" charset="0"/>
                <a:cs typeface="Times New Roman" panose="02020603050405020304" pitchFamily="18" charset="0"/>
              </a:rPr>
              <a:t>Step 3 – Define Keys</a:t>
            </a: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4FD400F-994D-0895-AEE5-2C6E1F248F7E}"/>
              </a:ext>
            </a:extLst>
          </p:cNvPr>
          <p:cNvGraphicFramePr>
            <a:graphicFrameLocks noGrp="1"/>
          </p:cNvGraphicFramePr>
          <p:nvPr/>
        </p:nvGraphicFramePr>
        <p:xfrm>
          <a:off x="463841" y="4394479"/>
          <a:ext cx="11251869" cy="731520"/>
        </p:xfrm>
        <a:graphic>
          <a:graphicData uri="http://schemas.openxmlformats.org/drawingml/2006/table">
            <a:tbl>
              <a:tblPr>
                <a:tableStyleId>{3C2FFA5D-87B4-456A-9821-1D502468CF0F}</a:tableStyleId>
              </a:tblPr>
              <a:tblGrid>
                <a:gridCol w="3750623">
                  <a:extLst>
                    <a:ext uri="{9D8B030D-6E8A-4147-A177-3AD203B41FA5}">
                      <a16:colId xmlns:a16="http://schemas.microsoft.com/office/drawing/2014/main" val="578830607"/>
                    </a:ext>
                  </a:extLst>
                </a:gridCol>
                <a:gridCol w="3750623">
                  <a:extLst>
                    <a:ext uri="{9D8B030D-6E8A-4147-A177-3AD203B41FA5}">
                      <a16:colId xmlns:a16="http://schemas.microsoft.com/office/drawing/2014/main" val="853377155"/>
                    </a:ext>
                  </a:extLst>
                </a:gridCol>
                <a:gridCol w="3750623">
                  <a:extLst>
                    <a:ext uri="{9D8B030D-6E8A-4147-A177-3AD203B41FA5}">
                      <a16:colId xmlns:a16="http://schemas.microsoft.com/office/drawing/2014/main" val="2883422835"/>
                    </a:ext>
                  </a:extLst>
                </a:gridCol>
              </a:tblGrid>
              <a:tr h="0">
                <a:tc>
                  <a:txBody>
                    <a:bodyPr/>
                    <a:lstStyle/>
                    <a:p>
                      <a:pPr>
                        <a:buNone/>
                      </a:pPr>
                      <a:r>
                        <a:rPr lang="en-US">
                          <a:latin typeface="Times New Roman" panose="02020603050405020304" pitchFamily="18" charset="0"/>
                          <a:cs typeface="Times New Roman" panose="02020603050405020304" pitchFamily="18" charset="0"/>
                        </a:rPr>
                        <a:t>Surrogate Key</a:t>
                      </a:r>
                    </a:p>
                  </a:txBody>
                  <a:tcPr anchor="ctr"/>
                </a:tc>
                <a:tc>
                  <a:txBody>
                    <a:bodyPr/>
                    <a:lstStyle/>
                    <a:p>
                      <a:pPr>
                        <a:buNone/>
                      </a:pPr>
                      <a:r>
                        <a:rPr lang="en-US">
                          <a:latin typeface="Times New Roman" panose="02020603050405020304" pitchFamily="18" charset="0"/>
                          <a:cs typeface="Times New Roman" panose="02020603050405020304" pitchFamily="18" charset="0"/>
                        </a:rPr>
                        <a:t>Natural Key</a:t>
                      </a:r>
                    </a:p>
                  </a:txBody>
                  <a:tcPr anchor="ctr"/>
                </a:tc>
                <a:tc>
                  <a:txBody>
                    <a:bodyPr/>
                    <a:lstStyle/>
                    <a:p>
                      <a:pPr>
                        <a:buNone/>
                      </a:pPr>
                      <a:r>
                        <a:rPr lang="en-US" dirty="0">
                          <a:latin typeface="Times New Roman" panose="02020603050405020304" pitchFamily="18" charset="0"/>
                          <a:cs typeface="Times New Roman" panose="02020603050405020304" pitchFamily="18" charset="0"/>
                        </a:rPr>
                        <a:t>Customer Name</a:t>
                      </a:r>
                    </a:p>
                  </a:txBody>
                  <a:tcPr anchor="ctr"/>
                </a:tc>
                <a:extLst>
                  <a:ext uri="{0D108BD9-81ED-4DB2-BD59-A6C34878D82A}">
                    <a16:rowId xmlns:a16="http://schemas.microsoft.com/office/drawing/2014/main" val="3382148448"/>
                  </a:ext>
                </a:extLst>
              </a:tr>
              <a:tr h="0">
                <a:tc>
                  <a:txBody>
                    <a:bodyPr/>
                    <a:lstStyle/>
                    <a:p>
                      <a:pPr>
                        <a:buNone/>
                      </a:pPr>
                      <a:r>
                        <a:rPr lang="en-US">
                          <a:latin typeface="Times New Roman" panose="02020603050405020304" pitchFamily="18" charset="0"/>
                          <a:cs typeface="Times New Roman" panose="02020603050405020304" pitchFamily="18" charset="0"/>
                        </a:rPr>
                        <a:t>1001</a:t>
                      </a:r>
                    </a:p>
                  </a:txBody>
                  <a:tcPr anchor="ctr"/>
                </a:tc>
                <a:tc>
                  <a:txBody>
                    <a:bodyPr/>
                    <a:lstStyle/>
                    <a:p>
                      <a:pPr>
                        <a:buNone/>
                      </a:pPr>
                      <a:r>
                        <a:rPr lang="en-US" dirty="0">
                          <a:latin typeface="Times New Roman" panose="02020603050405020304" pitchFamily="18" charset="0"/>
                          <a:cs typeface="Times New Roman" panose="02020603050405020304" pitchFamily="18" charset="0"/>
                        </a:rPr>
                        <a:t>C001</a:t>
                      </a:r>
                    </a:p>
                  </a:txBody>
                  <a:tcPr anchor="ctr"/>
                </a:tc>
                <a:tc>
                  <a:txBody>
                    <a:bodyPr/>
                    <a:lstStyle/>
                    <a:p>
                      <a:pPr>
                        <a:buNone/>
                      </a:pPr>
                      <a:r>
                        <a:rPr lang="en-US" dirty="0">
                          <a:latin typeface="Times New Roman" panose="02020603050405020304" pitchFamily="18" charset="0"/>
                          <a:cs typeface="Times New Roman" panose="02020603050405020304" pitchFamily="18" charset="0"/>
                        </a:rPr>
                        <a:t>John Smith</a:t>
                      </a:r>
                    </a:p>
                  </a:txBody>
                  <a:tcPr anchor="ctr"/>
                </a:tc>
                <a:extLst>
                  <a:ext uri="{0D108BD9-81ED-4DB2-BD59-A6C34878D82A}">
                    <a16:rowId xmlns:a16="http://schemas.microsoft.com/office/drawing/2014/main" val="2446983037"/>
                  </a:ext>
                </a:extLst>
              </a:tr>
            </a:tbl>
          </a:graphicData>
        </a:graphic>
      </p:graphicFrame>
      <p:sp>
        <p:nvSpPr>
          <p:cNvPr id="5" name="Rectangle 1">
            <a:extLst>
              <a:ext uri="{FF2B5EF4-FFF2-40B4-BE49-F238E27FC236}">
                <a16:creationId xmlns:a16="http://schemas.microsoft.com/office/drawing/2014/main" id="{523A9296-5552-CE2D-01FA-E190D5487590}"/>
              </a:ext>
            </a:extLst>
          </p:cNvPr>
          <p:cNvSpPr>
            <a:spLocks noChangeArrowheads="1"/>
          </p:cNvSpPr>
          <p:nvPr/>
        </p:nvSpPr>
        <p:spPr bwMode="auto">
          <a:xfrm>
            <a:off x="499138" y="1168352"/>
            <a:ext cx="10512992"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Two Key Types in Dimensions: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Surrogate Key (Primary Key)</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System-generated (e.g.,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Customer_Key</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Product_Key</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in fact tables as foreign keys.</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Independent of operational source changes.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Natural Key (Business Key)</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Comes from source (e.g.,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Customer_ID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SKU).</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updates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 history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Times New Roman" panose="02020603050405020304" pitchFamily="18" charset="0"/>
                <a:cs typeface="Times New Roman" panose="02020603050405020304" pitchFamily="18" charset="0"/>
              </a:rPr>
              <a:t>Note</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Always use surrogate keys as the dimension’s primary key they ensure stability and consistency across systems.</a:t>
            </a:r>
          </a:p>
        </p:txBody>
      </p:sp>
    </p:spTree>
    <p:extLst>
      <p:ext uri="{BB962C8B-B14F-4D97-AF65-F5344CB8AC3E}">
        <p14:creationId xmlns:p14="http://schemas.microsoft.com/office/powerpoint/2010/main" val="3380133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7B02D-1C7D-B8B3-12B7-DD7CEBF914F6}"/>
              </a:ext>
            </a:extLst>
          </p:cNvPr>
          <p:cNvSpPr>
            <a:spLocks noGrp="1"/>
          </p:cNvSpPr>
          <p:nvPr>
            <p:ph type="title"/>
          </p:nvPr>
        </p:nvSpPr>
        <p:spPr/>
        <p:txBody>
          <a:bodyPr>
            <a:normAutofit/>
          </a:bodyPr>
          <a:lstStyle/>
          <a:p>
            <a:r>
              <a:rPr lang="en-US" altLang="en-US" sz="3200" dirty="0">
                <a:latin typeface="Times New Roman" panose="02020603050405020304" pitchFamily="18" charset="0"/>
                <a:cs typeface="Times New Roman" panose="02020603050405020304" pitchFamily="18" charset="0"/>
              </a:rPr>
              <a:t>Step 4 – Handle Historical Changes (SCDs)</a:t>
            </a: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46670BA-64BE-1DAC-3ADB-57E98DA38349}"/>
              </a:ext>
            </a:extLst>
          </p:cNvPr>
          <p:cNvGraphicFramePr>
            <a:graphicFrameLocks noGrp="1"/>
          </p:cNvGraphicFramePr>
          <p:nvPr/>
        </p:nvGraphicFramePr>
        <p:xfrm>
          <a:off x="978002" y="2219632"/>
          <a:ext cx="10515600" cy="1828800"/>
        </p:xfrm>
        <a:graphic>
          <a:graphicData uri="http://schemas.openxmlformats.org/drawingml/2006/table">
            <a:tbl>
              <a:tblPr>
                <a:tableStyleId>{3C2FFA5D-87B4-456A-9821-1D502468CF0F}</a:tableStyleId>
              </a:tblPr>
              <a:tblGrid>
                <a:gridCol w="3505200">
                  <a:extLst>
                    <a:ext uri="{9D8B030D-6E8A-4147-A177-3AD203B41FA5}">
                      <a16:colId xmlns:a16="http://schemas.microsoft.com/office/drawing/2014/main" val="719455123"/>
                    </a:ext>
                  </a:extLst>
                </a:gridCol>
                <a:gridCol w="3505200">
                  <a:extLst>
                    <a:ext uri="{9D8B030D-6E8A-4147-A177-3AD203B41FA5}">
                      <a16:colId xmlns:a16="http://schemas.microsoft.com/office/drawing/2014/main" val="3988521406"/>
                    </a:ext>
                  </a:extLst>
                </a:gridCol>
                <a:gridCol w="3505200">
                  <a:extLst>
                    <a:ext uri="{9D8B030D-6E8A-4147-A177-3AD203B41FA5}">
                      <a16:colId xmlns:a16="http://schemas.microsoft.com/office/drawing/2014/main" val="644327428"/>
                    </a:ext>
                  </a:extLst>
                </a:gridCol>
              </a:tblGrid>
              <a:tr h="0">
                <a:tc>
                  <a:txBody>
                    <a:bodyPr/>
                    <a:lstStyle/>
                    <a:p>
                      <a:pPr>
                        <a:buNone/>
                      </a:pPr>
                      <a:r>
                        <a:rPr lang="en-US" b="1">
                          <a:latin typeface="Times New Roman" panose="02020603050405020304" pitchFamily="18" charset="0"/>
                          <a:cs typeface="Times New Roman" panose="02020603050405020304" pitchFamily="18" charset="0"/>
                        </a:rPr>
                        <a:t>Type</a:t>
                      </a:r>
                    </a:p>
                  </a:txBody>
                  <a:tcPr anchor="ctr"/>
                </a:tc>
                <a:tc>
                  <a:txBody>
                    <a:bodyPr/>
                    <a:lstStyle/>
                    <a:p>
                      <a:pPr>
                        <a:buNone/>
                      </a:pPr>
                      <a:r>
                        <a:rPr lang="en-US" b="1">
                          <a:latin typeface="Times New Roman" panose="02020603050405020304" pitchFamily="18" charset="0"/>
                          <a:cs typeface="Times New Roman" panose="02020603050405020304" pitchFamily="18" charset="0"/>
                        </a:rPr>
                        <a:t>Description</a:t>
                      </a:r>
                    </a:p>
                  </a:txBody>
                  <a:tcPr anchor="ctr"/>
                </a:tc>
                <a:tc>
                  <a:txBody>
                    <a:bodyPr/>
                    <a:lstStyle/>
                    <a:p>
                      <a:pPr>
                        <a:buNone/>
                      </a:pPr>
                      <a:r>
                        <a:rPr lang="en-US" b="1" dirty="0">
                          <a:latin typeface="Times New Roman" panose="02020603050405020304" pitchFamily="18" charset="0"/>
                          <a:cs typeface="Times New Roman" panose="02020603050405020304" pitchFamily="18" charset="0"/>
                        </a:rPr>
                        <a:t>Example</a:t>
                      </a:r>
                    </a:p>
                  </a:txBody>
                  <a:tcPr anchor="ctr"/>
                </a:tc>
                <a:extLst>
                  <a:ext uri="{0D108BD9-81ED-4DB2-BD59-A6C34878D82A}">
                    <a16:rowId xmlns:a16="http://schemas.microsoft.com/office/drawing/2014/main" val="1656074197"/>
                  </a:ext>
                </a:extLst>
              </a:tr>
              <a:tr h="0">
                <a:tc>
                  <a:txBody>
                    <a:bodyPr/>
                    <a:lstStyle/>
                    <a:p>
                      <a:pPr>
                        <a:buNone/>
                      </a:pPr>
                      <a:r>
                        <a:rPr lang="en-US" b="1">
                          <a:latin typeface="Times New Roman" panose="02020603050405020304" pitchFamily="18" charset="0"/>
                          <a:cs typeface="Times New Roman" panose="02020603050405020304" pitchFamily="18" charset="0"/>
                        </a:rPr>
                        <a:t>SCD Type 0</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No history tracking</a:t>
                      </a:r>
                    </a:p>
                  </a:txBody>
                  <a:tcPr anchor="ctr"/>
                </a:tc>
                <a:tc>
                  <a:txBody>
                    <a:bodyPr/>
                    <a:lstStyle/>
                    <a:p>
                      <a:pPr>
                        <a:buNone/>
                      </a:pPr>
                      <a:r>
                        <a:rPr lang="en-US" dirty="0">
                          <a:latin typeface="Times New Roman" panose="02020603050405020304" pitchFamily="18" charset="0"/>
                          <a:cs typeface="Times New Roman" panose="02020603050405020304" pitchFamily="18" charset="0"/>
                        </a:rPr>
                        <a:t>Customer DOB</a:t>
                      </a:r>
                    </a:p>
                  </a:txBody>
                  <a:tcPr anchor="ctr"/>
                </a:tc>
                <a:extLst>
                  <a:ext uri="{0D108BD9-81ED-4DB2-BD59-A6C34878D82A}">
                    <a16:rowId xmlns:a16="http://schemas.microsoft.com/office/drawing/2014/main" val="3689644690"/>
                  </a:ext>
                </a:extLst>
              </a:tr>
              <a:tr h="0">
                <a:tc>
                  <a:txBody>
                    <a:bodyPr/>
                    <a:lstStyle/>
                    <a:p>
                      <a:pPr>
                        <a:buNone/>
                      </a:pPr>
                      <a:r>
                        <a:rPr lang="en-US" b="1">
                          <a:latin typeface="Times New Roman" panose="02020603050405020304" pitchFamily="18" charset="0"/>
                          <a:cs typeface="Times New Roman" panose="02020603050405020304" pitchFamily="18" charset="0"/>
                        </a:rPr>
                        <a:t>SCD Type 1</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Overwrite old value</a:t>
                      </a:r>
                    </a:p>
                  </a:txBody>
                  <a:tcPr anchor="ctr"/>
                </a:tc>
                <a:tc>
                  <a:txBody>
                    <a:bodyPr/>
                    <a:lstStyle/>
                    <a:p>
                      <a:pPr>
                        <a:buNone/>
                      </a:pPr>
                      <a:r>
                        <a:rPr lang="en-US" dirty="0">
                          <a:latin typeface="Times New Roman" panose="02020603050405020304" pitchFamily="18" charset="0"/>
                          <a:cs typeface="Times New Roman" panose="02020603050405020304" pitchFamily="18" charset="0"/>
                        </a:rPr>
                        <a:t>Correct name spelling</a:t>
                      </a:r>
                    </a:p>
                  </a:txBody>
                  <a:tcPr anchor="ctr"/>
                </a:tc>
                <a:extLst>
                  <a:ext uri="{0D108BD9-81ED-4DB2-BD59-A6C34878D82A}">
                    <a16:rowId xmlns:a16="http://schemas.microsoft.com/office/drawing/2014/main" val="1757602932"/>
                  </a:ext>
                </a:extLst>
              </a:tr>
              <a:tr h="0">
                <a:tc>
                  <a:txBody>
                    <a:bodyPr/>
                    <a:lstStyle/>
                    <a:p>
                      <a:pPr>
                        <a:buNone/>
                      </a:pPr>
                      <a:r>
                        <a:rPr lang="en-US" b="1">
                          <a:latin typeface="Times New Roman" panose="02020603050405020304" pitchFamily="18" charset="0"/>
                          <a:cs typeface="Times New Roman" panose="02020603050405020304" pitchFamily="18" charset="0"/>
                        </a:rPr>
                        <a:t>SCD Type 2</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Preserve full history</a:t>
                      </a:r>
                    </a:p>
                  </a:txBody>
                  <a:tcPr anchor="ctr"/>
                </a:tc>
                <a:tc>
                  <a:txBody>
                    <a:bodyPr/>
                    <a:lstStyle/>
                    <a:p>
                      <a:pPr>
                        <a:buNone/>
                      </a:pPr>
                      <a:r>
                        <a:rPr lang="en-US" dirty="0">
                          <a:latin typeface="Times New Roman" panose="02020603050405020304" pitchFamily="18" charset="0"/>
                          <a:cs typeface="Times New Roman" panose="02020603050405020304" pitchFamily="18" charset="0"/>
                        </a:rPr>
                        <a:t>Address changes</a:t>
                      </a:r>
                    </a:p>
                  </a:txBody>
                  <a:tcPr anchor="ctr"/>
                </a:tc>
                <a:extLst>
                  <a:ext uri="{0D108BD9-81ED-4DB2-BD59-A6C34878D82A}">
                    <a16:rowId xmlns:a16="http://schemas.microsoft.com/office/drawing/2014/main" val="3393906548"/>
                  </a:ext>
                </a:extLst>
              </a:tr>
              <a:tr h="0">
                <a:tc>
                  <a:txBody>
                    <a:bodyPr/>
                    <a:lstStyle/>
                    <a:p>
                      <a:pPr>
                        <a:buNone/>
                      </a:pPr>
                      <a:r>
                        <a:rPr lang="en-US" b="1">
                          <a:latin typeface="Times New Roman" panose="02020603050405020304" pitchFamily="18" charset="0"/>
                          <a:cs typeface="Times New Roman" panose="02020603050405020304" pitchFamily="18" charset="0"/>
                        </a:rPr>
                        <a:t>SCD Type 3</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Keep limited history</a:t>
                      </a:r>
                    </a:p>
                  </a:txBody>
                  <a:tcPr anchor="ctr"/>
                </a:tc>
                <a:tc>
                  <a:txBody>
                    <a:bodyPr/>
                    <a:lstStyle/>
                    <a:p>
                      <a:pPr>
                        <a:buNone/>
                      </a:pPr>
                      <a:r>
                        <a:rPr lang="en-US" dirty="0">
                          <a:latin typeface="Times New Roman" panose="02020603050405020304" pitchFamily="18" charset="0"/>
                          <a:cs typeface="Times New Roman" panose="02020603050405020304" pitchFamily="18" charset="0"/>
                        </a:rPr>
                        <a:t>Previous vs. Current Region</a:t>
                      </a:r>
                    </a:p>
                  </a:txBody>
                  <a:tcPr anchor="ctr"/>
                </a:tc>
                <a:extLst>
                  <a:ext uri="{0D108BD9-81ED-4DB2-BD59-A6C34878D82A}">
                    <a16:rowId xmlns:a16="http://schemas.microsoft.com/office/drawing/2014/main" val="2487310783"/>
                  </a:ext>
                </a:extLst>
              </a:tr>
            </a:tbl>
          </a:graphicData>
        </a:graphic>
      </p:graphicFrame>
      <p:sp>
        <p:nvSpPr>
          <p:cNvPr id="5" name="Rectangle 1">
            <a:extLst>
              <a:ext uri="{FF2B5EF4-FFF2-40B4-BE49-F238E27FC236}">
                <a16:creationId xmlns:a16="http://schemas.microsoft.com/office/drawing/2014/main" id="{7F441EDA-08AC-F4BB-BD04-7C00846D832B}"/>
              </a:ext>
            </a:extLst>
          </p:cNvPr>
          <p:cNvSpPr>
            <a:spLocks noChangeArrowheads="1"/>
          </p:cNvSpPr>
          <p:nvPr/>
        </p:nvSpPr>
        <p:spPr bwMode="auto">
          <a:xfrm>
            <a:off x="838200" y="1028343"/>
            <a:ext cx="815062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Because business attributes change — and analytics often need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historical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Slowly Changing Dimensions (SCDs):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b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(SCD Type 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customer moves city →</a:t>
            </a:r>
            <a:b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Insert a new record with updated city and mark previous record as inactive.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Always define an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Effective_Date</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End_Date</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Current_Flag</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track SCD changes.</a:t>
            </a:r>
          </a:p>
        </p:txBody>
      </p:sp>
    </p:spTree>
    <p:extLst>
      <p:ext uri="{BB962C8B-B14F-4D97-AF65-F5344CB8AC3E}">
        <p14:creationId xmlns:p14="http://schemas.microsoft.com/office/powerpoint/2010/main" val="976331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14BE-A3E7-1739-7EE4-7453665D5579}"/>
              </a:ext>
            </a:extLst>
          </p:cNvPr>
          <p:cNvSpPr>
            <a:spLocks noGrp="1"/>
          </p:cNvSpPr>
          <p:nvPr>
            <p:ph type="title"/>
          </p:nvPr>
        </p:nvSpPr>
        <p:spPr>
          <a:xfrm>
            <a:off x="685950" y="512703"/>
            <a:ext cx="10807652" cy="440488"/>
          </a:xfrm>
        </p:spPr>
        <p:txBody>
          <a:bodyPr>
            <a:normAutofit fontScale="90000"/>
          </a:bodyPr>
          <a:lstStyle/>
          <a:p>
            <a:pPr lvl="0" eaLnBrk="0" fontAlgn="base" hangingPunct="0">
              <a:lnSpc>
                <a:spcPct val="100000"/>
              </a:lnSpc>
              <a:spcAft>
                <a:spcPct val="0"/>
              </a:spcAft>
            </a:pPr>
            <a:r>
              <a:rPr lang="en-US" altLang="en-US" sz="3200" dirty="0">
                <a:latin typeface="Times New Roman" panose="02020603050405020304" pitchFamily="18" charset="0"/>
                <a:cs typeface="Times New Roman" panose="02020603050405020304" pitchFamily="18" charset="0"/>
              </a:rPr>
              <a:t>Step 5 – Establish Relationships with Fact Tables</a:t>
            </a:r>
          </a:p>
        </p:txBody>
      </p:sp>
      <p:graphicFrame>
        <p:nvGraphicFramePr>
          <p:cNvPr id="4" name="Table 3">
            <a:extLst>
              <a:ext uri="{FF2B5EF4-FFF2-40B4-BE49-F238E27FC236}">
                <a16:creationId xmlns:a16="http://schemas.microsoft.com/office/drawing/2014/main" id="{CCEA7D12-6485-0695-518D-85B102E2D16A}"/>
              </a:ext>
            </a:extLst>
          </p:cNvPr>
          <p:cNvGraphicFramePr>
            <a:graphicFrameLocks noGrp="1"/>
          </p:cNvGraphicFramePr>
          <p:nvPr/>
        </p:nvGraphicFramePr>
        <p:xfrm>
          <a:off x="685950" y="3328710"/>
          <a:ext cx="10515600" cy="365760"/>
        </p:xfrm>
        <a:graphic>
          <a:graphicData uri="http://schemas.openxmlformats.org/drawingml/2006/table">
            <a:tbl>
              <a:tblPr>
                <a:tableStyleId>{3C2FFA5D-87B4-456A-9821-1D502468CF0F}</a:tableStyleId>
              </a:tblPr>
              <a:tblGrid>
                <a:gridCol w="2628900">
                  <a:extLst>
                    <a:ext uri="{9D8B030D-6E8A-4147-A177-3AD203B41FA5}">
                      <a16:colId xmlns:a16="http://schemas.microsoft.com/office/drawing/2014/main" val="3659248709"/>
                    </a:ext>
                  </a:extLst>
                </a:gridCol>
                <a:gridCol w="2628900">
                  <a:extLst>
                    <a:ext uri="{9D8B030D-6E8A-4147-A177-3AD203B41FA5}">
                      <a16:colId xmlns:a16="http://schemas.microsoft.com/office/drawing/2014/main" val="3967382419"/>
                    </a:ext>
                  </a:extLst>
                </a:gridCol>
                <a:gridCol w="2628900">
                  <a:extLst>
                    <a:ext uri="{9D8B030D-6E8A-4147-A177-3AD203B41FA5}">
                      <a16:colId xmlns:a16="http://schemas.microsoft.com/office/drawing/2014/main" val="820725420"/>
                    </a:ext>
                  </a:extLst>
                </a:gridCol>
                <a:gridCol w="2628900">
                  <a:extLst>
                    <a:ext uri="{9D8B030D-6E8A-4147-A177-3AD203B41FA5}">
                      <a16:colId xmlns:a16="http://schemas.microsoft.com/office/drawing/2014/main" val="2118669922"/>
                    </a:ext>
                  </a:extLst>
                </a:gridCol>
              </a:tblGrid>
              <a:tr h="0">
                <a:tc>
                  <a:txBody>
                    <a:bodyPr/>
                    <a:lstStyle/>
                    <a:p>
                      <a:pPr>
                        <a:buNone/>
                      </a:pPr>
                      <a:r>
                        <a:rPr lang="en-US">
                          <a:latin typeface="Times New Roman" panose="02020603050405020304" pitchFamily="18" charset="0"/>
                          <a:cs typeface="Times New Roman" panose="02020603050405020304" pitchFamily="18" charset="0"/>
                        </a:rPr>
                        <a:t>Customer_Key</a:t>
                      </a:r>
                    </a:p>
                  </a:txBody>
                  <a:tcPr anchor="ctr"/>
                </a:tc>
                <a:tc>
                  <a:txBody>
                    <a:bodyPr/>
                    <a:lstStyle/>
                    <a:p>
                      <a:pPr>
                        <a:buNone/>
                      </a:pPr>
                      <a:r>
                        <a:rPr lang="en-US">
                          <a:latin typeface="Times New Roman" panose="02020603050405020304" pitchFamily="18" charset="0"/>
                          <a:cs typeface="Times New Roman" panose="02020603050405020304" pitchFamily="18" charset="0"/>
                        </a:rPr>
                        <a:t>Product_Key</a:t>
                      </a:r>
                    </a:p>
                  </a:txBody>
                  <a:tcPr anchor="ctr"/>
                </a:tc>
                <a:tc>
                  <a:txBody>
                    <a:bodyPr/>
                    <a:lstStyle/>
                    <a:p>
                      <a:pPr>
                        <a:buNone/>
                      </a:pPr>
                      <a:r>
                        <a:rPr lang="en-US" dirty="0" err="1">
                          <a:latin typeface="Times New Roman" panose="02020603050405020304" pitchFamily="18" charset="0"/>
                          <a:cs typeface="Times New Roman" panose="02020603050405020304" pitchFamily="18" charset="0"/>
                        </a:rPr>
                        <a:t>Date_Key</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dirty="0" err="1">
                          <a:latin typeface="Times New Roman" panose="02020603050405020304" pitchFamily="18" charset="0"/>
                          <a:cs typeface="Times New Roman" panose="02020603050405020304" pitchFamily="18" charset="0"/>
                        </a:rPr>
                        <a:t>Amount_Sold</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53433218"/>
                  </a:ext>
                </a:extLst>
              </a:tr>
            </a:tbl>
          </a:graphicData>
        </a:graphic>
      </p:graphicFrame>
      <p:sp>
        <p:nvSpPr>
          <p:cNvPr id="5" name="Rectangle 1">
            <a:extLst>
              <a:ext uri="{FF2B5EF4-FFF2-40B4-BE49-F238E27FC236}">
                <a16:creationId xmlns:a16="http://schemas.microsoft.com/office/drawing/2014/main" id="{0439D5B9-AB1F-EAD6-8667-92FDAAD6B22F}"/>
              </a:ext>
            </a:extLst>
          </p:cNvPr>
          <p:cNvSpPr>
            <a:spLocks noChangeArrowheads="1"/>
          </p:cNvSpPr>
          <p:nvPr/>
        </p:nvSpPr>
        <p:spPr bwMode="auto">
          <a:xfrm>
            <a:off x="597459" y="1249433"/>
            <a:ext cx="856143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connect descriptive dimensions to numeric facts for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 Works: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Fact Table stores foreign keys from each dimension.</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Dimension Table provides detailed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descriptive info.</a:t>
            </a:r>
          </a:p>
          <a:p>
            <a:pPr marL="742950" lvl="1" indent="-285750" eaLnBrk="0" fontAlgn="base" hangingPunct="0">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lang="en-US" altLang="en-US" dirty="0">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Sales_Fact</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Table</a:t>
            </a: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keys link to: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Customer_Dim</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Product_Dim</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Date_Dim</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Times New Roman" panose="02020603050405020304" pitchFamily="18" charset="0"/>
                <a:cs typeface="Times New Roman" panose="02020603050405020304" pitchFamily="18" charset="0"/>
              </a:rPr>
              <a:t>Note</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Always verify grain compatibility between fact and dimensions.</a:t>
            </a:r>
          </a:p>
        </p:txBody>
      </p:sp>
    </p:spTree>
    <p:extLst>
      <p:ext uri="{BB962C8B-B14F-4D97-AF65-F5344CB8AC3E}">
        <p14:creationId xmlns:p14="http://schemas.microsoft.com/office/powerpoint/2010/main" val="6888974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D47F-32C2-CEB2-49C8-FF6D13C896A6}"/>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Step 6 – Optimize for Performance</a:t>
            </a:r>
          </a:p>
        </p:txBody>
      </p:sp>
      <p:sp>
        <p:nvSpPr>
          <p:cNvPr id="5" name="TextBox 4">
            <a:extLst>
              <a:ext uri="{FF2B5EF4-FFF2-40B4-BE49-F238E27FC236}">
                <a16:creationId xmlns:a16="http://schemas.microsoft.com/office/drawing/2014/main" id="{B3A44E80-A7BE-EB14-B3B1-087187252FDF}"/>
              </a:ext>
            </a:extLst>
          </p:cNvPr>
          <p:cNvSpPr txBox="1"/>
          <p:nvPr/>
        </p:nvSpPr>
        <p:spPr>
          <a:xfrm>
            <a:off x="511277" y="1174217"/>
            <a:ext cx="10412362" cy="4524315"/>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Why Optimization Matters: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Large data volumes → slower queries → frustrated analysts.</a:t>
            </a:r>
          </a:p>
          <a:p>
            <a:pPr>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Optimization Techniques:</a:t>
            </a:r>
          </a:p>
          <a:p>
            <a:pPr marL="742950" lvl="1"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Denormalize</a:t>
            </a:r>
            <a:r>
              <a:rPr lang="en-US" dirty="0">
                <a:latin typeface="Times New Roman" panose="02020603050405020304" pitchFamily="18" charset="0"/>
                <a:cs typeface="Times New Roman" panose="02020603050405020304" pitchFamily="18" charset="0"/>
              </a:rPr>
              <a:t> dimensions (flatten hierarchies).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 indexes on surrogate keys &amp; common filters.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mini-dimensions for fast-changing attributes.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data quality checks to remove duplicates or nulls.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Periodically archive inactive records.</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“Product Mini Dimension” can store daily price or promotion details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avoid overloading the main Product Dimension.</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Note:</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Balance between performance and maintainability — don’t overcomplicate design.</a:t>
            </a:r>
          </a:p>
        </p:txBody>
      </p:sp>
    </p:spTree>
    <p:extLst>
      <p:ext uri="{BB962C8B-B14F-4D97-AF65-F5344CB8AC3E}">
        <p14:creationId xmlns:p14="http://schemas.microsoft.com/office/powerpoint/2010/main" val="15736459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23E35-AD61-8645-01AF-306D21A983D4}"/>
              </a:ext>
            </a:extLst>
          </p:cNvPr>
          <p:cNvSpPr>
            <a:spLocks noGrp="1"/>
          </p:cNvSpPr>
          <p:nvPr>
            <p:ph type="title"/>
          </p:nvPr>
        </p:nvSpPr>
        <p:spPr>
          <a:xfrm>
            <a:off x="611443" y="578391"/>
            <a:ext cx="10807652" cy="440488"/>
          </a:xfrm>
        </p:spPr>
        <p:txBody>
          <a:bodyPr>
            <a:normAutofit/>
          </a:bodyPr>
          <a:lstStyle/>
          <a:p>
            <a:r>
              <a:rPr lang="en-US" dirty="0">
                <a:latin typeface="Times New Roman" panose="02020603050405020304" pitchFamily="18" charset="0"/>
                <a:cs typeface="Times New Roman" panose="02020603050405020304" pitchFamily="18" charset="0"/>
              </a:rPr>
              <a:t>SCD Example with Common Pitfalls and Key Takeaways</a:t>
            </a:r>
          </a:p>
        </p:txBody>
      </p:sp>
      <p:graphicFrame>
        <p:nvGraphicFramePr>
          <p:cNvPr id="4" name="Table 3">
            <a:extLst>
              <a:ext uri="{FF2B5EF4-FFF2-40B4-BE49-F238E27FC236}">
                <a16:creationId xmlns:a16="http://schemas.microsoft.com/office/drawing/2014/main" id="{59843795-190E-1ACC-786B-8C47212050F9}"/>
              </a:ext>
            </a:extLst>
          </p:cNvPr>
          <p:cNvGraphicFramePr>
            <a:graphicFrameLocks noGrp="1"/>
          </p:cNvGraphicFramePr>
          <p:nvPr/>
        </p:nvGraphicFramePr>
        <p:xfrm>
          <a:off x="685948" y="1557582"/>
          <a:ext cx="11112761" cy="914400"/>
        </p:xfrm>
        <a:graphic>
          <a:graphicData uri="http://schemas.openxmlformats.org/drawingml/2006/table">
            <a:tbl>
              <a:tblPr>
                <a:tableStyleId>{3C2FFA5D-87B4-456A-9821-1D502468CF0F}</a:tableStyleId>
              </a:tblPr>
              <a:tblGrid>
                <a:gridCol w="1474407">
                  <a:extLst>
                    <a:ext uri="{9D8B030D-6E8A-4147-A177-3AD203B41FA5}">
                      <a16:colId xmlns:a16="http://schemas.microsoft.com/office/drawing/2014/main" val="906048124"/>
                    </a:ext>
                  </a:extLst>
                </a:gridCol>
                <a:gridCol w="1278130">
                  <a:extLst>
                    <a:ext uri="{9D8B030D-6E8A-4147-A177-3AD203B41FA5}">
                      <a16:colId xmlns:a16="http://schemas.microsoft.com/office/drawing/2014/main" val="3629986639"/>
                    </a:ext>
                  </a:extLst>
                </a:gridCol>
                <a:gridCol w="1623853">
                  <a:extLst>
                    <a:ext uri="{9D8B030D-6E8A-4147-A177-3AD203B41FA5}">
                      <a16:colId xmlns:a16="http://schemas.microsoft.com/office/drawing/2014/main" val="728137124"/>
                    </a:ext>
                  </a:extLst>
                </a:gridCol>
                <a:gridCol w="1068600">
                  <a:extLst>
                    <a:ext uri="{9D8B030D-6E8A-4147-A177-3AD203B41FA5}">
                      <a16:colId xmlns:a16="http://schemas.microsoft.com/office/drawing/2014/main" val="3029100390"/>
                    </a:ext>
                  </a:extLst>
                </a:gridCol>
                <a:gridCol w="1456230">
                  <a:extLst>
                    <a:ext uri="{9D8B030D-6E8A-4147-A177-3AD203B41FA5}">
                      <a16:colId xmlns:a16="http://schemas.microsoft.com/office/drawing/2014/main" val="2154216882"/>
                    </a:ext>
                  </a:extLst>
                </a:gridCol>
                <a:gridCol w="1445752">
                  <a:extLst>
                    <a:ext uri="{9D8B030D-6E8A-4147-A177-3AD203B41FA5}">
                      <a16:colId xmlns:a16="http://schemas.microsoft.com/office/drawing/2014/main" val="861662688"/>
                    </a:ext>
                  </a:extLst>
                </a:gridCol>
                <a:gridCol w="1131459">
                  <a:extLst>
                    <a:ext uri="{9D8B030D-6E8A-4147-A177-3AD203B41FA5}">
                      <a16:colId xmlns:a16="http://schemas.microsoft.com/office/drawing/2014/main" val="1599039031"/>
                    </a:ext>
                  </a:extLst>
                </a:gridCol>
                <a:gridCol w="1634330">
                  <a:extLst>
                    <a:ext uri="{9D8B030D-6E8A-4147-A177-3AD203B41FA5}">
                      <a16:colId xmlns:a16="http://schemas.microsoft.com/office/drawing/2014/main" val="2580221965"/>
                    </a:ext>
                  </a:extLst>
                </a:gridCol>
              </a:tblGrid>
              <a:tr h="0">
                <a:tc>
                  <a:txBody>
                    <a:bodyPr/>
                    <a:lstStyle/>
                    <a:p>
                      <a:pPr>
                        <a:buNone/>
                      </a:pPr>
                      <a:r>
                        <a:rPr lang="en-US" sz="1400" b="1"/>
                        <a:t>Customer_Key</a:t>
                      </a:r>
                      <a:endParaRPr lang="en-US" sz="1400" b="1">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dirty="0" err="1"/>
                        <a:t>Customer_ID</a:t>
                      </a:r>
                      <a:endParaRPr lang="en-US"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dirty="0" err="1"/>
                        <a:t>Customer_Name</a:t>
                      </a:r>
                      <a:endParaRPr lang="en-US"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dirty="0"/>
                        <a:t>City</a:t>
                      </a:r>
                      <a:endParaRPr lang="en-US"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dirty="0" err="1"/>
                        <a:t>Loyalty_Status</a:t>
                      </a:r>
                      <a:endParaRPr lang="en-US"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dirty="0" err="1"/>
                        <a:t>Effective_Date</a:t>
                      </a:r>
                      <a:endParaRPr lang="en-US"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a:t>End_Date</a:t>
                      </a:r>
                      <a:endParaRPr lang="en-US" sz="1400" b="1">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dirty="0" err="1"/>
                        <a:t>Current_Flag</a:t>
                      </a:r>
                      <a:endParaRPr lang="en-US" sz="1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29389231"/>
                  </a:ext>
                </a:extLst>
              </a:tr>
              <a:tr h="0">
                <a:tc>
                  <a:txBody>
                    <a:bodyPr/>
                    <a:lstStyle/>
                    <a:p>
                      <a:pPr>
                        <a:buNone/>
                      </a:pPr>
                      <a:r>
                        <a:rPr lang="en-US" sz="1400"/>
                        <a:t>1001</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t>C001</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t>John Smith</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New York</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Gold</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2024-01-01</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t>2024-08-15</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N</a:t>
                      </a:r>
                      <a:endParaRPr 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13669566"/>
                  </a:ext>
                </a:extLst>
              </a:tr>
              <a:tr h="0">
                <a:tc>
                  <a:txBody>
                    <a:bodyPr/>
                    <a:lstStyle/>
                    <a:p>
                      <a:pPr>
                        <a:buNone/>
                      </a:pPr>
                      <a:r>
                        <a:rPr lang="en-US" sz="1400"/>
                        <a:t>1002</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t>C001</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t>John Smith</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t>Boston</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t>Gold</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t>2024-08-16</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t>NULL</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Y</a:t>
                      </a:r>
                      <a:endParaRPr 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71555636"/>
                  </a:ext>
                </a:extLst>
              </a:tr>
            </a:tbl>
          </a:graphicData>
        </a:graphic>
      </p:graphicFrame>
      <p:sp>
        <p:nvSpPr>
          <p:cNvPr id="5" name="Rectangle 1">
            <a:extLst>
              <a:ext uri="{FF2B5EF4-FFF2-40B4-BE49-F238E27FC236}">
                <a16:creationId xmlns:a16="http://schemas.microsoft.com/office/drawing/2014/main" id="{3BA6C9A0-FCD6-89C0-ACEB-27AF54EE4B7F}"/>
              </a:ext>
            </a:extLst>
          </p:cNvPr>
          <p:cNvSpPr>
            <a:spLocks noChangeArrowheads="1"/>
          </p:cNvSpPr>
          <p:nvPr/>
        </p:nvSpPr>
        <p:spPr bwMode="auto">
          <a:xfrm>
            <a:off x="556589" y="1144195"/>
            <a:ext cx="966265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 Customer Dimension Table (SCD Type 2)</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Tracks full history of customer’s location using SCD Type 2.</a:t>
            </a:r>
          </a:p>
        </p:txBody>
      </p:sp>
      <p:sp>
        <p:nvSpPr>
          <p:cNvPr id="11" name="TextBox 10">
            <a:extLst>
              <a:ext uri="{FF2B5EF4-FFF2-40B4-BE49-F238E27FC236}">
                <a16:creationId xmlns:a16="http://schemas.microsoft.com/office/drawing/2014/main" id="{E5171C3C-8E0B-3D28-686D-A0686B983A0B}"/>
              </a:ext>
            </a:extLst>
          </p:cNvPr>
          <p:cNvSpPr txBox="1"/>
          <p:nvPr/>
        </p:nvSpPr>
        <p:spPr>
          <a:xfrm>
            <a:off x="556589" y="3017379"/>
            <a:ext cx="6405716" cy="3139321"/>
          </a:xfrm>
          <a:prstGeom prst="rect">
            <a:avLst/>
          </a:prstGeom>
          <a:noFill/>
        </p:spPr>
        <p:txBody>
          <a:bodyPr wrap="square">
            <a:spAutoFit/>
          </a:bodyPr>
          <a:lstStyle/>
          <a:p>
            <a:pPr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Pitfalls to Avoid</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natural keys as the primary key</a:t>
            </a:r>
            <a:r>
              <a:rPr lang="en-US" altLang="en-US" dirty="0">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Ignoring SCD changes for evolving attributes</a:t>
            </a:r>
            <a:r>
              <a:rPr lang="en-US" altLang="en-US" dirty="0">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Over-normalizing (hurts performance)</a:t>
            </a:r>
            <a:r>
              <a:rPr lang="en-US" altLang="en-US" dirty="0">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foreign key links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fact tables</a:t>
            </a:r>
            <a:r>
              <a:rPr lang="en-US" altLang="en-US" dirty="0">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unclear or duplicate attribute names</a:t>
            </a:r>
          </a:p>
          <a:p>
            <a:pPr marL="742950" lvl="1" indent="-285750" eaLnBrk="0" fontAlgn="base" hangingPunct="0">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Fix:</a:t>
            </a: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surrogate keys.</a:t>
            </a: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Audit history columns regularly.</a:t>
            </a: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Keep design simple and business-focused.</a:t>
            </a:r>
          </a:p>
        </p:txBody>
      </p:sp>
      <p:sp>
        <p:nvSpPr>
          <p:cNvPr id="13" name="TextBox 12">
            <a:extLst>
              <a:ext uri="{FF2B5EF4-FFF2-40B4-BE49-F238E27FC236}">
                <a16:creationId xmlns:a16="http://schemas.microsoft.com/office/drawing/2014/main" id="{A8B2DF32-5C20-EF30-28D2-53AFE05702E8}"/>
              </a:ext>
            </a:extLst>
          </p:cNvPr>
          <p:cNvSpPr txBox="1"/>
          <p:nvPr/>
        </p:nvSpPr>
        <p:spPr>
          <a:xfrm>
            <a:off x="6258232" y="3163102"/>
            <a:ext cx="5825613"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Takeaways</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Dimension = Context of facts</a:t>
            </a: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Start design with:</a:t>
            </a:r>
            <a:r>
              <a:rPr lang="en-US" altLang="en-US" dirty="0">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Entity → Attributes → Keys → History → Relationships → Optimization</a:t>
            </a: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Always use surrogate keys</a:t>
            </a: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 historical changes with proper SCD type</a:t>
            </a: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for performance &amp; business readability</a:t>
            </a:r>
          </a:p>
        </p:txBody>
      </p:sp>
    </p:spTree>
    <p:extLst>
      <p:ext uri="{BB962C8B-B14F-4D97-AF65-F5344CB8AC3E}">
        <p14:creationId xmlns:p14="http://schemas.microsoft.com/office/powerpoint/2010/main" val="2335902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4779</Words>
  <Application>Microsoft Office PowerPoint</Application>
  <PresentationFormat>Widescreen</PresentationFormat>
  <Paragraphs>895</Paragraphs>
  <Slides>47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Calibri</vt:lpstr>
      <vt:lpstr>Calibri Light</vt:lpstr>
      <vt:lpstr>Poppins</vt:lpstr>
      <vt:lpstr>Roboto Light</vt:lpstr>
      <vt:lpstr>Roboto Thin</vt:lpstr>
      <vt:lpstr>Times New Roman</vt:lpstr>
      <vt:lpstr>Office Theme</vt:lpstr>
      <vt:lpstr>Concepts of Dimensional Modeling (Hierarchy of the dimensions)</vt:lpstr>
      <vt:lpstr>What is Dimensional Modeling?</vt:lpstr>
      <vt:lpstr>Understanding Hierarchies in Dimensions</vt:lpstr>
      <vt:lpstr>Types of Dimension Hierarchies:</vt:lpstr>
      <vt:lpstr>Date Dimensions</vt:lpstr>
      <vt:lpstr>What is a Date Dimension?</vt:lpstr>
      <vt:lpstr>Common Attributes &amp; Hierarchy </vt:lpstr>
      <vt:lpstr>Hierarchy Example:</vt:lpstr>
      <vt:lpstr>Slowly changing Dimensions</vt:lpstr>
      <vt:lpstr>Introduction to SCD</vt:lpstr>
      <vt:lpstr>SCD Type 0 – Fixed / No Change</vt:lpstr>
      <vt:lpstr>SCD Type 1 – Overwrite (No History) </vt:lpstr>
      <vt:lpstr>SCD Type 2 – Add New Row (Full History) </vt:lpstr>
      <vt:lpstr>SCD Type 3 – Add New Columns (Partial History) </vt:lpstr>
      <vt:lpstr>SCD Type 4 – Separate History Table </vt:lpstr>
      <vt:lpstr>SCD Type 6 – Hybrid (Combination of 1 + 2 + 3) </vt:lpstr>
      <vt:lpstr>Fast changing Dimensions</vt:lpstr>
      <vt:lpstr>Introduction to Fast Changing Dimensions (FCD)</vt:lpstr>
      <vt:lpstr>Common Scenarios of Fast Changing Dimensions </vt:lpstr>
      <vt:lpstr>Solutions for Handling Fast Changing Dimensions </vt:lpstr>
      <vt:lpstr>Example Architecture (Mini-Dimension Approach) </vt:lpstr>
      <vt:lpstr>Advantages And Limitations / Considerations Of FCD Design </vt:lpstr>
      <vt:lpstr>Business Process Modeling for DW</vt:lpstr>
      <vt:lpstr>Introduction to Business Process Modeling (BPM) in Data Warehousing</vt:lpstr>
      <vt:lpstr>Importance of Business Process Modeling in DW </vt:lpstr>
      <vt:lpstr>Steps in Business Process Modeling for Data Warehouse </vt:lpstr>
      <vt:lpstr>Example – Order Management Process </vt:lpstr>
      <vt:lpstr>Data Modeling Levels  (Conceptual, Logical, Physical)</vt:lpstr>
      <vt:lpstr>Data Modeling &amp; Levels in Data Warehousing</vt:lpstr>
      <vt:lpstr>Conceptual Data Model (Business View) </vt:lpstr>
      <vt:lpstr>Logical Data Model (Detailed Design View) </vt:lpstr>
      <vt:lpstr>Physical Data Model (Implementation View) </vt:lpstr>
      <vt:lpstr>Comparison of Conceptual, Logical, and Physical Data Models </vt:lpstr>
      <vt:lpstr>Fact Table Design Process  (Steps to define the measure grain)</vt:lpstr>
      <vt:lpstr>Fact Table Design Process </vt:lpstr>
      <vt:lpstr>Fact Table Design Process – Step-by-Step</vt:lpstr>
      <vt:lpstr>Example &amp; Considerations in Fact Table Design</vt:lpstr>
      <vt:lpstr>Common Pitfalls &amp; Key Takeaways in Fact Table Design</vt:lpstr>
      <vt:lpstr>Dimension Table Design Process  (attributes, keys, history)</vt:lpstr>
      <vt:lpstr>The Dimension Table Design Process</vt:lpstr>
      <vt:lpstr>Step 1 – Identify the Business Entity</vt:lpstr>
      <vt:lpstr>Step 2 – Define Attributes</vt:lpstr>
      <vt:lpstr>Step 3 – Define Keys</vt:lpstr>
      <vt:lpstr>Step 4 – Handle Historical Changes (SCDs)</vt:lpstr>
      <vt:lpstr>Step 5 – Establish Relationships with Fact Tables</vt:lpstr>
      <vt:lpstr>Step 6 – Optimize for Performance</vt:lpstr>
      <vt:lpstr>SCD Example with Common Pitfalls and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Renu  Jindal</dc:creator>
  <cp:lastModifiedBy>Renu  Jindal</cp:lastModifiedBy>
  <cp:revision>1</cp:revision>
  <dcterms:created xsi:type="dcterms:W3CDTF">2025-12-29T16:45:17Z</dcterms:created>
  <dcterms:modified xsi:type="dcterms:W3CDTF">2025-12-29T16:45:49Z</dcterms:modified>
</cp:coreProperties>
</file>